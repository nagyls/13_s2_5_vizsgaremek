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8" r:id="rId10"/>
    <p:sldId id="267" r:id="rId11"/>
    <p:sldId id="269" r:id="rId12"/>
    <p:sldId id="270" r:id="rId13"/>
    <p:sldId id="271" r:id="rId14"/>
    <p:sldId id="260" r:id="rId15"/>
    <p:sldId id="259" r:id="rId1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4DCD7B4-4FD7-EE61-7773-632F9BB2EB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7E95BA5-4726-638F-B29D-768F78049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2778E45-CF44-DC92-725F-E893BED19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DC590-ED52-4777-B9F5-C523228B2514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7F2E7BC-6A56-BAF4-639D-5F027504B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438A07B-4F09-8506-5136-C043F77A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713B-850D-46DF-82F3-2EA4F46C73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41296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192C952-1D23-7E8A-FAEA-C5A39189C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17916E9-6123-2D8A-3382-AC08580DB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5519FA7-7F88-605E-8712-2EC921BF1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DC590-ED52-4777-B9F5-C523228B2514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C7D0ED3-6DB8-1BB2-7E94-3917FFFE4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01813C5-4B9D-2051-A56B-692115894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713B-850D-46DF-82F3-2EA4F46C73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28060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DEAE58F-2CF9-2B04-822D-29C7E40A9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EE8D7A5-E7D4-9B30-A770-086EB068D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8DA87B6-F358-3016-FBD2-87CE8A7C8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DC590-ED52-4777-B9F5-C523228B2514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C52045F-D98E-9256-4D3D-536234F6F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9319E9E-05F6-5304-0FE9-C569D3306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713B-850D-46DF-82F3-2EA4F46C73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0892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97D012D-5A35-2F2D-5B81-510394BCF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955E699-D0B1-72A8-9678-49F7F4DC7B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D32CD228-F152-3419-B1FC-62AE25D95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2ABEA4D-B59B-F833-E2AD-22325B0B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DC590-ED52-4777-B9F5-C523228B2514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6A42900-0F85-D66B-B2D7-4823997F8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D92A623-D2CF-1882-F2E6-C057E1F0B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713B-850D-46DF-82F3-2EA4F46C73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40701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09CE890-BE6D-AB77-0BBB-06123B6ED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FB8DC7D-8FDB-7DEF-9F94-F11DAF69A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55EC16D-A8F8-EA87-1937-A7E239C9AC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EE4D0B40-FF9D-0AE3-56AF-94C2022418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6C45B8BC-4AD9-BA81-5AE7-0B986A4842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839F255D-08F2-8841-27E2-525F17D7C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DC590-ED52-4777-B9F5-C523228B2514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728546F3-95A7-089A-A1CD-8AF8F7DA9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23A087AD-2AF1-F6A5-0B1D-194669CC2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713B-850D-46DF-82F3-2EA4F46C73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1941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9EFC328-160F-4D1E-3625-C881B3556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3320249D-49C2-6E42-0881-24F88FF5D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DC590-ED52-4777-B9F5-C523228B2514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9C3869AB-30DE-CE29-922F-B8C90E9CB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E266296-9E50-75B2-0BC6-34EF1CBA1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713B-850D-46DF-82F3-2EA4F46C73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63531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34370DB4-4A89-9644-B4D9-0FF876620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DC590-ED52-4777-B9F5-C523228B2514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5F50C374-39D7-8F39-5150-DFC97DFBF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5AB05B98-B0BF-DE0D-C773-E6A2E2730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713B-850D-46DF-82F3-2EA4F46C73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045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485655B-BC4C-2879-A5CF-0817E819C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9FB8F98-7EE6-439C-9A17-8A8E1A95F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03D7030-5E07-D7FB-B3E1-C6CBCE2D2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A0F71B2-58F9-4493-2DEC-52CBD3A75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DC590-ED52-4777-B9F5-C523228B2514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2CD520B-F0A0-5092-AABC-E3F0CEBC5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A5BD066-434B-4494-06AA-101A52CB3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713B-850D-46DF-82F3-2EA4F46C73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08712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0D70880-5853-A5E0-0D47-576010C8E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AB2B669A-343C-ACA2-59A2-BE6125643B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015977B8-CC53-D658-B3B9-ACA21E155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03D21D08-F50C-AA07-0798-ED69DD270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DC590-ED52-4777-B9F5-C523228B2514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1EE0D86-C514-E619-D5BC-01188841D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9F50D2B-7823-7476-D2C8-7AB913C83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713B-850D-46DF-82F3-2EA4F46C73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60947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EC13787-C088-4B0E-16E8-687D1A28F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962A799-6719-C9DF-D0BD-E1923203E0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0513E0E-F53A-C6D8-DE24-26D0E07F1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DC590-ED52-4777-B9F5-C523228B2514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AC1F1DC-58B7-02B7-2D57-2972529C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F5352A9-FBB0-BD6A-A2CA-E76B5E662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713B-850D-46DF-82F3-2EA4F46C73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9318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10D16D96-E79F-9DDE-D5F4-A4B821C628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BF76F08-BA2A-6444-97D9-996A8C0CE2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9404506-57B8-A51F-3A84-D712CC0C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DC590-ED52-4777-B9F5-C523228B2514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2826514-870C-E015-B22A-BAC8E22F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7F4E071-53FC-2EFE-F54C-0944416B5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6713B-850D-46DF-82F3-2EA4F46C73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64429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27A083FD-A5B9-6A96-2744-3CA2BDBF1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7E5C13C-8D12-22C2-5B8F-4C5D9D9FE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4CE739E-50E4-591E-DC9B-70864AA758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FDC590-ED52-4777-B9F5-C523228B2514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0A16C81-C586-98B1-B3E0-1460ADDCAC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11B3FF7-91E7-DF72-8839-A6BA54511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6713B-850D-46DF-82F3-2EA4F46C73F6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78750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25000"/>
                <a:lumOff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331E67E-EA9B-EE0A-0EA4-EBD8B1BA7A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01123" y="2515898"/>
            <a:ext cx="4389748" cy="1341798"/>
          </a:xfrm>
        </p:spPr>
        <p:txBody>
          <a:bodyPr/>
          <a:lstStyle/>
          <a:p>
            <a:r>
              <a:rPr lang="hu-HU" dirty="0" err="1">
                <a:latin typeface="Cambria" panose="02040503050406030204" pitchFamily="18" charset="0"/>
                <a:ea typeface="Cambria" panose="02040503050406030204" pitchFamily="18" charset="0"/>
              </a:rPr>
              <a:t>EseményTér</a:t>
            </a:r>
            <a:endParaRPr lang="hu-H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9A4049C-1D6C-FBB2-09CE-BE7D61F4B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84309" y="4816138"/>
            <a:ext cx="4823381" cy="984566"/>
          </a:xfrm>
        </p:spPr>
        <p:txBody>
          <a:bodyPr/>
          <a:lstStyle/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Készítették:</a:t>
            </a:r>
          </a:p>
          <a:p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Nagy </a:t>
            </a:r>
            <a:r>
              <a:rPr lang="hu-HU" dirty="0" err="1">
                <a:latin typeface="Cambria" panose="02040503050406030204" pitchFamily="18" charset="0"/>
                <a:ea typeface="Cambria" panose="02040503050406030204" pitchFamily="18" charset="0"/>
              </a:rPr>
              <a:t>Levéd</a:t>
            </a:r>
            <a:r>
              <a:rPr lang="hu-HU" dirty="0">
                <a:latin typeface="Cambria" panose="02040503050406030204" pitchFamily="18" charset="0"/>
                <a:ea typeface="Cambria" panose="02040503050406030204" pitchFamily="18" charset="0"/>
              </a:rPr>
              <a:t> Sámuel, Tóth Tamás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F52BA93-D9AF-C044-1916-79F896F5C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2059" y="367248"/>
            <a:ext cx="1647875" cy="1647875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A7C31829-0AB8-840D-9BD8-40E192177325}"/>
              </a:ext>
            </a:extLst>
          </p:cNvPr>
          <p:cNvSpPr txBox="1"/>
          <p:nvPr/>
        </p:nvSpPr>
        <p:spPr>
          <a:xfrm>
            <a:off x="836749" y="868021"/>
            <a:ext cx="3996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Kiskunfélegyházi Szent Benedek PG Két Tanítási Nyelvű Technikum és Kollégium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B8724FE1-1AE8-84CC-D0AA-FB0CEB78D85F}"/>
              </a:ext>
            </a:extLst>
          </p:cNvPr>
          <p:cNvSpPr txBox="1"/>
          <p:nvPr/>
        </p:nvSpPr>
        <p:spPr>
          <a:xfrm>
            <a:off x="7796627" y="498690"/>
            <a:ext cx="27896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𖡡  </a:t>
            </a:r>
            <a:r>
              <a:rPr lang="hu-HU" sz="1400" dirty="0">
                <a:solidFill>
                  <a:schemeClr val="dk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Kiskunfélegyháza, Kossuth u. 24.</a:t>
            </a:r>
          </a:p>
          <a:p>
            <a:r>
              <a:rPr lang="hu-H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☏  </a:t>
            </a:r>
            <a:r>
              <a:rPr lang="hu-HU" sz="1400" b="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  <a:sym typeface="Cambria"/>
              </a:rPr>
              <a:t>+36 76 462 332</a:t>
            </a:r>
            <a:endParaRPr lang="hu-H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hu-H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u-H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OM:  203365</a:t>
            </a:r>
          </a:p>
          <a:p>
            <a:r>
              <a:rPr lang="hu-H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✉ titkarsag@szbi-pg.hu</a:t>
            </a:r>
          </a:p>
          <a:p>
            <a:r>
              <a:rPr lang="hu-H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⌕ http://www.szbi-pg.hu/</a:t>
            </a:r>
          </a:p>
        </p:txBody>
      </p:sp>
      <p:pic>
        <p:nvPicPr>
          <p:cNvPr id="17" name="Kép 16">
            <a:extLst>
              <a:ext uri="{FF2B5EF4-FFF2-40B4-BE49-F238E27FC236}">
                <a16:creationId xmlns:a16="http://schemas.microsoft.com/office/drawing/2014/main" id="{D0934FD0-36FD-8708-8901-3867977593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595" y="1883685"/>
            <a:ext cx="2347181" cy="34768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CC1F0A3B-6542-D1F0-BF17-AE5726EB01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6035" y="1883685"/>
            <a:ext cx="2347181" cy="347681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15846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25000"/>
                <a:lumOff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658866-23E9-C238-EA95-4B2724D22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84FF2E-D418-803E-FAFB-21A206DB7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2762" y="524926"/>
            <a:ext cx="10446473" cy="810807"/>
          </a:xfrm>
        </p:spPr>
        <p:txBody>
          <a:bodyPr>
            <a:normAutofit/>
          </a:bodyPr>
          <a:lstStyle/>
          <a:p>
            <a:r>
              <a:rPr lang="hu-HU" sz="4400" dirty="0">
                <a:latin typeface="Cambria" panose="02040503050406030204" pitchFamily="18" charset="0"/>
                <a:ea typeface="Cambria" panose="02040503050406030204" pitchFamily="18" charset="0"/>
              </a:rPr>
              <a:t>Bevezetés: Probléma és Megoldás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619D84E-7BB2-EED8-CD42-8F37227691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00" y="301261"/>
            <a:ext cx="1034472" cy="1034472"/>
          </a:xfrm>
          <a:prstGeom prst="rect">
            <a:avLst/>
          </a:prstGeom>
        </p:spPr>
      </p:pic>
      <p:graphicFrame>
        <p:nvGraphicFramePr>
          <p:cNvPr id="8" name="Táblázat 7">
            <a:extLst>
              <a:ext uri="{FF2B5EF4-FFF2-40B4-BE49-F238E27FC236}">
                <a16:creationId xmlns:a16="http://schemas.microsoft.com/office/drawing/2014/main" id="{CFED3137-8D5A-ACAD-657D-3C53D4FE3D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18030"/>
              </p:ext>
            </p:extLst>
          </p:nvPr>
        </p:nvGraphicFramePr>
        <p:xfrm>
          <a:off x="1387309" y="1941922"/>
          <a:ext cx="9417378" cy="4391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8689">
                  <a:extLst>
                    <a:ext uri="{9D8B030D-6E8A-4147-A177-3AD203B41FA5}">
                      <a16:colId xmlns:a16="http://schemas.microsoft.com/office/drawing/2014/main" val="4173501451"/>
                    </a:ext>
                  </a:extLst>
                </a:gridCol>
                <a:gridCol w="4708689">
                  <a:extLst>
                    <a:ext uri="{9D8B030D-6E8A-4147-A177-3AD203B41FA5}">
                      <a16:colId xmlns:a16="http://schemas.microsoft.com/office/drawing/2014/main" val="1398796193"/>
                    </a:ext>
                  </a:extLst>
                </a:gridCol>
              </a:tblGrid>
              <a:tr h="1145798">
                <a:tc gridSpan="2">
                  <a:txBody>
                    <a:bodyPr/>
                    <a:lstStyle/>
                    <a:p>
                      <a:pPr algn="ctr"/>
                      <a:r>
                        <a:rPr lang="hu-HU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Projekt neve: </a:t>
                      </a:r>
                      <a:r>
                        <a:rPr lang="hu-HU" b="0" dirty="0" err="1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EseményTér</a:t>
                      </a:r>
                      <a:endParaRPr lang="hu-HU" b="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hu-HU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Cél: </a:t>
                      </a:r>
                      <a:r>
                        <a:rPr lang="hu-HU" b="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 tanárok és diákok közötti kommunikáció egyszerűsítése, valamint az iskolai események központi és átlátható kezelése egy rendszerben.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163776"/>
                  </a:ext>
                </a:extLst>
              </a:tr>
              <a:tr h="324535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hu-HU" b="1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Probléma</a:t>
                      </a:r>
                    </a:p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hu-HU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széttagolt kommunikáció</a:t>
                      </a:r>
                    </a:p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hu-HU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több külön platform</a:t>
                      </a:r>
                    </a:p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hu-HU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nehézkes eseménykezelés</a:t>
                      </a:r>
                    </a:p>
                    <a:p>
                      <a:pPr marL="0" lvl="0" indent="0" algn="ctr">
                        <a:buFont typeface="Arial" panose="020B0604020202020204" pitchFamily="34" charset="0"/>
                        <a:buNone/>
                      </a:pPr>
                      <a:r>
                        <a:rPr lang="hu-HU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információk nehéz követése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hu-HU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Megoldás</a:t>
                      </a:r>
                    </a:p>
                    <a:p>
                      <a:pPr algn="ctr"/>
                      <a:r>
                        <a:rPr lang="hu-H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egységes webes rendszer</a:t>
                      </a:r>
                    </a:p>
                    <a:p>
                      <a:pPr algn="ctr"/>
                      <a:r>
                        <a:rPr lang="hu-H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központi eseménykezelés</a:t>
                      </a:r>
                    </a:p>
                    <a:p>
                      <a:pPr algn="ctr"/>
                      <a:r>
                        <a:rPr lang="hu-H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egyszerűbb kommunikáció</a:t>
                      </a:r>
                    </a:p>
                    <a:p>
                      <a:pPr algn="ctr"/>
                      <a:r>
                        <a:rPr lang="hu-H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átlátható információk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639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7340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25000"/>
                <a:lumOff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088A11-36C6-3AB5-C9A1-0AE483997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églalap 13">
            <a:extLst>
              <a:ext uri="{FF2B5EF4-FFF2-40B4-BE49-F238E27FC236}">
                <a16:creationId xmlns:a16="http://schemas.microsoft.com/office/drawing/2014/main" id="{59F94AB4-BC9A-1221-152D-865B0469986A}"/>
              </a:ext>
            </a:extLst>
          </p:cNvPr>
          <p:cNvSpPr/>
          <p:nvPr/>
        </p:nvSpPr>
        <p:spPr>
          <a:xfrm>
            <a:off x="7582328" y="2434975"/>
            <a:ext cx="4099389" cy="17774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Téglalap 12">
            <a:extLst>
              <a:ext uri="{FF2B5EF4-FFF2-40B4-BE49-F238E27FC236}">
                <a16:creationId xmlns:a16="http://schemas.microsoft.com/office/drawing/2014/main" id="{77D55826-1031-3438-BAE0-32014F060248}"/>
              </a:ext>
            </a:extLst>
          </p:cNvPr>
          <p:cNvSpPr/>
          <p:nvPr/>
        </p:nvSpPr>
        <p:spPr>
          <a:xfrm>
            <a:off x="690452" y="2434975"/>
            <a:ext cx="3059615" cy="162331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8959111C-FCA4-496E-3553-9D7A74E25E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2762" y="524926"/>
            <a:ext cx="10446473" cy="810807"/>
          </a:xfrm>
        </p:spPr>
        <p:txBody>
          <a:bodyPr>
            <a:normAutofit/>
          </a:bodyPr>
          <a:lstStyle/>
          <a:p>
            <a:r>
              <a:rPr lang="hu-HU" sz="4400" dirty="0">
                <a:latin typeface="Cambria" panose="02040503050406030204" pitchFamily="18" charset="0"/>
                <a:ea typeface="Cambria" panose="02040503050406030204" pitchFamily="18" charset="0"/>
              </a:rPr>
              <a:t>A program fő funkciói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2897762-8838-3A16-5B83-501F35CF0F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999" y="301261"/>
            <a:ext cx="1034472" cy="1034472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F52B198F-C685-586D-9B04-112A10AE29A0}"/>
              </a:ext>
            </a:extLst>
          </p:cNvPr>
          <p:cNvSpPr txBox="1"/>
          <p:nvPr/>
        </p:nvSpPr>
        <p:spPr>
          <a:xfrm>
            <a:off x="1498862" y="2794571"/>
            <a:ext cx="1573111" cy="9233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Regisztráció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Bejelentkezés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Profilkezelés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E023DD9-5F79-910C-1522-686202E37A44}"/>
              </a:ext>
            </a:extLst>
          </p:cNvPr>
          <p:cNvSpPr txBox="1"/>
          <p:nvPr/>
        </p:nvSpPr>
        <p:spPr>
          <a:xfrm>
            <a:off x="7947643" y="2724225"/>
            <a:ext cx="35539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Események böngészése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Események létrehozása és kezelése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Intézmények és osztályok kezelése</a:t>
            </a:r>
          </a:p>
          <a:p>
            <a:r>
              <a:rPr lang="hu-HU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Jelentkezési kérelmek kezelése</a:t>
            </a:r>
            <a:endParaRPr lang="hu-HU" dirty="0"/>
          </a:p>
        </p:txBody>
      </p:sp>
      <p:sp>
        <p:nvSpPr>
          <p:cNvPr id="12" name="Szabadkézi sokszög: alakzat 11">
            <a:extLst>
              <a:ext uri="{FF2B5EF4-FFF2-40B4-BE49-F238E27FC236}">
                <a16:creationId xmlns:a16="http://schemas.microsoft.com/office/drawing/2014/main" id="{7647DD25-CA69-3699-C538-EEAC59648DC7}"/>
              </a:ext>
            </a:extLst>
          </p:cNvPr>
          <p:cNvSpPr/>
          <p:nvPr/>
        </p:nvSpPr>
        <p:spPr>
          <a:xfrm>
            <a:off x="593889" y="0"/>
            <a:ext cx="13059824" cy="6183984"/>
          </a:xfrm>
          <a:custGeom>
            <a:avLst/>
            <a:gdLst>
              <a:gd name="csX0" fmla="*/ 0 w 12946702"/>
              <a:gd name="csY0" fmla="*/ 0 h 5944121"/>
              <a:gd name="csX1" fmla="*/ 4138367 w 12946702"/>
              <a:gd name="csY1" fmla="*/ 2658359 h 5944121"/>
              <a:gd name="csX2" fmla="*/ 5627802 w 12946702"/>
              <a:gd name="csY2" fmla="*/ 5920033 h 5944121"/>
              <a:gd name="csX3" fmla="*/ 12292552 w 12946702"/>
              <a:gd name="csY3" fmla="*/ 4166648 h 5944121"/>
              <a:gd name="csX4" fmla="*/ 12886441 w 12946702"/>
              <a:gd name="csY4" fmla="*/ 4656841 h 59441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946702" h="5944121">
                <a:moveTo>
                  <a:pt x="0" y="0"/>
                </a:moveTo>
                <a:cubicBezTo>
                  <a:pt x="1600200" y="835843"/>
                  <a:pt x="3200400" y="1671687"/>
                  <a:pt x="4138367" y="2658359"/>
                </a:cubicBezTo>
                <a:cubicBezTo>
                  <a:pt x="5076334" y="3645031"/>
                  <a:pt x="4268771" y="5668652"/>
                  <a:pt x="5627802" y="5920033"/>
                </a:cubicBezTo>
                <a:cubicBezTo>
                  <a:pt x="6986833" y="6171414"/>
                  <a:pt x="11082779" y="4377180"/>
                  <a:pt x="12292552" y="4166648"/>
                </a:cubicBezTo>
                <a:cubicBezTo>
                  <a:pt x="13502325" y="3956116"/>
                  <a:pt x="12608350" y="4490301"/>
                  <a:pt x="12886441" y="465684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88467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25000"/>
                <a:lumOff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9EC53B-1EDC-9D3B-3F59-27E6068DD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8D5C1B-6041-10A3-4D47-AF3A0AE582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2762" y="524926"/>
            <a:ext cx="10446473" cy="810807"/>
          </a:xfrm>
        </p:spPr>
        <p:txBody>
          <a:bodyPr>
            <a:normAutofit/>
          </a:bodyPr>
          <a:lstStyle/>
          <a:p>
            <a:r>
              <a:rPr lang="hu-HU" sz="4400" dirty="0">
                <a:latin typeface="Cambria" panose="02040503050406030204" pitchFamily="18" charset="0"/>
                <a:ea typeface="Cambria" panose="02040503050406030204" pitchFamily="18" charset="0"/>
              </a:rPr>
              <a:t>A rendszer felépítése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E9651B97-275D-4D83-C69C-B8B19EB66C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00" y="301261"/>
            <a:ext cx="1034472" cy="1034472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20EBEC2E-FEDA-38A4-F24E-7F9BC3F59421}"/>
              </a:ext>
            </a:extLst>
          </p:cNvPr>
          <p:cNvSpPr txBox="1"/>
          <p:nvPr/>
        </p:nvSpPr>
        <p:spPr>
          <a:xfrm>
            <a:off x="1291472" y="2432115"/>
            <a:ext cx="48045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Frontend: </a:t>
            </a:r>
            <a:r>
              <a:rPr lang="hu-HU" dirty="0" err="1"/>
              <a:t>Vue</a:t>
            </a:r>
            <a:r>
              <a:rPr lang="hu-HU" dirty="0"/>
              <a:t> 3 alapú kliensalkalmazás</a:t>
            </a:r>
          </a:p>
          <a:p>
            <a:r>
              <a:rPr lang="hu-HU" dirty="0"/>
              <a:t>Backend: </a:t>
            </a:r>
            <a:r>
              <a:rPr lang="hu-HU" dirty="0" err="1"/>
              <a:t>Laravel</a:t>
            </a:r>
            <a:r>
              <a:rPr lang="hu-HU" dirty="0"/>
              <a:t> 12 REST API</a:t>
            </a:r>
          </a:p>
          <a:p>
            <a:r>
              <a:rPr lang="hu-HU" dirty="0"/>
              <a:t>Adatbázis: </a:t>
            </a:r>
            <a:r>
              <a:rPr lang="hu-HU" dirty="0" err="1"/>
              <a:t>MySQL</a:t>
            </a:r>
            <a:endParaRPr lang="hu-HU" dirty="0"/>
          </a:p>
          <a:p>
            <a:r>
              <a:rPr lang="hu-HU" dirty="0"/>
              <a:t>Kommunikáció: HTTP API hívások</a:t>
            </a:r>
          </a:p>
          <a:p>
            <a:r>
              <a:rPr lang="hu-HU" dirty="0"/>
              <a:t>Előny: a frontend és backend külön fejleszthető, bővíthető</a:t>
            </a:r>
          </a:p>
        </p:txBody>
      </p:sp>
    </p:spTree>
    <p:extLst>
      <p:ext uri="{BB962C8B-B14F-4D97-AF65-F5344CB8AC3E}">
        <p14:creationId xmlns:p14="http://schemas.microsoft.com/office/powerpoint/2010/main" val="78495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25000"/>
                <a:lumOff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DA3527-9020-D3CD-F075-0BEEA96DD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19F9970-6702-429D-605C-D5AD22D747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2762" y="524926"/>
            <a:ext cx="10446473" cy="810807"/>
          </a:xfrm>
        </p:spPr>
        <p:txBody>
          <a:bodyPr>
            <a:normAutofit/>
          </a:bodyPr>
          <a:lstStyle/>
          <a:p>
            <a:r>
              <a:rPr lang="hu-HU" sz="4400" dirty="0">
                <a:latin typeface="Cambria" panose="02040503050406030204" pitchFamily="18" charset="0"/>
                <a:ea typeface="Cambria" panose="02040503050406030204" pitchFamily="18" charset="0"/>
              </a:rPr>
              <a:t>Backend architektúra és API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2E8CF273-9F1B-F346-08FB-19F5290B2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999" y="301261"/>
            <a:ext cx="1034472" cy="1034472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E093CC0A-6F91-72E3-A513-B1BDDB088A55}"/>
              </a:ext>
            </a:extLst>
          </p:cNvPr>
          <p:cNvSpPr txBox="1"/>
          <p:nvPr/>
        </p:nvSpPr>
        <p:spPr>
          <a:xfrm>
            <a:off x="275263" y="2175009"/>
            <a:ext cx="3940121" cy="1477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Rétegelt backend felépítés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API modulonként szervezve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Egységes hibakezelés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Központi validáció és üzleti logika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Stabil, bővíthető működés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C42936C3-C506-CA4A-8B86-D8D87EF17382}"/>
              </a:ext>
            </a:extLst>
          </p:cNvPr>
          <p:cNvSpPr txBox="1"/>
          <p:nvPr/>
        </p:nvSpPr>
        <p:spPr>
          <a:xfrm>
            <a:off x="6254496" y="1887334"/>
            <a:ext cx="3822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Fő API modulok:</a:t>
            </a:r>
            <a:r>
              <a:rPr lang="hu-HU" dirty="0"/>
              <a:t> Auth, Események, Intézmények, Osztályok, Kérelmek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C7B024CC-432F-1562-78A5-88D39CA24386}"/>
              </a:ext>
            </a:extLst>
          </p:cNvPr>
          <p:cNvSpPr txBox="1"/>
          <p:nvPr/>
        </p:nvSpPr>
        <p:spPr>
          <a:xfrm>
            <a:off x="6254496" y="2590507"/>
            <a:ext cx="4227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Hibakezelés:</a:t>
            </a:r>
            <a:r>
              <a:rPr lang="hu-HU" dirty="0"/>
              <a:t> egységes válaszkódok (siker, validációs hiba, jogosultsági hiba)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1189996F-FCDB-806F-01A8-BCC075788E18}"/>
              </a:ext>
            </a:extLst>
          </p:cNvPr>
          <p:cNvSpPr txBox="1"/>
          <p:nvPr/>
        </p:nvSpPr>
        <p:spPr>
          <a:xfrm>
            <a:off x="6254496" y="3306705"/>
            <a:ext cx="4681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Központi logika:</a:t>
            </a:r>
            <a:r>
              <a:rPr lang="hu-HU" dirty="0"/>
              <a:t> validáció és üzleti szabályok a backendben</a:t>
            </a: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435EC997-2B62-E2BA-4F84-2BE195030D7D}"/>
              </a:ext>
            </a:extLst>
          </p:cNvPr>
          <p:cNvSpPr txBox="1"/>
          <p:nvPr/>
        </p:nvSpPr>
        <p:spPr>
          <a:xfrm>
            <a:off x="6254496" y="4044541"/>
            <a:ext cx="3474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Eredmény:</a:t>
            </a:r>
            <a:r>
              <a:rPr lang="hu-HU" dirty="0"/>
              <a:t> stabil, átlátható, könnyen karbantartható rendszer</a:t>
            </a:r>
          </a:p>
        </p:txBody>
      </p:sp>
    </p:spTree>
    <p:extLst>
      <p:ext uri="{BB962C8B-B14F-4D97-AF65-F5344CB8AC3E}">
        <p14:creationId xmlns:p14="http://schemas.microsoft.com/office/powerpoint/2010/main" val="42617699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25000"/>
                <a:lumOff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10D4F7-234A-2358-EBAB-935B1421D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6397E03-F359-C0F6-A457-3B4E8769B1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2762" y="524926"/>
            <a:ext cx="10446473" cy="810807"/>
          </a:xfrm>
        </p:spPr>
        <p:txBody>
          <a:bodyPr>
            <a:normAutofit/>
          </a:bodyPr>
          <a:lstStyle/>
          <a:p>
            <a:r>
              <a:rPr lang="hu-HU" sz="4400" dirty="0">
                <a:latin typeface="Cambria" panose="02040503050406030204" pitchFamily="18" charset="0"/>
                <a:ea typeface="Cambria" panose="02040503050406030204" pitchFamily="18" charset="0"/>
              </a:rPr>
              <a:t>Jogosultság és biztonság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D184A583-93EB-1A11-F258-02B4842360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00" y="301261"/>
            <a:ext cx="1034472" cy="1034472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0F09628A-2C41-E0D4-FE64-1BC761500161}"/>
              </a:ext>
            </a:extLst>
          </p:cNvPr>
          <p:cNvSpPr txBox="1"/>
          <p:nvPr/>
        </p:nvSpPr>
        <p:spPr>
          <a:xfrm>
            <a:off x="441079" y="2404683"/>
            <a:ext cx="45241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/>
              <a:t>Token</a:t>
            </a:r>
            <a:r>
              <a:rPr lang="hu-HU" dirty="0"/>
              <a:t> alapú hitelesítés (</a:t>
            </a:r>
            <a:r>
              <a:rPr lang="hu-HU" dirty="0" err="1"/>
              <a:t>Sanctum</a:t>
            </a:r>
            <a:r>
              <a:rPr lang="hu-HU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Védett API végpontok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Szerepkör-alapú hozzáférés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Kritikus műveletek korlátozása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Email-verifikáció és hozzáférés-védelem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6DDC15AD-7A57-4FE6-E544-17D75C2F496A}"/>
              </a:ext>
            </a:extLst>
          </p:cNvPr>
          <p:cNvSpPr txBox="1"/>
          <p:nvPr/>
        </p:nvSpPr>
        <p:spPr>
          <a:xfrm>
            <a:off x="6958584" y="2404683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/>
              <a:t>Szerepkörök:</a:t>
            </a:r>
            <a:r>
              <a:rPr lang="hu-HU" dirty="0"/>
              <a:t> diák, tanár, </a:t>
            </a:r>
            <a:r>
              <a:rPr lang="hu-HU" dirty="0" err="1"/>
              <a:t>admin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843051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25000"/>
                <a:lumOff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13A042-97B9-1F47-5F9D-DBA6A49D9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204C95D-F2A0-2818-3463-1172F51B3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2762" y="524926"/>
            <a:ext cx="10446473" cy="810807"/>
          </a:xfrm>
        </p:spPr>
        <p:txBody>
          <a:bodyPr>
            <a:normAutofit/>
          </a:bodyPr>
          <a:lstStyle/>
          <a:p>
            <a:r>
              <a:rPr lang="hu-HU" sz="4400" dirty="0">
                <a:latin typeface="Cambria" panose="02040503050406030204" pitchFamily="18" charset="0"/>
                <a:ea typeface="Cambria" panose="02040503050406030204" pitchFamily="18" charset="0"/>
              </a:rPr>
              <a:t>Frontend felépítés és navigáció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63B8357D-6544-D13C-5E0A-238B569959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999" y="301261"/>
            <a:ext cx="1034472" cy="1034472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0E57366D-3788-18A9-779E-D65D7FD6B047}"/>
              </a:ext>
            </a:extLst>
          </p:cNvPr>
          <p:cNvSpPr txBox="1"/>
          <p:nvPr/>
        </p:nvSpPr>
        <p:spPr>
          <a:xfrm>
            <a:off x="302695" y="1982985"/>
            <a:ext cx="6509585" cy="2031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SPA működés modern, reszponzív felülettel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/>
              <a:t>Route</a:t>
            </a:r>
            <a:r>
              <a:rPr lang="hu-HU" dirty="0"/>
              <a:t> alapú navigáció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Szerepkörhöz igazított irányítópultok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Események listázása és esemény részletei oldal kapcsolata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Felhasználói állapotkezelés local/session tárolással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Reszponzív 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Cél: gyors és egyszerű felhasználói élmény</a:t>
            </a:r>
          </a:p>
        </p:txBody>
      </p:sp>
    </p:spTree>
    <p:extLst>
      <p:ext uri="{BB962C8B-B14F-4D97-AF65-F5344CB8AC3E}">
        <p14:creationId xmlns:p14="http://schemas.microsoft.com/office/powerpoint/2010/main" val="4221715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25000"/>
                <a:lumOff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BD6B70-93EF-45F0-B8D4-B3182B363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8B836E-B1B8-F70A-56A8-41EFA6E0B7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2762" y="524926"/>
            <a:ext cx="10446473" cy="810807"/>
          </a:xfrm>
        </p:spPr>
        <p:txBody>
          <a:bodyPr>
            <a:normAutofit/>
          </a:bodyPr>
          <a:lstStyle/>
          <a:p>
            <a:r>
              <a:rPr lang="hu-HU" sz="4400" dirty="0">
                <a:latin typeface="Cambria" panose="02040503050406030204" pitchFamily="18" charset="0"/>
                <a:ea typeface="Cambria" panose="02040503050406030204" pitchFamily="18" charset="0"/>
              </a:rPr>
              <a:t>Felhasználói élmény és érték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2213AA0-62A4-D452-1756-E5DB38FE7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00" y="301261"/>
            <a:ext cx="1034472" cy="1034472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69ED78A7-0050-3512-8882-4B684E67470A}"/>
              </a:ext>
            </a:extLst>
          </p:cNvPr>
          <p:cNvSpPr txBox="1"/>
          <p:nvPr/>
        </p:nvSpPr>
        <p:spPr>
          <a:xfrm>
            <a:off x="395359" y="2249235"/>
            <a:ext cx="64534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Egységes, könnyen tanulható felület minden szerepkörnek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Gyors és logikus navigáció a fő funkciók között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Átlátható visszajelzések a folyamatok állapotáról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Reszponzív működés asztali és mobil nézetben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/>
              <a:t>Cél: minél kevesebb lépésből elvégezhető folyamatok</a:t>
            </a:r>
          </a:p>
        </p:txBody>
      </p:sp>
    </p:spTree>
    <p:extLst>
      <p:ext uri="{BB962C8B-B14F-4D97-AF65-F5344CB8AC3E}">
        <p14:creationId xmlns:p14="http://schemas.microsoft.com/office/powerpoint/2010/main" val="799399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25000"/>
                <a:lumOff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0FE8E0-F747-6B98-6D53-D5E6E55EE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2D7EC27-1364-B077-B6B2-8B9FFF4D21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2762" y="524926"/>
            <a:ext cx="10446473" cy="810807"/>
          </a:xfrm>
        </p:spPr>
        <p:txBody>
          <a:bodyPr>
            <a:normAutofit/>
          </a:bodyPr>
          <a:lstStyle/>
          <a:p>
            <a:r>
              <a:rPr lang="hu-HU" sz="4400" dirty="0">
                <a:latin typeface="Cambria" panose="02040503050406030204" pitchFamily="18" charset="0"/>
                <a:ea typeface="Cambria" panose="02040503050406030204" pitchFamily="18" charset="0"/>
              </a:rPr>
              <a:t>Adatmodell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0599BACB-47B1-D393-764C-380827D51B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999" y="301261"/>
            <a:ext cx="1034472" cy="1034472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9A6D9027-139E-5B69-8569-B2192A8E1BFC}"/>
              </a:ext>
            </a:extLst>
          </p:cNvPr>
          <p:cNvSpPr txBox="1"/>
          <p:nvPr/>
        </p:nvSpPr>
        <p:spPr>
          <a:xfrm>
            <a:off x="1555423" y="2888241"/>
            <a:ext cx="7767686" cy="2308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hu-HU" dirty="0"/>
              <a:t>Fő entitások: felhasználók, intézmények, osztályok, események</a:t>
            </a:r>
          </a:p>
          <a:p>
            <a:r>
              <a:rPr lang="hu-HU" dirty="0"/>
              <a:t>Kapcsolatok: tagságok, kérelmek, esemény-interakciók</a:t>
            </a:r>
          </a:p>
          <a:p>
            <a:r>
              <a:rPr lang="hu-HU" dirty="0"/>
              <a:t>Relációs modell biztosítja az adatok konzisztenciáját</a:t>
            </a:r>
          </a:p>
          <a:p>
            <a:r>
              <a:rPr lang="hu-HU" dirty="0"/>
              <a:t>Kulcsfontosságú cél: adatintegritás és visszakövethetőség</a:t>
            </a:r>
          </a:p>
          <a:p>
            <a:r>
              <a:rPr lang="hu-HU" dirty="0"/>
              <a:t>Bővíthető struktúra új funkciókhoz</a:t>
            </a:r>
          </a:p>
          <a:p>
            <a:endParaRPr lang="hu-HU" dirty="0"/>
          </a:p>
          <a:p>
            <a:br>
              <a:rPr lang="hu-HU" dirty="0"/>
            </a:b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840870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25000"/>
                <a:lumOff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F24688-00FA-8E74-262F-DD015F7DF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4F1F416-F1B5-3B97-B486-3A641C37A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2762" y="524926"/>
            <a:ext cx="10446473" cy="810807"/>
          </a:xfrm>
        </p:spPr>
        <p:txBody>
          <a:bodyPr>
            <a:normAutofit/>
          </a:bodyPr>
          <a:lstStyle/>
          <a:p>
            <a:r>
              <a:rPr lang="hu-HU" sz="4400" dirty="0">
                <a:latin typeface="Cambria" panose="02040503050406030204" pitchFamily="18" charset="0"/>
                <a:ea typeface="Cambria" panose="02040503050406030204" pitchFamily="18" charset="0"/>
              </a:rPr>
              <a:t>Tesztelés és minőségbiztosítás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4EF3F8B0-0D75-1D2E-7E49-924E680C3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00" y="301261"/>
            <a:ext cx="1034472" cy="1034472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96439E78-38F2-1F21-48B0-CCC8EE74950B}"/>
              </a:ext>
            </a:extLst>
          </p:cNvPr>
          <p:cNvSpPr txBox="1"/>
          <p:nvPr/>
        </p:nvSpPr>
        <p:spPr>
          <a:xfrm>
            <a:off x="518204" y="2264130"/>
            <a:ext cx="67778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Frontend </a:t>
            </a:r>
            <a:r>
              <a:rPr lang="hu-HU" dirty="0" err="1"/>
              <a:t>TypeScript</a:t>
            </a:r>
            <a:r>
              <a:rPr lang="hu-HU" dirty="0"/>
              <a:t> tesztek pozitív és negatív tesztek</a:t>
            </a:r>
          </a:p>
          <a:p>
            <a:r>
              <a:rPr lang="hu-HU" dirty="0"/>
              <a:t>Backend API tesztelés Postmannel</a:t>
            </a:r>
          </a:p>
          <a:p>
            <a:r>
              <a:rPr lang="hu-HU" dirty="0"/>
              <a:t>Pozitív és negatív esetek ellenőrzése</a:t>
            </a:r>
          </a:p>
          <a:p>
            <a:r>
              <a:rPr lang="hu-HU" dirty="0"/>
              <a:t>Cél: stabil működés és hibák korai kiszűrése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24335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25000"/>
                <a:lumOff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A11DEC-928F-E186-50E9-E8A69C03A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6B4C826-7817-D990-EC1B-D67F66AB4B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74" y="504378"/>
            <a:ext cx="4336235" cy="810807"/>
          </a:xfrm>
        </p:spPr>
        <p:txBody>
          <a:bodyPr>
            <a:normAutofit/>
          </a:bodyPr>
          <a:lstStyle/>
          <a:p>
            <a:r>
              <a:rPr lang="hu-HU" sz="4400" dirty="0">
                <a:latin typeface="Cambria" panose="02040503050406030204" pitchFamily="18" charset="0"/>
                <a:ea typeface="Cambria" panose="02040503050406030204" pitchFamily="18" charset="0"/>
              </a:rPr>
              <a:t>Csapatmunka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00761A65-CFC2-45D5-13D3-9E8B64598CC1}"/>
              </a:ext>
            </a:extLst>
          </p:cNvPr>
          <p:cNvSpPr txBox="1"/>
          <p:nvPr/>
        </p:nvSpPr>
        <p:spPr>
          <a:xfrm>
            <a:off x="1235018" y="2149947"/>
            <a:ext cx="4336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Kommunikáció: </a:t>
            </a:r>
            <a:r>
              <a:rPr lang="hu-HU" dirty="0" err="1"/>
              <a:t>Discord</a:t>
            </a:r>
            <a:endParaRPr lang="hu-HU" dirty="0"/>
          </a:p>
          <a:p>
            <a:r>
              <a:rPr lang="hu-HU" dirty="0"/>
              <a:t>Megosztott munka: GitHub, Google Drive</a:t>
            </a:r>
          </a:p>
        </p:txBody>
      </p:sp>
    </p:spTree>
    <p:extLst>
      <p:ext uri="{BB962C8B-B14F-4D97-AF65-F5344CB8AC3E}">
        <p14:creationId xmlns:p14="http://schemas.microsoft.com/office/powerpoint/2010/main" val="1040506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25000"/>
                <a:lumOff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78ABF4-20EE-E2DD-9CD7-A15C9484B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8651F73-FBCA-D376-37A6-ED09CFA57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74" y="504378"/>
            <a:ext cx="4336235" cy="810807"/>
          </a:xfrm>
        </p:spPr>
        <p:txBody>
          <a:bodyPr>
            <a:normAutofit/>
          </a:bodyPr>
          <a:lstStyle/>
          <a:p>
            <a:r>
              <a:rPr lang="hu-HU" sz="4400" dirty="0">
                <a:latin typeface="Cambria" panose="02040503050406030204" pitchFamily="18" charset="0"/>
                <a:ea typeface="Cambria" panose="02040503050406030204" pitchFamily="18" charset="0"/>
              </a:rPr>
              <a:t>Jövőbeli tervek</a:t>
            </a:r>
          </a:p>
        </p:txBody>
      </p:sp>
    </p:spTree>
    <p:extLst>
      <p:ext uri="{BB962C8B-B14F-4D97-AF65-F5344CB8AC3E}">
        <p14:creationId xmlns:p14="http://schemas.microsoft.com/office/powerpoint/2010/main" val="1876912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25000"/>
                <a:lumOff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FD7279-A83A-72E4-0B8D-AB665A391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C88E5B-9FF0-7EB6-EB40-1649EE263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74" y="504378"/>
            <a:ext cx="4336235" cy="810807"/>
          </a:xfrm>
        </p:spPr>
        <p:txBody>
          <a:bodyPr>
            <a:normAutofit/>
          </a:bodyPr>
          <a:lstStyle/>
          <a:p>
            <a:r>
              <a:rPr lang="hu-HU" sz="4400" dirty="0">
                <a:latin typeface="Cambria" panose="02040503050406030204" pitchFamily="18" charset="0"/>
                <a:ea typeface="Cambria" panose="02040503050406030204" pitchFamily="18" charset="0"/>
              </a:rPr>
              <a:t>Demó</a:t>
            </a:r>
          </a:p>
        </p:txBody>
      </p:sp>
    </p:spTree>
    <p:extLst>
      <p:ext uri="{BB962C8B-B14F-4D97-AF65-F5344CB8AC3E}">
        <p14:creationId xmlns:p14="http://schemas.microsoft.com/office/powerpoint/2010/main" val="11867803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25000"/>
                <a:lumOff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CA801F-A09C-1A35-0256-06E45D671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6721995-7CE6-D39E-5667-29E74B6527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74" y="504378"/>
            <a:ext cx="4336235" cy="810807"/>
          </a:xfrm>
        </p:spPr>
        <p:txBody>
          <a:bodyPr>
            <a:normAutofit/>
          </a:bodyPr>
          <a:lstStyle/>
          <a:p>
            <a:r>
              <a:rPr lang="hu-HU" sz="4400" dirty="0">
                <a:latin typeface="Cambria" panose="02040503050406030204" pitchFamily="18" charset="0"/>
                <a:ea typeface="Cambria" panose="02040503050406030204" pitchFamily="18" charset="0"/>
              </a:rPr>
              <a:t>Taralomjegyzék</a:t>
            </a: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8BC9FA54-C195-25C8-9ABC-F7E9D6158A37}"/>
              </a:ext>
            </a:extLst>
          </p:cNvPr>
          <p:cNvSpPr txBox="1"/>
          <p:nvPr/>
        </p:nvSpPr>
        <p:spPr>
          <a:xfrm>
            <a:off x="801385" y="2065106"/>
            <a:ext cx="4336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www.chatgpt.com</a:t>
            </a:r>
          </a:p>
        </p:txBody>
      </p:sp>
    </p:spTree>
    <p:extLst>
      <p:ext uri="{BB962C8B-B14F-4D97-AF65-F5344CB8AC3E}">
        <p14:creationId xmlns:p14="http://schemas.microsoft.com/office/powerpoint/2010/main" val="3320534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25000"/>
                <a:lumOff val="7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CDD7AE-8361-59B6-634F-3C43E180F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14C99E-F863-52B0-4D8C-70DF94102F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2763" y="1593439"/>
            <a:ext cx="10446473" cy="810807"/>
          </a:xfrm>
        </p:spPr>
        <p:txBody>
          <a:bodyPr>
            <a:normAutofit fontScale="90000"/>
          </a:bodyPr>
          <a:lstStyle/>
          <a:p>
            <a:r>
              <a:rPr lang="hu-HU" sz="5400" b="1" i="1" dirty="0">
                <a:latin typeface="Cambria" panose="02040503050406030204" pitchFamily="18" charset="0"/>
                <a:ea typeface="Cambria" panose="02040503050406030204" pitchFamily="18" charset="0"/>
              </a:rPr>
              <a:t>Köszönjük a figyelmüket!</a:t>
            </a:r>
          </a:p>
        </p:txBody>
      </p:sp>
    </p:spTree>
    <p:extLst>
      <p:ext uri="{BB962C8B-B14F-4D97-AF65-F5344CB8AC3E}">
        <p14:creationId xmlns:p14="http://schemas.microsoft.com/office/powerpoint/2010/main" val="2545082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408</Words>
  <Application>Microsoft Office PowerPoint</Application>
  <PresentationFormat>Szélesvásznú</PresentationFormat>
  <Paragraphs>89</Paragraphs>
  <Slides>15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Cambria</vt:lpstr>
      <vt:lpstr>Times New Roman</vt:lpstr>
      <vt:lpstr>Office-téma</vt:lpstr>
      <vt:lpstr>EseményTér</vt:lpstr>
      <vt:lpstr>Bevezetés: Probléma és Megoldás</vt:lpstr>
      <vt:lpstr>A program fő funkciói</vt:lpstr>
      <vt:lpstr>A rendszer felépítése</vt:lpstr>
      <vt:lpstr>Backend architektúra és API</vt:lpstr>
      <vt:lpstr>Jogosultság és biztonság</vt:lpstr>
      <vt:lpstr>Frontend felépítés és navigáció</vt:lpstr>
      <vt:lpstr>Felhasználói élmény és érték</vt:lpstr>
      <vt:lpstr>Adatmodell</vt:lpstr>
      <vt:lpstr>Tesztelés és minőségbiztosítás</vt:lpstr>
      <vt:lpstr>Csapatmunka</vt:lpstr>
      <vt:lpstr>Jövőbeli tervek</vt:lpstr>
      <vt:lpstr>Demó</vt:lpstr>
      <vt:lpstr>Taralomjegyzék</vt:lpstr>
      <vt:lpstr>Köszönjük a figyelmüket!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4</cp:revision>
  <dcterms:created xsi:type="dcterms:W3CDTF">2026-03-04T16:50:56Z</dcterms:created>
  <dcterms:modified xsi:type="dcterms:W3CDTF">2026-03-05T15:25:47Z</dcterms:modified>
</cp:coreProperties>
</file>