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embeddedFontLst>
    <p:embeddedFont>
      <p:font typeface="Cambria" panose="02040503050406030204" pitchFamily="18" charset="0"/>
      <p:regular r:id="rId18"/>
      <p:bold r:id="rId19"/>
      <p:italic r:id="rId20"/>
      <p:boldItalic r:id="rId21"/>
    </p:embeddedFont>
    <p:embeddedFont>
      <p:font typeface="Play" panose="020B0604020202020204" charset="0"/>
      <p:regular r:id="rId22"/>
      <p:bold r:id="rId2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4" roundtripDataSignature="AMtx7mj67VHAuCHlscAUacmt/Mbt/wFFl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36AE613-179F-4F3B-B0BF-9CF6581B68B4}">
  <a:tblStyle styleId="{A36AE613-179F-4F3B-B0BF-9CF6581B68B4}" styleName="Table_0">
    <a:wholeTbl>
      <a:tcTxStyle b="off" i="off">
        <a:font>
          <a:latin typeface="Aptos"/>
          <a:ea typeface="Aptos"/>
          <a:cs typeface="Aptos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7E9EC"/>
          </a:solidFill>
        </a:fill>
      </a:tcStyle>
    </a:wholeTbl>
    <a:band1H>
      <a:tcTxStyle/>
      <a:tcStyle>
        <a:tcBdr/>
        <a:fill>
          <a:solidFill>
            <a:srgbClr val="CAD1D8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1D8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Aptos"/>
          <a:ea typeface="Aptos"/>
          <a:cs typeface="Aptos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ptos"/>
          <a:ea typeface="Aptos"/>
          <a:cs typeface="Aptos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-642" y="138"/>
      </p:cViewPr>
      <p:guideLst/>
    </p:cSldViewPr>
  </p:slideViewPr>
  <p:notesTextViewPr>
    <p:cViewPr>
      <p:scale>
        <a:sx n="3" d="2"/>
        <a:sy n="3" d="2"/>
      </p:scale>
      <p:origin x="-6" y="-18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6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5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1" name="Google Shape;11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2" name="Google Shape;122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0" name="Google Shape;17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8" name="Google Shape;178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9" name="Google Shape;189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4" name="Google Shape;19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dia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7"/>
          <p:cNvSpPr txBox="1"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7"/>
          <p:cNvSpPr txBox="1"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>
            <a:endParaRPr/>
          </a:p>
        </p:txBody>
      </p:sp>
      <p:sp>
        <p:nvSpPr>
          <p:cNvPr id="14" name="Google Shape;14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tartalom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0" name="Google Shape;20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zakaszfejléc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19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9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757575"/>
              </a:buClr>
              <a:buSzPts val="2400"/>
              <a:buNone/>
              <a:defRPr sz="24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2000"/>
              <a:buNone/>
              <a:defRPr sz="20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757575"/>
              </a:buClr>
              <a:buSzPts val="1600"/>
              <a:buNone/>
              <a:defRPr sz="16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 tartalomrész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20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2" name="Google Shape;32;p20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3" name="Google Shape;33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Összehasonlítás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21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21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39" name="Google Shape;39;p21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0" name="Google Shape;40;p21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21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sak cím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22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Üres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rtalomrész képaláírással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4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4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4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8" name="Google Shape;58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Kép képaláírással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5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lay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5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5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5" name="Google Shape;6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ím és függőleges szöveg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6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Függőleges cím és szöveg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7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7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lay"/>
              <a:buNone/>
              <a:defRPr sz="44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hu-H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jpg"/><Relationship Id="rId4" Type="http://schemas.openxmlformats.org/officeDocument/2006/relationships/image" Target="../media/image2.jp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>
            <a:spLocks noGrp="1"/>
          </p:cNvSpPr>
          <p:nvPr>
            <p:ph type="ctrTitle"/>
          </p:nvPr>
        </p:nvSpPr>
        <p:spPr>
          <a:xfrm>
            <a:off x="3901123" y="2515898"/>
            <a:ext cx="4389748" cy="13417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mbria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EseményTér</a:t>
            </a:r>
            <a:endParaRPr>
              <a:latin typeface="Cambria"/>
              <a:ea typeface="Cambria"/>
              <a:cs typeface="Cambria"/>
              <a:sym typeface="Cambria"/>
            </a:endParaRPr>
          </a:p>
        </p:txBody>
      </p:sp>
      <p:sp>
        <p:nvSpPr>
          <p:cNvPr id="85" name="Google Shape;85;p1"/>
          <p:cNvSpPr txBox="1">
            <a:spLocks noGrp="1"/>
          </p:cNvSpPr>
          <p:nvPr>
            <p:ph type="subTitle" idx="1"/>
          </p:nvPr>
        </p:nvSpPr>
        <p:spPr>
          <a:xfrm>
            <a:off x="3684309" y="4816138"/>
            <a:ext cx="4823381" cy="9845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Készítették:</a:t>
            </a:r>
            <a:endParaRPr/>
          </a:p>
          <a:p>
            <a:pPr marL="0" lvl="0" indent="0" algn="ct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</a:pPr>
            <a:r>
              <a:rPr lang="hu-HU">
                <a:latin typeface="Cambria"/>
                <a:ea typeface="Cambria"/>
                <a:cs typeface="Cambria"/>
                <a:sym typeface="Cambria"/>
              </a:rPr>
              <a:t>Nagy Levéd Sámuel, Tóth Tamás</a:t>
            </a:r>
            <a:endParaRPr/>
          </a:p>
        </p:txBody>
      </p:sp>
      <p:pic>
        <p:nvPicPr>
          <p:cNvPr id="86" name="Google Shape;86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272059" y="367248"/>
            <a:ext cx="1647875" cy="1647875"/>
          </a:xfrm>
          <a:prstGeom prst="rect">
            <a:avLst/>
          </a:prstGeom>
          <a:noFill/>
          <a:ln>
            <a:noFill/>
          </a:ln>
        </p:spPr>
      </p:pic>
      <p:sp>
        <p:nvSpPr>
          <p:cNvPr id="87" name="Google Shape;87;p1"/>
          <p:cNvSpPr txBox="1"/>
          <p:nvPr/>
        </p:nvSpPr>
        <p:spPr>
          <a:xfrm>
            <a:off x="836749" y="868021"/>
            <a:ext cx="3996965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Kiskunfélegyházi Szent Benedek PG Két Tanítási Nyelvű Technikum és Kollégium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7796627" y="498690"/>
            <a:ext cx="2789674" cy="13849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𖡡  Kiskunfélegyháza, Kossuth u. 24.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☏  </a:t>
            </a:r>
            <a:r>
              <a:rPr lang="hu-HU" sz="1400" b="0" i="0" u="none" strike="noStrike" cap="none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+36 76 462 332</a:t>
            </a: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4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OM:  203365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✉ titkarsag@szbi-pg.hu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⌕ http://www.szbi-pg.hu/</a:t>
            </a:r>
            <a:endParaRPr/>
          </a:p>
        </p:txBody>
      </p:sp>
      <p:pic>
        <p:nvPicPr>
          <p:cNvPr id="89" name="Google Shape;89;p1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1559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90" name="Google Shape;90;p1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946035" y="1883685"/>
            <a:ext cx="2347181" cy="34768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Bevezetés: Probléma és Megoldás</a:t>
            </a:r>
            <a:endParaRPr/>
          </a:p>
        </p:txBody>
      </p:sp>
      <p:pic>
        <p:nvPicPr>
          <p:cNvPr id="96" name="Google Shape;96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7000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97" name="Google Shape;97;p2"/>
          <p:cNvGraphicFramePr/>
          <p:nvPr/>
        </p:nvGraphicFramePr>
        <p:xfrm>
          <a:off x="1387309" y="1941922"/>
          <a:ext cx="9417400" cy="4391150"/>
        </p:xfrm>
        <a:graphic>
          <a:graphicData uri="http://schemas.openxmlformats.org/drawingml/2006/table">
            <a:tbl>
              <a:tblPr firstRow="1" bandRow="1">
                <a:noFill/>
                <a:tableStyleId>{A36AE613-179F-4F3B-B0BF-9CF6581B68B4}</a:tableStyleId>
              </a:tblPr>
              <a:tblGrid>
                <a:gridCol w="4708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708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1145800">
                <a:tc gridSpan="2">
                  <a:txBody>
                    <a:bodyPr/>
                    <a:lstStyle/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Projekt neve: </a:t>
                      </a:r>
                      <a:r>
                        <a:rPr lang="hu-HU" sz="1800" b="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EseményTér</a:t>
                      </a:r>
                      <a:endParaRPr sz="1800" b="0" u="none" strike="noStrike" cap="non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Cél: </a:t>
                      </a:r>
                      <a:r>
                        <a:rPr lang="hu-HU" sz="1800" b="0" u="none" strike="noStrike" cap="none">
                          <a:latin typeface="Cambria"/>
                          <a:ea typeface="Cambria"/>
                          <a:cs typeface="Cambria"/>
                          <a:sym typeface="Cambria"/>
                        </a:rPr>
                        <a:t>A tanárok és diákok közötti kommunikáció egyszerűsítése, valamint az iskolai események központi és átlátható kezelése egy rendszerben.</a:t>
                      </a:r>
                      <a:endParaRPr/>
                    </a:p>
                  </a:txBody>
                  <a:tcPr marL="91450" marR="91450" marT="45725" marB="45725"/>
                </a:tc>
                <a:tc hMerge="1">
                  <a:txBody>
                    <a:bodyPr/>
                    <a:lstStyle/>
                    <a:p>
                      <a:endParaRPr lang="hu-HU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45350"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Probléma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széttagolt kommunikáció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több külön platform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nehézkes eseménykezelés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Arial"/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információk nehéz követése</a:t>
                      </a:r>
                      <a:endParaRPr/>
                    </a:p>
                  </a:txBody>
                  <a:tcPr marL="91450" marR="91450" marT="45725" marB="45725" anchor="ctr"/>
                </a:tc>
                <a:tc>
                  <a:txBody>
                    <a:bodyPr/>
                    <a:lstStyle/>
                    <a:p>
                      <a:pPr marL="0" marR="0" lvl="0" indent="0" algn="ctr" rtl="0">
                        <a:lnSpc>
                          <a:spcPct val="2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b="1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Megoldás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egységes webes rendszer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központi eseménykezelés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egyszerűbb kommunikáció</a:t>
                      </a:r>
                      <a:endParaRPr/>
                    </a:p>
                    <a:p>
                      <a:pPr marL="0" marR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hu-HU" sz="1800" u="none" strike="noStrike" cap="none">
                          <a:latin typeface="Times New Roman"/>
                          <a:ea typeface="Times New Roman"/>
                          <a:cs typeface="Times New Roman"/>
                          <a:sym typeface="Times New Roman"/>
                        </a:rPr>
                        <a:t>átlátható információk</a:t>
                      </a:r>
                      <a:endParaRPr/>
                    </a:p>
                  </a:txBody>
                  <a:tcPr marL="91450" marR="91450" marT="45725" marB="45725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/>
          <p:nvPr/>
        </p:nvSpPr>
        <p:spPr>
          <a:xfrm>
            <a:off x="7582328" y="2434975"/>
            <a:ext cx="4099389" cy="1777429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3"/>
          <p:cNvSpPr/>
          <p:nvPr/>
        </p:nvSpPr>
        <p:spPr>
          <a:xfrm>
            <a:off x="690452" y="2434975"/>
            <a:ext cx="3059615" cy="1623317"/>
          </a:xfrm>
          <a:prstGeom prst="rect">
            <a:avLst/>
          </a:prstGeom>
          <a:solidFill>
            <a:srgbClr val="D8D8D8"/>
          </a:solidFill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3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program fő funkciói</a:t>
            </a:r>
            <a:endParaRPr/>
          </a:p>
        </p:txBody>
      </p:sp>
      <p:pic>
        <p:nvPicPr>
          <p:cNvPr id="105" name="Google Shape;105;p3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1999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3"/>
          <p:cNvSpPr txBox="1"/>
          <p:nvPr/>
        </p:nvSpPr>
        <p:spPr>
          <a:xfrm>
            <a:off x="1498862" y="2794571"/>
            <a:ext cx="1573111" cy="92333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Regisztráció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Bejelentkezés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Profilkezelés</a:t>
            </a:r>
            <a:endParaRPr/>
          </a:p>
        </p:txBody>
      </p:sp>
      <p:sp>
        <p:nvSpPr>
          <p:cNvPr id="107" name="Google Shape;107;p3"/>
          <p:cNvSpPr txBox="1"/>
          <p:nvPr/>
        </p:nvSpPr>
        <p:spPr>
          <a:xfrm>
            <a:off x="7947643" y="2724225"/>
            <a:ext cx="3553905" cy="12003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böngészése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Események létrehozása és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Intézmények és osztályok kezelése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Jelentkezési kérelmek kezelése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3"/>
          <p:cNvSpPr/>
          <p:nvPr/>
        </p:nvSpPr>
        <p:spPr>
          <a:xfrm>
            <a:off x="593889" y="0"/>
            <a:ext cx="13059824" cy="6183984"/>
          </a:xfrm>
          <a:custGeom>
            <a:avLst/>
            <a:gdLst/>
            <a:ahLst/>
            <a:cxnLst/>
            <a:rect l="l" t="t" r="r" b="b"/>
            <a:pathLst>
              <a:path w="12946702" h="5944121" extrusionOk="0">
                <a:moveTo>
                  <a:pt x="0" y="0"/>
                </a:moveTo>
                <a:cubicBezTo>
                  <a:pt x="1600200" y="835843"/>
                  <a:pt x="3200400" y="1671687"/>
                  <a:pt x="4138367" y="2658359"/>
                </a:cubicBezTo>
                <a:cubicBezTo>
                  <a:pt x="5076334" y="3645031"/>
                  <a:pt x="4268771" y="5668652"/>
                  <a:pt x="5627802" y="5920033"/>
                </a:cubicBezTo>
                <a:cubicBezTo>
                  <a:pt x="6986833" y="6171414"/>
                  <a:pt x="11082779" y="4377180"/>
                  <a:pt x="12292552" y="4166648"/>
                </a:cubicBezTo>
                <a:cubicBezTo>
                  <a:pt x="13502325" y="3956116"/>
                  <a:pt x="12608350" y="4490301"/>
                  <a:pt x="12886441" y="4656841"/>
                </a:cubicBezTo>
              </a:path>
            </a:pathLst>
          </a:custGeom>
          <a:noFill/>
          <a:ln w="19050" cap="flat" cmpd="sng">
            <a:solidFill>
              <a:srgbClr val="082836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"/>
          <p:cNvSpPr/>
          <p:nvPr/>
        </p:nvSpPr>
        <p:spPr>
          <a:xfrm rot="5400000">
            <a:off x="4237613" y="-6392525"/>
            <a:ext cx="3492600" cy="141567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4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 rendszer felépítése</a:t>
            </a:r>
            <a:endParaRPr/>
          </a:p>
        </p:txBody>
      </p:sp>
      <p:pic>
        <p:nvPicPr>
          <p:cNvPr id="115" name="Google Shape;115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7000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16" name="Google Shape;116;p4"/>
          <p:cNvSpPr txBox="1"/>
          <p:nvPr/>
        </p:nvSpPr>
        <p:spPr>
          <a:xfrm>
            <a:off x="1291472" y="2432115"/>
            <a:ext cx="48045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Frontend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Vue 3 alapú kliensalkalmazás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Backend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Laravel 12 REST API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Adatbázis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MySQL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Kommunikáció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HTTP API hívások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</a:rPr>
              <a:t>Előny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: a frontend és backend külön fejleszthető, bővíthető</a:t>
            </a:r>
            <a:endParaRPr/>
          </a:p>
        </p:txBody>
      </p:sp>
      <p:pic>
        <p:nvPicPr>
          <p:cNvPr id="117" name="Google Shape;117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38882" y="2551650"/>
            <a:ext cx="4180341" cy="1754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8" name="Google Shape;118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 rot="-1916881">
            <a:off x="5967247" y="3409924"/>
            <a:ext cx="1970576" cy="205062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Google Shape;119;p4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26075" y="3624840"/>
            <a:ext cx="3550444" cy="23663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5"/>
          <p:cNvSpPr/>
          <p:nvPr/>
        </p:nvSpPr>
        <p:spPr>
          <a:xfrm>
            <a:off x="5715725" y="1436574"/>
            <a:ext cx="5272800" cy="45414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5" name="Google Shape;125;p5"/>
          <p:cNvSpPr/>
          <p:nvPr/>
        </p:nvSpPr>
        <p:spPr>
          <a:xfrm>
            <a:off x="548325" y="1778700"/>
            <a:ext cx="4968000" cy="32862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6" name="Google Shape;126;p5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Backend architektúra és API</a:t>
            </a:r>
            <a:endParaRPr/>
          </a:p>
        </p:txBody>
      </p:sp>
      <p:pic>
        <p:nvPicPr>
          <p:cNvPr id="127" name="Google Shape;127;p5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1999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5"/>
          <p:cNvSpPr txBox="1"/>
          <p:nvPr/>
        </p:nvSpPr>
        <p:spPr>
          <a:xfrm>
            <a:off x="1321138" y="2128809"/>
            <a:ext cx="39402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Rétegelt backend felépítés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API modulonként szervezve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Egységes hibakezelés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Központi validáció és üzleti logika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Stabil, bővíthető működés</a:t>
            </a:r>
            <a:endParaRPr/>
          </a:p>
        </p:txBody>
      </p:sp>
      <p:grpSp>
        <p:nvGrpSpPr>
          <p:cNvPr id="129" name="Google Shape;129;p5"/>
          <p:cNvGrpSpPr/>
          <p:nvPr/>
        </p:nvGrpSpPr>
        <p:grpSpPr>
          <a:xfrm>
            <a:off x="6637421" y="1960734"/>
            <a:ext cx="4681800" cy="3286207"/>
            <a:chOff x="6254496" y="2128809"/>
            <a:chExt cx="4681800" cy="3286207"/>
          </a:xfrm>
        </p:grpSpPr>
        <p:sp>
          <p:nvSpPr>
            <p:cNvPr id="130" name="Google Shape;130;p5"/>
            <p:cNvSpPr txBox="1"/>
            <p:nvPr/>
          </p:nvSpPr>
          <p:spPr>
            <a:xfrm>
              <a:off x="6254496" y="2128809"/>
              <a:ext cx="38223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Fő API modulok:</a:t>
              </a:r>
              <a:r>
                <a:rPr lang="hu-HU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Auth, Események, Intézmények, Osztályok, Kérelmek</a:t>
              </a:r>
              <a:endParaRPr/>
            </a:p>
          </p:txBody>
        </p:sp>
        <p:sp>
          <p:nvSpPr>
            <p:cNvPr id="131" name="Google Shape;131;p5"/>
            <p:cNvSpPr txBox="1"/>
            <p:nvPr/>
          </p:nvSpPr>
          <p:spPr>
            <a:xfrm>
              <a:off x="6254496" y="3005982"/>
              <a:ext cx="42276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Hibakezelés:</a:t>
              </a:r>
              <a:r>
                <a:rPr lang="hu-HU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egységes válaszkódok (siker, validációs hiba, jogosultsági hiba)</a:t>
              </a:r>
              <a:endParaRPr/>
            </a:p>
          </p:txBody>
        </p:sp>
        <p:sp>
          <p:nvSpPr>
            <p:cNvPr id="132" name="Google Shape;132;p5"/>
            <p:cNvSpPr txBox="1"/>
            <p:nvPr/>
          </p:nvSpPr>
          <p:spPr>
            <a:xfrm>
              <a:off x="6254496" y="3845305"/>
              <a:ext cx="4681800" cy="6465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Központi logika:</a:t>
              </a:r>
              <a:r>
                <a:rPr lang="hu-HU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validáció és üzleti szabályok a backendben</a:t>
              </a:r>
              <a:endParaRPr/>
            </a:p>
          </p:txBody>
        </p:sp>
        <p:sp>
          <p:nvSpPr>
            <p:cNvPr id="133" name="Google Shape;133;p5"/>
            <p:cNvSpPr txBox="1"/>
            <p:nvPr/>
          </p:nvSpPr>
          <p:spPr>
            <a:xfrm>
              <a:off x="6254508" y="4491616"/>
              <a:ext cx="3474600" cy="923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hu-HU" sz="1800" b="1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Eredmény:</a:t>
              </a:r>
              <a:r>
                <a:rPr lang="hu-HU" sz="180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rPr>
                <a:t> stabil, átlátható, könnyen karbantartható rendszer</a:t>
              </a: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6"/>
          <p:cNvSpPr/>
          <p:nvPr/>
        </p:nvSpPr>
        <p:spPr>
          <a:xfrm>
            <a:off x="2729700" y="111225"/>
            <a:ext cx="6732600" cy="1638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9" name="Google Shape;139;p6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600" cy="81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Jogosultság és biztonság</a:t>
            </a:r>
            <a:endParaRPr/>
          </a:p>
        </p:txBody>
      </p:sp>
      <p:pic>
        <p:nvPicPr>
          <p:cNvPr id="140" name="Google Shape;140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7000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41" name="Google Shape;141;p6"/>
          <p:cNvSpPr txBox="1"/>
          <p:nvPr/>
        </p:nvSpPr>
        <p:spPr>
          <a:xfrm>
            <a:off x="1291479" y="2404683"/>
            <a:ext cx="4524000" cy="2862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Token alapú hitelesítés (Sanctum)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Védett API végpontok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Szerepkör-alapú hozzáférés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Kritikus műveletek korlátozása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Email-verifikáció és hozzáférés-védelem</a:t>
            </a:r>
            <a:endParaRPr sz="1800">
              <a:solidFill>
                <a:schemeClr val="dk1"/>
              </a:solidFill>
            </a:endParaRPr>
          </a:p>
        </p:txBody>
      </p:sp>
      <p:sp>
        <p:nvSpPr>
          <p:cNvPr id="142" name="Google Shape;142;p6"/>
          <p:cNvSpPr txBox="1"/>
          <p:nvPr/>
        </p:nvSpPr>
        <p:spPr>
          <a:xfrm>
            <a:off x="7216234" y="2413058"/>
            <a:ext cx="3429000" cy="203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 b="1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Szerepkörök:</a:t>
            </a:r>
            <a:endParaRPr sz="1800" b="1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Diák</a:t>
            </a:r>
            <a:endParaRPr sz="18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Tanár</a:t>
            </a:r>
            <a:endParaRPr sz="1800">
              <a:solidFill>
                <a:schemeClr val="dk1"/>
              </a:solidFill>
            </a:endParaRPr>
          </a:p>
          <a:p>
            <a:pPr marL="45720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</a:pPr>
            <a:r>
              <a:rPr lang="hu-HU" sz="1800">
                <a:solidFill>
                  <a:schemeClr val="dk1"/>
                </a:solidFill>
              </a:rPr>
              <a:t>Admin</a:t>
            </a:r>
            <a:endParaRPr sz="1800" b="1">
              <a:solidFill>
                <a:schemeClr val="dk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7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Frontend felépítés és navigáció</a:t>
            </a:r>
            <a:endParaRPr/>
          </a:p>
        </p:txBody>
      </p:sp>
      <p:pic>
        <p:nvPicPr>
          <p:cNvPr id="148" name="Google Shape;148;p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1999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7"/>
          <p:cNvSpPr txBox="1"/>
          <p:nvPr/>
        </p:nvSpPr>
        <p:spPr>
          <a:xfrm>
            <a:off x="1377020" y="1714310"/>
            <a:ext cx="6509700" cy="397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SPA működés modern, reszponzív felülettel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Route alapú navigáció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Szerepkörhöz igazított irányítópultok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Események listázása és esemény részletei oldal kapcsolata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Felhasználói állapotkezelés local/session tárolással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Reszponzív UI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gyors és egyszerű felhasználói élmény</a:t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7826625" y="1335725"/>
            <a:ext cx="3492600" cy="52929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1" name="Google Shape;151;p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89540" y="1714300"/>
            <a:ext cx="5566768" cy="4823099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8"/>
          <p:cNvSpPr/>
          <p:nvPr/>
        </p:nvSpPr>
        <p:spPr>
          <a:xfrm>
            <a:off x="356025" y="1698075"/>
            <a:ext cx="8708700" cy="46878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7" name="Google Shape;157;p8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Felhasználói élmény és érték</a:t>
            </a:r>
            <a:endParaRPr/>
          </a:p>
        </p:txBody>
      </p:sp>
      <p:pic>
        <p:nvPicPr>
          <p:cNvPr id="158" name="Google Shape;158;p8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7000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8"/>
          <p:cNvSpPr txBox="1"/>
          <p:nvPr/>
        </p:nvSpPr>
        <p:spPr>
          <a:xfrm>
            <a:off x="1291484" y="2748985"/>
            <a:ext cx="6453600" cy="25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Egységes, könnyen tanulható felület minden szerepkörnek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Gyors és logikus navigáció a fő funkciók között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Átlátható visszajelzések a folyamatok állapotáról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Reszponzív működés asztali és mobil nézetben</a:t>
            </a:r>
            <a:endParaRPr/>
          </a:p>
          <a:p>
            <a:pPr marL="45720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285750" marR="0" lvl="0" indent="-28575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minél kevesebb lépésből elvégezhető folyamatok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9"/>
          <p:cNvSpPr/>
          <p:nvPr/>
        </p:nvSpPr>
        <p:spPr>
          <a:xfrm>
            <a:off x="9993075" y="-339150"/>
            <a:ext cx="3492600" cy="75363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p9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Adatmodell</a:t>
            </a:r>
            <a:endParaRPr/>
          </a:p>
        </p:txBody>
      </p:sp>
      <p:pic>
        <p:nvPicPr>
          <p:cNvPr id="165" name="Google Shape;165;p9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801999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9"/>
          <p:cNvSpPr txBox="1"/>
          <p:nvPr/>
        </p:nvSpPr>
        <p:spPr>
          <a:xfrm>
            <a:off x="1558873" y="1720491"/>
            <a:ext cx="7767600" cy="341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Fő entitások: felhasználók, intézmények, osztályok, események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Kapcsolatok: tagságok, kérelmek, esemény-interakciók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Relációs modell biztosítja az adatok konzisztenciáját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Kulcsfontosságú cél: adatintegritás és visszakövethetőség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Bővíthető struktúra új funkciókhoz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b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</a:b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"/>
          <p:cNvSpPr/>
          <p:nvPr/>
        </p:nvSpPr>
        <p:spPr>
          <a:xfrm>
            <a:off x="-2850775" y="5134425"/>
            <a:ext cx="13068000" cy="34605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3" name="Google Shape;173;p10"/>
          <p:cNvSpPr txBox="1">
            <a:spLocks noGrp="1"/>
          </p:cNvSpPr>
          <p:nvPr>
            <p:ph type="ctrTitle"/>
          </p:nvPr>
        </p:nvSpPr>
        <p:spPr>
          <a:xfrm>
            <a:off x="872762" y="524926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Tesztelés és minőségbiztosítás</a:t>
            </a:r>
            <a:endParaRPr/>
          </a:p>
        </p:txBody>
      </p:sp>
      <p:pic>
        <p:nvPicPr>
          <p:cNvPr id="174" name="Google Shape;174;p1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57000" y="301261"/>
            <a:ext cx="1034472" cy="1034472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10"/>
          <p:cNvSpPr txBox="1"/>
          <p:nvPr/>
        </p:nvSpPr>
        <p:spPr>
          <a:xfrm>
            <a:off x="1291479" y="1983980"/>
            <a:ext cx="6777900" cy="230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Frontend TypeScript tesztek pozitív és negatív tesztek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Backend API tesztelés Postmannel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Pozitív és negatív esetek ellenőrzése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Cél: stabil működés és hibák korai kiszűrése</a:t>
            </a:r>
            <a:endParaRPr/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11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Csapatmunka</a:t>
            </a:r>
            <a:endParaRPr/>
          </a:p>
        </p:txBody>
      </p:sp>
      <p:sp>
        <p:nvSpPr>
          <p:cNvPr id="181" name="Google Shape;181;p11"/>
          <p:cNvSpPr txBox="1"/>
          <p:nvPr/>
        </p:nvSpPr>
        <p:spPr>
          <a:xfrm>
            <a:off x="1235026" y="2149950"/>
            <a:ext cx="49632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Kommunikáció: Discord</a:t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Megosztott munka: GitHub, Google</a:t>
            </a:r>
            <a:r>
              <a:rPr lang="hu-HU" sz="1800">
                <a:solidFill>
                  <a:schemeClr val="dk1"/>
                </a:solidFill>
              </a:rPr>
              <a:t> </a:t>
            </a: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Drive</a:t>
            </a:r>
            <a:endParaRPr/>
          </a:p>
        </p:txBody>
      </p:sp>
      <p:pic>
        <p:nvPicPr>
          <p:cNvPr id="182" name="Google Shape;182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44500" y="330275"/>
            <a:ext cx="2466175" cy="2466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3" name="Google Shape;183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10675" y="3169775"/>
            <a:ext cx="2143450" cy="2143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4" name="Google Shape;184;p1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365487" y="3524625"/>
            <a:ext cx="3398815" cy="3037027"/>
          </a:xfrm>
          <a:prstGeom prst="rect">
            <a:avLst/>
          </a:prstGeom>
          <a:noFill/>
          <a:ln>
            <a:noFill/>
          </a:ln>
        </p:spPr>
      </p:pic>
      <p:sp>
        <p:nvSpPr>
          <p:cNvPr id="185" name="Google Shape;185;p11"/>
          <p:cNvSpPr/>
          <p:nvPr/>
        </p:nvSpPr>
        <p:spPr>
          <a:xfrm>
            <a:off x="-1795175" y="4234325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p11"/>
          <p:cNvSpPr/>
          <p:nvPr/>
        </p:nvSpPr>
        <p:spPr>
          <a:xfrm rot="-5400000">
            <a:off x="10310175" y="-2299450"/>
            <a:ext cx="3492600" cy="4823100"/>
          </a:xfrm>
          <a:prstGeom prst="ellipse">
            <a:avLst/>
          </a:prstGeom>
          <a:solidFill>
            <a:srgbClr val="4A86E8"/>
          </a:solidFill>
          <a:ln w="9525" cap="flat" cmpd="sng">
            <a:solidFill>
              <a:srgbClr val="CFE2F3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12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Jövőbeli tervek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13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Demó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4"/>
          <p:cNvSpPr txBox="1">
            <a:spLocks noGrp="1"/>
          </p:cNvSpPr>
          <p:nvPr>
            <p:ph type="ctrTitle"/>
          </p:nvPr>
        </p:nvSpPr>
        <p:spPr>
          <a:xfrm>
            <a:off x="430974" y="504378"/>
            <a:ext cx="4336235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mbria"/>
              <a:buNone/>
            </a:pPr>
            <a:r>
              <a:rPr lang="hu-HU" sz="4400">
                <a:latin typeface="Cambria"/>
                <a:ea typeface="Cambria"/>
                <a:cs typeface="Cambria"/>
                <a:sym typeface="Cambria"/>
              </a:rPr>
              <a:t>Taralomjegyzék</a:t>
            </a:r>
            <a:endParaRPr/>
          </a:p>
        </p:txBody>
      </p:sp>
      <p:sp>
        <p:nvSpPr>
          <p:cNvPr id="202" name="Google Shape;202;p14"/>
          <p:cNvSpPr txBox="1"/>
          <p:nvPr/>
        </p:nvSpPr>
        <p:spPr>
          <a:xfrm>
            <a:off x="801385" y="2065106"/>
            <a:ext cx="4336235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hu-HU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www.chatgpt.com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A3C5ED"/>
            </a:gs>
            <a:gs pos="74000">
              <a:srgbClr val="72C4E9"/>
            </a:gs>
            <a:gs pos="83000">
              <a:srgbClr val="72C4E9"/>
            </a:gs>
            <a:gs pos="100000">
              <a:srgbClr val="A1D6F0"/>
            </a:gs>
          </a:gsLst>
          <a:lin ang="5400000" scaled="0"/>
        </a:gra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15"/>
          <p:cNvSpPr txBox="1">
            <a:spLocks noGrp="1"/>
          </p:cNvSpPr>
          <p:nvPr>
            <p:ph type="ctrTitle"/>
          </p:nvPr>
        </p:nvSpPr>
        <p:spPr>
          <a:xfrm>
            <a:off x="872763" y="1593439"/>
            <a:ext cx="10446473" cy="8108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 fontScale="90000"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mbria"/>
              <a:buNone/>
            </a:pPr>
            <a:r>
              <a:rPr lang="hu-HU" sz="5400" b="1" i="1">
                <a:latin typeface="Cambria"/>
                <a:ea typeface="Cambria"/>
                <a:cs typeface="Cambria"/>
                <a:sym typeface="Cambria"/>
              </a:rPr>
              <a:t>Köszönjük a figyelmüket!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-téma">
  <a:themeElements>
    <a:clrScheme name="Office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406</Words>
  <Application>Microsoft Office PowerPoint</Application>
  <PresentationFormat>Szélesvásznú</PresentationFormat>
  <Paragraphs>120</Paragraphs>
  <Slides>15</Slides>
  <Notes>15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4</vt:i4>
      </vt:variant>
      <vt:variant>
        <vt:lpstr>Téma</vt:lpstr>
      </vt:variant>
      <vt:variant>
        <vt:i4>1</vt:i4>
      </vt:variant>
      <vt:variant>
        <vt:lpstr>Diacímek</vt:lpstr>
      </vt:variant>
      <vt:variant>
        <vt:i4>15</vt:i4>
      </vt:variant>
    </vt:vector>
  </HeadingPairs>
  <TitlesOfParts>
    <vt:vector size="20" baseType="lpstr">
      <vt:lpstr>Times New Roman</vt:lpstr>
      <vt:lpstr>Play</vt:lpstr>
      <vt:lpstr>Arial</vt:lpstr>
      <vt:lpstr>Cambria</vt:lpstr>
      <vt:lpstr>Office-téma</vt:lpstr>
      <vt:lpstr>EseményTér</vt:lpstr>
      <vt:lpstr>Bevezetés: Probléma és Megoldás</vt:lpstr>
      <vt:lpstr>A program fő funkciói</vt:lpstr>
      <vt:lpstr>A rendszer felépítése</vt:lpstr>
      <vt:lpstr>Backend architektúra és API</vt:lpstr>
      <vt:lpstr>Jogosultság és biztonság</vt:lpstr>
      <vt:lpstr>Frontend felépítés és navigáció</vt:lpstr>
      <vt:lpstr>Felhasználói élmény és érték</vt:lpstr>
      <vt:lpstr>Adatmodell</vt:lpstr>
      <vt:lpstr>Tesztelés és minőségbiztosítás</vt:lpstr>
      <vt:lpstr>Csapatmunka</vt:lpstr>
      <vt:lpstr>Jövőbeli tervek</vt:lpstr>
      <vt:lpstr>Demó</vt:lpstr>
      <vt:lpstr>Taralomjegyzék</vt:lpstr>
      <vt:lpstr>Köszönjük a figyelmüket!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O365 felhasználó</dc:creator>
  <cp:lastModifiedBy>O365 felhasználó</cp:lastModifiedBy>
  <cp:revision>1</cp:revision>
  <dcterms:created xsi:type="dcterms:W3CDTF">2026-03-04T16:50:56Z</dcterms:created>
  <dcterms:modified xsi:type="dcterms:W3CDTF">2026-03-05T21:16:54Z</dcterms:modified>
</cp:coreProperties>
</file>