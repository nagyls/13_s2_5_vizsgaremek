
<file path=[Content_Types].xml><?xml version="1.0" encoding="utf-8"?>
<Types xmlns="http://schemas.openxmlformats.org/package/2006/content-types">
  <Default Extension="fntdata" ContentType="application/x-fontdata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metadata" ContentType="application/binary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48" r:id="rId1"/>
  </p:sldMasterIdLst>
  <p:notesMasterIdLst>
    <p:notesMasterId r:id="rId17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sldSz cx="12192000" cy="6858000"/>
  <p:notesSz cx="6858000" cy="9144000"/>
  <p:embeddedFontLst>
    <p:embeddedFont>
      <p:font typeface="Cambria" panose="02040503050406030204" pitchFamily="18" charset="0"/>
      <p:regular r:id="rId18"/>
      <p:bold r:id="rId19"/>
      <p:italic r:id="rId20"/>
      <p:boldItalic r:id="rId21"/>
    </p:embeddedFont>
    <p:embeddedFont>
      <p:font typeface="Play" panose="020B0604020202020204" charset="0"/>
      <p:regular r:id="rId22"/>
      <p:bold r:id="rId23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  <p:ext uri="GoogleSlidesCustomDataVersion2">
      <go:slidesCustomData xmlns="" xmlns:mc="http://schemas.openxmlformats.org/markup-compatibility/2006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xmlns:go="http://customooxmlschemas.google.com/" r:id="rId24" roundtripDataSignature="AMtx7mj67VHAuCHlscAUacmt/Mbt/wFFlA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A36AE613-179F-4F3B-B0BF-9CF6581B68B4}">
  <a:tblStyle styleId="{A36AE613-179F-4F3B-B0BF-9CF6581B68B4}" styleName="Table_0">
    <a:wholeTbl>
      <a:tcTxStyle b="off" i="off">
        <a:font>
          <a:latin typeface="Aptos"/>
          <a:ea typeface="Aptos"/>
          <a:cs typeface="Aptos"/>
        </a:font>
        <a:schemeClr val="dk1"/>
      </a:tcTxStyle>
      <a:tcStyle>
        <a:tcBdr>
          <a:left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insideV>
        </a:tcBdr>
        <a:fill>
          <a:solidFill>
            <a:srgbClr val="E7E9EC"/>
          </a:solidFill>
        </a:fill>
      </a:tcStyle>
    </a:wholeTbl>
    <a:band1H>
      <a:tcTxStyle/>
      <a:tcStyle>
        <a:tcBdr/>
        <a:fill>
          <a:solidFill>
            <a:srgbClr val="CAD1D8"/>
          </a:solidFill>
        </a:fill>
      </a:tcStyle>
    </a:band1H>
    <a:band2H>
      <a:tcTxStyle/>
      <a:tcStyle>
        <a:tcBdr/>
      </a:tcStyle>
    </a:band2H>
    <a:band1V>
      <a:tcTxStyle/>
      <a:tcStyle>
        <a:tcBdr/>
        <a:fill>
          <a:solidFill>
            <a:srgbClr val="CAD1D8"/>
          </a:solidFill>
        </a:fill>
      </a:tcStyle>
    </a:band1V>
    <a:band2V>
      <a:tcTxStyle/>
      <a:tcStyle>
        <a:tcBdr/>
      </a:tcStyle>
    </a:band2V>
    <a:lastCol>
      <a:tcTxStyle b="on" i="off">
        <a:font>
          <a:latin typeface="Aptos"/>
          <a:ea typeface="Aptos"/>
          <a:cs typeface="Aptos"/>
        </a:font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 i="off">
        <a:font>
          <a:latin typeface="Aptos"/>
          <a:ea typeface="Aptos"/>
          <a:cs typeface="Aptos"/>
        </a:font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 i="off">
        <a:font>
          <a:latin typeface="Aptos"/>
          <a:ea typeface="Aptos"/>
          <a:cs typeface="Aptos"/>
        </a:font>
        <a:schemeClr val="lt1"/>
      </a:tcTxStyle>
      <a:tcStyle>
        <a:tcBdr>
          <a:top>
            <a:ln w="381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top>
        </a:tcBdr>
        <a:fill>
          <a:solidFill>
            <a:schemeClr val="accent1"/>
          </a:solidFill>
        </a:fill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 b="on" i="off">
        <a:font>
          <a:latin typeface="Aptos"/>
          <a:ea typeface="Aptos"/>
          <a:cs typeface="Aptos"/>
        </a:font>
        <a:schemeClr val="lt1"/>
      </a:tcTxStyle>
      <a:tcStyle>
        <a:tcBdr>
          <a:bottom>
            <a:ln w="381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bottom>
        </a:tcBdr>
        <a:fill>
          <a:solidFill>
            <a:schemeClr val="accent1"/>
          </a:solidFill>
        </a:fill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16" d="100"/>
          <a:sy n="116" d="100"/>
        </p:scale>
        <p:origin x="677" y="77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font" Target="fonts/font1.fntdata"/><Relationship Id="rId26" Type="http://schemas.openxmlformats.org/officeDocument/2006/relationships/viewProps" Target="viewProps.xml"/><Relationship Id="rId3" Type="http://schemas.openxmlformats.org/officeDocument/2006/relationships/slide" Target="slides/slide2.xml"/><Relationship Id="rId21" Type="http://schemas.openxmlformats.org/officeDocument/2006/relationships/font" Target="fonts/font4.fntdata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notesMaster" Target="notesMasters/notesMaster1.xml"/><Relationship Id="rId25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font" Target="fonts/font3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customschemas.google.com/relationships/presentationmetadata" Target="metadata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font" Target="fonts/font6.fntdata"/><Relationship Id="rId28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font" Target="fonts/font2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font" Target="fonts/font5.fntdata"/><Relationship Id="rId27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2" name="Google Shape;82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3" name="Google Shape;93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0" name="Google Shape;100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1" name="Google Shape;111;p4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2" name="Google Shape;122;p5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Google Shape;135;p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6" name="Google Shape;136;p6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5" name="Google Shape;145;p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4" name="Google Shape;154;p8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2" name="Google Shape;162;p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" name="Google Shape;169;p1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0" name="Google Shape;170;p10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1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8" name="Google Shape;178;p11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9" name="Google Shape;189;p12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4" name="Google Shape;194;p13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1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9" name="Google Shape;199;p1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" name="Google Shape;204;p1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5" name="Google Shape;205;p15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ímdia" type="title">
  <p:cSld name="TITLE">
    <p:spTree>
      <p:nvGrpSpPr>
        <p:cNvPr id="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17"/>
          <p:cNvSpPr txBox="1"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Play"/>
              <a:buNone/>
              <a:defRPr sz="6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3" name="Google Shape;13;p17"/>
          <p:cNvSpPr txBox="1"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/>
            </a:lvl1pPr>
            <a:lvl2pPr lvl="1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2pPr>
            <a:lvl3pPr lvl="2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>
            <a:endParaRPr/>
          </a:p>
        </p:txBody>
      </p:sp>
      <p:sp>
        <p:nvSpPr>
          <p:cNvPr id="14" name="Google Shape;14;p17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5" name="Google Shape;15;p17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6" name="Google Shape;16;p17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hu-H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ím és tartalom" type="obj">
  <p:cSld name="OBJECT">
    <p:spTree>
      <p:nvGrpSpPr>
        <p:cNvPr id="1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18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9" name="Google Shape;19;p18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0" name="Google Shape;20;p18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1" name="Google Shape;21;p18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2" name="Google Shape;22;p18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hu-H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zakaszfejléc" type="secHead">
  <p:cSld name="SECTION_HEADER">
    <p:spTree>
      <p:nvGrpSpPr>
        <p:cNvPr id="1" name="Shape 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Google Shape;24;p19"/>
          <p:cNvSpPr txBox="1"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Play"/>
              <a:buNone/>
              <a:defRPr sz="6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5" name="Google Shape;25;p19"/>
          <p:cNvSpPr txBox="1"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757575"/>
              </a:buClr>
              <a:buSzPts val="2400"/>
              <a:buNone/>
              <a:defRPr sz="2400">
                <a:solidFill>
                  <a:srgbClr val="757575"/>
                </a:solidFill>
              </a:defRPr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757575"/>
              </a:buClr>
              <a:buSzPts val="2000"/>
              <a:buNone/>
              <a:defRPr sz="2000">
                <a:solidFill>
                  <a:srgbClr val="757575"/>
                </a:solidFill>
              </a:defRPr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757575"/>
              </a:buClr>
              <a:buSzPts val="1800"/>
              <a:buNone/>
              <a:defRPr sz="1800">
                <a:solidFill>
                  <a:srgbClr val="757575"/>
                </a:solidFill>
              </a:defRPr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757575"/>
              </a:buClr>
              <a:buSzPts val="1600"/>
              <a:buNone/>
              <a:defRPr sz="1600">
                <a:solidFill>
                  <a:srgbClr val="757575"/>
                </a:solidFill>
              </a:defRPr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757575"/>
              </a:buClr>
              <a:buSzPts val="1600"/>
              <a:buNone/>
              <a:defRPr sz="1600">
                <a:solidFill>
                  <a:srgbClr val="757575"/>
                </a:solidFill>
              </a:defRPr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757575"/>
              </a:buClr>
              <a:buSzPts val="1600"/>
              <a:buNone/>
              <a:defRPr sz="1600">
                <a:solidFill>
                  <a:srgbClr val="757575"/>
                </a:solidFill>
              </a:defRPr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757575"/>
              </a:buClr>
              <a:buSzPts val="1600"/>
              <a:buNone/>
              <a:defRPr sz="1600">
                <a:solidFill>
                  <a:srgbClr val="757575"/>
                </a:solidFill>
              </a:defRPr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757575"/>
              </a:buClr>
              <a:buSzPts val="1600"/>
              <a:buNone/>
              <a:defRPr sz="1600">
                <a:solidFill>
                  <a:srgbClr val="757575"/>
                </a:solidFill>
              </a:defRPr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757575"/>
              </a:buClr>
              <a:buSzPts val="1600"/>
              <a:buNone/>
              <a:defRPr sz="1600">
                <a:solidFill>
                  <a:srgbClr val="757575"/>
                </a:solidFill>
              </a:defRPr>
            </a:lvl9pPr>
          </a:lstStyle>
          <a:p>
            <a:endParaRPr/>
          </a:p>
        </p:txBody>
      </p:sp>
      <p:sp>
        <p:nvSpPr>
          <p:cNvPr id="26" name="Google Shape;26;p19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19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8" name="Google Shape;28;p19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hu-H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2 tartalomrész" type="twoObj">
  <p:cSld name="TWO_OBJECTS">
    <p:spTree>
      <p:nvGrpSpPr>
        <p:cNvPr id="1" name="Shape 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Google Shape;30;p20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1" name="Google Shape;31;p20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2" name="Google Shape;32;p20"/>
          <p:cNvSpPr txBox="1">
            <a:spLocks noGrp="1"/>
          </p:cNvSpPr>
          <p:nvPr>
            <p:ph type="body" idx="2"/>
          </p:nvPr>
        </p:nvSpPr>
        <p:spPr>
          <a:xfrm>
            <a:off x="6172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3" name="Google Shape;33;p20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4" name="Google Shape;34;p20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5" name="Google Shape;35;p20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hu-H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Összehasonlítás" type="twoTxTwoObj">
  <p:cSld name="TWO_OBJECTS_WITH_TEXT">
    <p:spTree>
      <p:nvGrpSpPr>
        <p:cNvPr id="1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Google Shape;37;p21"/>
          <p:cNvSpPr txBox="1"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8" name="Google Shape;38;p21"/>
          <p:cNvSpPr txBox="1"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39" name="Google Shape;39;p21"/>
          <p:cNvSpPr txBox="1">
            <a:spLocks noGrp="1"/>
          </p:cNvSpPr>
          <p:nvPr>
            <p:ph type="body" idx="2"/>
          </p:nvPr>
        </p:nvSpPr>
        <p:spPr>
          <a:xfrm>
            <a:off x="839788" y="2505075"/>
            <a:ext cx="5157787" cy="3684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0" name="Google Shape;40;p21"/>
          <p:cNvSpPr txBox="1">
            <a:spLocks noGrp="1"/>
          </p:cNvSpPr>
          <p:nvPr>
            <p:ph type="body" idx="3"/>
          </p:nvPr>
        </p:nvSpPr>
        <p:spPr>
          <a:xfrm>
            <a:off x="6172200" y="1681163"/>
            <a:ext cx="5183188" cy="823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1" name="Google Shape;41;p21"/>
          <p:cNvSpPr txBox="1">
            <a:spLocks noGrp="1"/>
          </p:cNvSpPr>
          <p:nvPr>
            <p:ph type="body" idx="4"/>
          </p:nvPr>
        </p:nvSpPr>
        <p:spPr>
          <a:xfrm>
            <a:off x="6172200" y="2505075"/>
            <a:ext cx="5183188" cy="3684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2" name="Google Shape;42;p21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3" name="Google Shape;43;p21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4" name="Google Shape;44;p21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hu-H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sak cím" type="titleOnly">
  <p:cSld name="TITLE_ONLY">
    <p:spTree>
      <p:nvGrpSpPr>
        <p:cNvPr id="1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22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7" name="Google Shape;47;p22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8" name="Google Shape;48;p22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9" name="Google Shape;49;p22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hu-H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Üres" type="blank">
  <p:cSld name="BLANK"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23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2" name="Google Shape;52;p23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3" name="Google Shape;53;p23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hu-H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artalomrész képaláírással" type="objTx">
  <p:cSld name="OBJECT_WITH_CAPTION_TEXT">
    <p:spTree>
      <p:nvGrpSpPr>
        <p:cNvPr id="1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24"/>
          <p:cNvSpPr txBox="1"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Play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6" name="Google Shape;56;p24"/>
          <p:cNvSpPr txBox="1">
            <a:spLocks noGrp="1"/>
          </p:cNvSpPr>
          <p:nvPr>
            <p:ph type="body" idx="1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318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marL="914400" lvl="1" indent="-406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2pPr>
            <a:lvl3pPr marL="1371600" lvl="2" indent="-381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marL="1828800" lvl="3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4pPr>
            <a:lvl5pPr marL="2286000" lvl="4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5pPr>
            <a:lvl6pPr marL="2743200" lvl="5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marL="3200400" lvl="6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marL="3657600" lvl="7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marL="4114800" lvl="8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>
            <a:endParaRPr/>
          </a:p>
        </p:txBody>
      </p:sp>
      <p:sp>
        <p:nvSpPr>
          <p:cNvPr id="57" name="Google Shape;57;p24"/>
          <p:cNvSpPr txBox="1">
            <a:spLocks noGrp="1"/>
          </p:cNvSpPr>
          <p:nvPr>
            <p:ph type="body" idx="2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>
            <a:endParaRPr/>
          </a:p>
        </p:txBody>
      </p:sp>
      <p:sp>
        <p:nvSpPr>
          <p:cNvPr id="58" name="Google Shape;58;p24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9" name="Google Shape;59;p24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0" name="Google Shape;60;p24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hu-H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Kép képaláírással" type="picTx">
  <p:cSld name="PICTURE_WITH_CAPTION_TEXT">
    <p:spTree>
      <p:nvGrpSpPr>
        <p:cNvPr id="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25"/>
          <p:cNvSpPr txBox="1"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Play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3" name="Google Shape;63;p25"/>
          <p:cNvSpPr>
            <a:spLocks noGrp="1"/>
          </p:cNvSpPr>
          <p:nvPr>
            <p:ph type="pic" idx="2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</p:sp>
      <p:sp>
        <p:nvSpPr>
          <p:cNvPr id="64" name="Google Shape;64;p25"/>
          <p:cNvSpPr txBox="1">
            <a:spLocks noGrp="1"/>
          </p:cNvSpPr>
          <p:nvPr>
            <p:ph type="body" idx="1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>
            <a:endParaRPr/>
          </a:p>
        </p:txBody>
      </p:sp>
      <p:sp>
        <p:nvSpPr>
          <p:cNvPr id="65" name="Google Shape;65;p25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6" name="Google Shape;66;p25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7" name="Google Shape;67;p25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hu-H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ím és függőleges szöveg" type="vertTx">
  <p:cSld name="VERTICAL_TEXT">
    <p:spTree>
      <p:nvGrpSpPr>
        <p:cNvPr id="1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26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26"/>
          <p:cNvSpPr txBox="1">
            <a:spLocks noGrp="1"/>
          </p:cNvSpPr>
          <p:nvPr>
            <p:ph type="body" idx="1"/>
          </p:nvPr>
        </p:nvSpPr>
        <p:spPr>
          <a:xfrm rot="5400000">
            <a:off x="3920331" y="-1256506"/>
            <a:ext cx="4351338" cy="1051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1" name="Google Shape;71;p26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2" name="Google Shape;72;p26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3" name="Google Shape;73;p26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hu-H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Függőleges cím és szöveg" type="vertTitleAndTx">
  <p:cSld name="VERTICAL_TITLE_AND_VERTICAL_TEXT">
    <p:spTree>
      <p:nvGrpSpPr>
        <p:cNvPr id="1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27"/>
          <p:cNvSpPr txBox="1">
            <a:spLocks noGrp="1"/>
          </p:cNvSpPr>
          <p:nvPr>
            <p:ph type="title"/>
          </p:nvPr>
        </p:nvSpPr>
        <p:spPr>
          <a:xfrm rot="5400000">
            <a:off x="7133431" y="1956594"/>
            <a:ext cx="5811838" cy="262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6" name="Google Shape;76;p27"/>
          <p:cNvSpPr txBox="1">
            <a:spLocks noGrp="1"/>
          </p:cNvSpPr>
          <p:nvPr>
            <p:ph type="body" idx="1"/>
          </p:nvPr>
        </p:nvSpPr>
        <p:spPr>
          <a:xfrm rot="5400000">
            <a:off x="1799431" y="-596106"/>
            <a:ext cx="5811838" cy="773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7" name="Google Shape;77;p27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8" name="Google Shape;78;p27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9" name="Google Shape;79;p27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hu-HU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6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Play"/>
              <a:buNone/>
              <a:defRPr sz="4400" b="0" i="0" u="none" strike="noStrike" cap="non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7" name="Google Shape;7;p16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4064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8" name="Google Shape;8;p16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9" name="Google Shape;9;p16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0" name="Google Shape;10;p16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hu-HU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.jpg"/><Relationship Id="rId4" Type="http://schemas.openxmlformats.org/officeDocument/2006/relationships/image" Target="../media/image2.jp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7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hyperlink" Target="http://www.chatgpt.com/" TargetMode="External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Relationship Id="rId5" Type="http://schemas.openxmlformats.org/officeDocument/2006/relationships/hyperlink" Target="https://laravel.com/docs/12.x" TargetMode="External"/><Relationship Id="rId4" Type="http://schemas.openxmlformats.org/officeDocument/2006/relationships/hyperlink" Target="https://vueframework.com/" TargetMode="Externa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rgbClr val="A3C5ED"/>
            </a:gs>
            <a:gs pos="74000">
              <a:srgbClr val="72C4E9"/>
            </a:gs>
            <a:gs pos="83000">
              <a:srgbClr val="72C4E9"/>
            </a:gs>
            <a:gs pos="100000">
              <a:srgbClr val="A1D6F0"/>
            </a:gs>
          </a:gsLst>
          <a:lin ang="5400000" scaled="0"/>
        </a:gradFill>
        <a:effectLst/>
      </p:bgPr>
    </p:bg>
    <p:spTree>
      <p:nvGrpSpPr>
        <p:cNvPr id="1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"/>
          <p:cNvSpPr txBox="1">
            <a:spLocks noGrp="1"/>
          </p:cNvSpPr>
          <p:nvPr>
            <p:ph type="ctrTitle"/>
          </p:nvPr>
        </p:nvSpPr>
        <p:spPr>
          <a:xfrm>
            <a:off x="3901123" y="2515898"/>
            <a:ext cx="4389748" cy="13417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ambria"/>
              <a:buNone/>
            </a:pPr>
            <a:r>
              <a:rPr lang="hu-HU">
                <a:latin typeface="Cambria"/>
                <a:ea typeface="Cambria"/>
                <a:cs typeface="Cambria"/>
                <a:sym typeface="Cambria"/>
              </a:rPr>
              <a:t>EseményTér</a:t>
            </a:r>
            <a:endParaRPr>
              <a:latin typeface="Cambria"/>
              <a:ea typeface="Cambria"/>
              <a:cs typeface="Cambria"/>
              <a:sym typeface="Cambria"/>
            </a:endParaRPr>
          </a:p>
        </p:txBody>
      </p:sp>
      <p:sp>
        <p:nvSpPr>
          <p:cNvPr id="85" name="Google Shape;85;p1"/>
          <p:cNvSpPr txBox="1">
            <a:spLocks noGrp="1"/>
          </p:cNvSpPr>
          <p:nvPr>
            <p:ph type="subTitle" idx="1"/>
          </p:nvPr>
        </p:nvSpPr>
        <p:spPr>
          <a:xfrm>
            <a:off x="3684309" y="4816138"/>
            <a:ext cx="4823381" cy="9845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</a:pPr>
            <a:r>
              <a:rPr lang="hu-HU">
                <a:latin typeface="Cambria"/>
                <a:ea typeface="Cambria"/>
                <a:cs typeface="Cambria"/>
                <a:sym typeface="Cambria"/>
              </a:rPr>
              <a:t>Készítették:</a:t>
            </a:r>
            <a:endParaRPr/>
          </a:p>
          <a:p>
            <a:pPr marL="0" lvl="0" indent="0" algn="ctr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</a:pPr>
            <a:r>
              <a:rPr lang="hu-HU">
                <a:latin typeface="Cambria"/>
                <a:ea typeface="Cambria"/>
                <a:cs typeface="Cambria"/>
                <a:sym typeface="Cambria"/>
              </a:rPr>
              <a:t>Nagy Levéd Sámuel, Tóth Tamás</a:t>
            </a:r>
            <a:endParaRPr/>
          </a:p>
        </p:txBody>
      </p:sp>
      <p:pic>
        <p:nvPicPr>
          <p:cNvPr id="86" name="Google Shape;86;p1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272059" y="367248"/>
            <a:ext cx="1647875" cy="1647875"/>
          </a:xfrm>
          <a:prstGeom prst="rect">
            <a:avLst/>
          </a:prstGeom>
          <a:noFill/>
          <a:ln>
            <a:noFill/>
          </a:ln>
        </p:spPr>
      </p:pic>
      <p:sp>
        <p:nvSpPr>
          <p:cNvPr id="87" name="Google Shape;87;p1"/>
          <p:cNvSpPr txBox="1"/>
          <p:nvPr/>
        </p:nvSpPr>
        <p:spPr>
          <a:xfrm>
            <a:off x="836749" y="868021"/>
            <a:ext cx="3996965" cy="6463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sz="18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Kiskunfélegyházi Szent Benedek PG Két Tanítási Nyelvű Technikum és Kollégium</a:t>
            </a:r>
            <a:endParaRPr/>
          </a:p>
        </p:txBody>
      </p:sp>
      <p:sp>
        <p:nvSpPr>
          <p:cNvPr id="88" name="Google Shape;88;p1"/>
          <p:cNvSpPr txBox="1"/>
          <p:nvPr/>
        </p:nvSpPr>
        <p:spPr>
          <a:xfrm>
            <a:off x="7796627" y="498690"/>
            <a:ext cx="2789674" cy="13849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sz="1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𖡡  Kiskunfélegyháza, Kossuth u. 24.</a:t>
            </a:r>
            <a:endParaRPr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sz="1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☏  </a:t>
            </a:r>
            <a:r>
              <a:rPr lang="hu-HU" sz="1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+36 76 462 332</a:t>
            </a:r>
            <a:endParaRPr sz="14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sz="1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OM:  203365</a:t>
            </a:r>
            <a:endParaRPr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sz="1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✉ titkarsag@szbi-pg.hu</a:t>
            </a:r>
            <a:endParaRPr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sz="1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⌕ http://www.szbi-pg.hu/</a:t>
            </a:r>
            <a:endParaRPr/>
          </a:p>
        </p:txBody>
      </p:sp>
      <p:pic>
        <p:nvPicPr>
          <p:cNvPr id="89" name="Google Shape;89;p1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15595" y="1883685"/>
            <a:ext cx="2347181" cy="3476810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90" name="Google Shape;90;p1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8946035" y="1883685"/>
            <a:ext cx="2347181" cy="3476810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rgbClr val="A3C5ED"/>
            </a:gs>
            <a:gs pos="74000">
              <a:srgbClr val="72C4E9"/>
            </a:gs>
            <a:gs pos="83000">
              <a:srgbClr val="72C4E9"/>
            </a:gs>
            <a:gs pos="100000">
              <a:srgbClr val="A1D6F0"/>
            </a:gs>
          </a:gsLst>
          <a:lin ang="5400000" scaled="0"/>
        </a:gradFill>
        <a:effectLst/>
      </p:bgPr>
    </p:bg>
    <p:spTree>
      <p:nvGrpSpPr>
        <p:cNvPr id="1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2"/>
          <p:cNvSpPr txBox="1">
            <a:spLocks noGrp="1"/>
          </p:cNvSpPr>
          <p:nvPr>
            <p:ph type="ctrTitle"/>
          </p:nvPr>
        </p:nvSpPr>
        <p:spPr>
          <a:xfrm>
            <a:off x="872762" y="524926"/>
            <a:ext cx="10446473" cy="81080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mbria"/>
              <a:buNone/>
            </a:pPr>
            <a:r>
              <a:rPr lang="hu-HU" sz="4400">
                <a:latin typeface="Cambria"/>
                <a:ea typeface="Cambria"/>
                <a:cs typeface="Cambria"/>
                <a:sym typeface="Cambria"/>
              </a:rPr>
              <a:t>Bevezetés: Probléma és Megoldás</a:t>
            </a:r>
            <a:endParaRPr/>
          </a:p>
        </p:txBody>
      </p:sp>
      <p:pic>
        <p:nvPicPr>
          <p:cNvPr id="96" name="Google Shape;96;p2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257000" y="301261"/>
            <a:ext cx="1034472" cy="1034472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97" name="Google Shape;97;p2"/>
          <p:cNvGraphicFramePr/>
          <p:nvPr/>
        </p:nvGraphicFramePr>
        <p:xfrm>
          <a:off x="1387309" y="1941922"/>
          <a:ext cx="9417400" cy="4391150"/>
        </p:xfrm>
        <a:graphic>
          <a:graphicData uri="http://schemas.openxmlformats.org/drawingml/2006/table">
            <a:tbl>
              <a:tblPr firstRow="1" bandRow="1">
                <a:noFill/>
                <a:tableStyleId>{A36AE613-179F-4F3B-B0BF-9CF6581B68B4}</a:tableStyleId>
              </a:tblPr>
              <a:tblGrid>
                <a:gridCol w="47087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7087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1145800"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hu-HU" sz="1800" u="none" strike="noStrike" cap="none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Projekt neve: </a:t>
                      </a:r>
                      <a:r>
                        <a:rPr lang="hu-HU" sz="1800" b="0" u="none" strike="noStrike" cap="none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EseményTér</a:t>
                      </a:r>
                      <a:endParaRPr sz="1800" b="0" u="none" strike="noStrike" cap="none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hu-HU" sz="1800" u="none" strike="noStrike" cap="none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Cél: </a:t>
                      </a:r>
                      <a:r>
                        <a:rPr lang="hu-HU" sz="1800" b="0" u="none" strike="noStrike" cap="none">
                          <a:latin typeface="Cambria"/>
                          <a:ea typeface="Cambria"/>
                          <a:cs typeface="Cambria"/>
                          <a:sym typeface="Cambria"/>
                        </a:rPr>
                        <a:t>A tanárok és diákok közötti kommunikáció egyszerűsítése, valamint az iskolai események központi és átlátható kezelése egy rendszerben.</a:t>
                      </a:r>
                      <a:endParaRPr/>
                    </a:p>
                  </a:txBody>
                  <a:tcPr marL="91450" marR="91450" marT="45725" marB="45725"/>
                </a:tc>
                <a:tc hMerge="1">
                  <a:txBody>
                    <a:bodyPr/>
                    <a:lstStyle/>
                    <a:p>
                      <a:endParaRPr lang="hu-HU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245350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2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hu-HU" sz="1800" b="1" u="none" strike="noStrike" cap="none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Probléma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Arial"/>
                        <a:buNone/>
                      </a:pPr>
                      <a:r>
                        <a:rPr lang="hu-HU" sz="1800" u="none" strike="noStrike" cap="none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széttagolt kommunikáció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Arial"/>
                        <a:buNone/>
                      </a:pPr>
                      <a:r>
                        <a:rPr lang="hu-HU" sz="1800" u="none" strike="noStrike" cap="none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több külön platform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Arial"/>
                        <a:buNone/>
                      </a:pPr>
                      <a:r>
                        <a:rPr lang="hu-HU" sz="1800" u="none" strike="noStrike" cap="none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nehézkes eseménykezelés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Arial"/>
                        <a:buNone/>
                      </a:pPr>
                      <a:r>
                        <a:rPr lang="hu-HU" sz="1800" u="none" strike="noStrike" cap="none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információk nehéz követése</a:t>
                      </a:r>
                      <a:endParaRPr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2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hu-HU" sz="1800" b="1" u="none" strike="noStrike" cap="none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Megoldás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hu-HU" sz="1800" u="none" strike="noStrike" cap="none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egységes webes rendszer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hu-HU" sz="1800" u="none" strike="noStrike" cap="none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központi eseménykezelés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hu-HU" sz="1800" u="none" strike="noStrike" cap="none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egyszerűbb kommunikáció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hu-HU" sz="1800" u="none" strike="noStrike" cap="none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átlátható információk</a:t>
                      </a:r>
                      <a:endParaRPr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rgbClr val="A3C5ED"/>
            </a:gs>
            <a:gs pos="74000">
              <a:srgbClr val="72C4E9"/>
            </a:gs>
            <a:gs pos="83000">
              <a:srgbClr val="72C4E9"/>
            </a:gs>
            <a:gs pos="100000">
              <a:srgbClr val="A1D6F0"/>
            </a:gs>
          </a:gsLst>
          <a:lin ang="5400000" scaled="0"/>
        </a:gradFill>
        <a:effectLst/>
      </p:bgPr>
    </p:bg>
    <p:spTree>
      <p:nvGrpSpPr>
        <p:cNvPr id="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3"/>
          <p:cNvSpPr/>
          <p:nvPr/>
        </p:nvSpPr>
        <p:spPr>
          <a:xfrm>
            <a:off x="7582328" y="2434975"/>
            <a:ext cx="4099389" cy="1777429"/>
          </a:xfrm>
          <a:prstGeom prst="rect">
            <a:avLst/>
          </a:prstGeom>
          <a:solidFill>
            <a:srgbClr val="D8D8D8"/>
          </a:solidFill>
          <a:ln w="19050" cap="flat" cmpd="sng">
            <a:solidFill>
              <a:srgbClr val="082836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3" name="Google Shape;103;p3"/>
          <p:cNvSpPr/>
          <p:nvPr/>
        </p:nvSpPr>
        <p:spPr>
          <a:xfrm>
            <a:off x="690452" y="2434975"/>
            <a:ext cx="3059615" cy="1623317"/>
          </a:xfrm>
          <a:prstGeom prst="rect">
            <a:avLst/>
          </a:prstGeom>
          <a:solidFill>
            <a:srgbClr val="D8D8D8"/>
          </a:solidFill>
          <a:ln w="19050" cap="flat" cmpd="sng">
            <a:solidFill>
              <a:srgbClr val="082836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4" name="Google Shape;104;p3"/>
          <p:cNvSpPr txBox="1">
            <a:spLocks noGrp="1"/>
          </p:cNvSpPr>
          <p:nvPr>
            <p:ph type="ctrTitle"/>
          </p:nvPr>
        </p:nvSpPr>
        <p:spPr>
          <a:xfrm>
            <a:off x="872762" y="524926"/>
            <a:ext cx="10446473" cy="81080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mbria"/>
              <a:buNone/>
            </a:pPr>
            <a:r>
              <a:rPr lang="hu-HU" sz="4400" dirty="0">
                <a:latin typeface="Cambria"/>
                <a:ea typeface="Cambria"/>
                <a:cs typeface="Cambria"/>
                <a:sym typeface="Cambria"/>
              </a:rPr>
              <a:t>A projekt fő funkciói</a:t>
            </a:r>
            <a:endParaRPr dirty="0"/>
          </a:p>
        </p:txBody>
      </p:sp>
      <p:pic>
        <p:nvPicPr>
          <p:cNvPr id="105" name="Google Shape;105;p3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0801999" y="301261"/>
            <a:ext cx="1034472" cy="1034472"/>
          </a:xfrm>
          <a:prstGeom prst="rect">
            <a:avLst/>
          </a:prstGeom>
          <a:noFill/>
          <a:ln>
            <a:noFill/>
          </a:ln>
        </p:spPr>
      </p:pic>
      <p:sp>
        <p:nvSpPr>
          <p:cNvPr id="106" name="Google Shape;106;p3"/>
          <p:cNvSpPr txBox="1"/>
          <p:nvPr/>
        </p:nvSpPr>
        <p:spPr>
          <a:xfrm>
            <a:off x="1498862" y="2794571"/>
            <a:ext cx="1573111" cy="9233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sz="18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Regisztráció</a:t>
            </a:r>
            <a:endParaRPr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sz="18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Bejelentkezés</a:t>
            </a:r>
            <a:endParaRPr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sz="18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Profilkezelés</a:t>
            </a:r>
            <a:endParaRPr/>
          </a:p>
        </p:txBody>
      </p:sp>
      <p:sp>
        <p:nvSpPr>
          <p:cNvPr id="107" name="Google Shape;107;p3"/>
          <p:cNvSpPr txBox="1"/>
          <p:nvPr/>
        </p:nvSpPr>
        <p:spPr>
          <a:xfrm>
            <a:off x="7947643" y="2724225"/>
            <a:ext cx="3553905" cy="120032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sz="18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Események böngészése</a:t>
            </a:r>
            <a:endParaRPr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sz="18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Események létrehozása és kezelése</a:t>
            </a:r>
            <a:endParaRPr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sz="18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Intézmények és osztályok kezelése</a:t>
            </a:r>
            <a:endParaRPr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sz="18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Jelentkezési kérelmek kezelése</a:t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8" name="Google Shape;108;p3"/>
          <p:cNvSpPr/>
          <p:nvPr/>
        </p:nvSpPr>
        <p:spPr>
          <a:xfrm>
            <a:off x="593889" y="0"/>
            <a:ext cx="13059824" cy="6183984"/>
          </a:xfrm>
          <a:custGeom>
            <a:avLst/>
            <a:gdLst/>
            <a:ahLst/>
            <a:cxnLst/>
            <a:rect l="l" t="t" r="r" b="b"/>
            <a:pathLst>
              <a:path w="12946702" h="5944121" extrusionOk="0">
                <a:moveTo>
                  <a:pt x="0" y="0"/>
                </a:moveTo>
                <a:cubicBezTo>
                  <a:pt x="1600200" y="835843"/>
                  <a:pt x="3200400" y="1671687"/>
                  <a:pt x="4138367" y="2658359"/>
                </a:cubicBezTo>
                <a:cubicBezTo>
                  <a:pt x="5076334" y="3645031"/>
                  <a:pt x="4268771" y="5668652"/>
                  <a:pt x="5627802" y="5920033"/>
                </a:cubicBezTo>
                <a:cubicBezTo>
                  <a:pt x="6986833" y="6171414"/>
                  <a:pt x="11082779" y="4377180"/>
                  <a:pt x="12292552" y="4166648"/>
                </a:cubicBezTo>
                <a:cubicBezTo>
                  <a:pt x="13502325" y="3956116"/>
                  <a:pt x="12608350" y="4490301"/>
                  <a:pt x="12886441" y="4656841"/>
                </a:cubicBezTo>
              </a:path>
            </a:pathLst>
          </a:custGeom>
          <a:noFill/>
          <a:ln w="19050" cap="flat" cmpd="sng">
            <a:solidFill>
              <a:srgbClr val="082836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rgbClr val="A3C5ED"/>
            </a:gs>
            <a:gs pos="74000">
              <a:srgbClr val="72C4E9"/>
            </a:gs>
            <a:gs pos="83000">
              <a:srgbClr val="72C4E9"/>
            </a:gs>
            <a:gs pos="100000">
              <a:srgbClr val="A1D6F0"/>
            </a:gs>
          </a:gsLst>
          <a:lin ang="5400000" scaled="0"/>
        </a:gradFill>
        <a:effectLst/>
      </p:bgPr>
    </p:bg>
    <p:spTree>
      <p:nvGrpSpPr>
        <p:cNvPr id="1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4"/>
          <p:cNvSpPr/>
          <p:nvPr/>
        </p:nvSpPr>
        <p:spPr>
          <a:xfrm rot="5400000">
            <a:off x="4237613" y="-6392525"/>
            <a:ext cx="3492600" cy="14156700"/>
          </a:xfrm>
          <a:prstGeom prst="ellipse">
            <a:avLst/>
          </a:prstGeom>
          <a:solidFill>
            <a:srgbClr val="4A86E8"/>
          </a:solidFill>
          <a:ln w="9525" cap="flat" cmpd="sng">
            <a:solidFill>
              <a:srgbClr val="CFE2F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4" name="Google Shape;114;p4"/>
          <p:cNvSpPr txBox="1">
            <a:spLocks noGrp="1"/>
          </p:cNvSpPr>
          <p:nvPr>
            <p:ph type="ctrTitle"/>
          </p:nvPr>
        </p:nvSpPr>
        <p:spPr>
          <a:xfrm>
            <a:off x="872762" y="524926"/>
            <a:ext cx="10446473" cy="81080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mbria"/>
              <a:buNone/>
            </a:pPr>
            <a:r>
              <a:rPr lang="hu-HU" sz="4400">
                <a:latin typeface="Cambria"/>
                <a:ea typeface="Cambria"/>
                <a:cs typeface="Cambria"/>
                <a:sym typeface="Cambria"/>
              </a:rPr>
              <a:t>A rendszer felépítése</a:t>
            </a:r>
            <a:endParaRPr/>
          </a:p>
        </p:txBody>
      </p:sp>
      <p:pic>
        <p:nvPicPr>
          <p:cNvPr id="115" name="Google Shape;115;p4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257000" y="301261"/>
            <a:ext cx="1034472" cy="1034472"/>
          </a:xfrm>
          <a:prstGeom prst="rect">
            <a:avLst/>
          </a:prstGeom>
          <a:noFill/>
          <a:ln>
            <a:noFill/>
          </a:ln>
        </p:spPr>
      </p:pic>
      <p:sp>
        <p:nvSpPr>
          <p:cNvPr id="116" name="Google Shape;116;p4"/>
          <p:cNvSpPr txBox="1"/>
          <p:nvPr/>
        </p:nvSpPr>
        <p:spPr>
          <a:xfrm>
            <a:off x="1291472" y="2432115"/>
            <a:ext cx="4804500" cy="1754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sz="1800" b="1">
                <a:solidFill>
                  <a:schemeClr val="dk1"/>
                </a:solidFill>
              </a:rPr>
              <a:t>Frontend</a:t>
            </a:r>
            <a:r>
              <a:rPr lang="hu-HU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: Vue 3 alapú kliensalkalmazás</a:t>
            </a:r>
            <a:endParaRPr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sz="1800" b="1">
                <a:solidFill>
                  <a:schemeClr val="dk1"/>
                </a:solidFill>
              </a:rPr>
              <a:t>Backend</a:t>
            </a:r>
            <a:r>
              <a:rPr lang="hu-HU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: Laravel 12 REST API</a:t>
            </a:r>
            <a:endParaRPr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sz="1800" b="1">
                <a:solidFill>
                  <a:schemeClr val="dk1"/>
                </a:solidFill>
              </a:rPr>
              <a:t>Adatbázis</a:t>
            </a:r>
            <a:r>
              <a:rPr lang="hu-HU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: MySQL</a:t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sz="1800" b="1">
                <a:solidFill>
                  <a:schemeClr val="dk1"/>
                </a:solidFill>
              </a:rPr>
              <a:t>Kommunikáció</a:t>
            </a:r>
            <a:r>
              <a:rPr lang="hu-HU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: HTTP API hívások</a:t>
            </a:r>
            <a:endParaRPr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sz="1800" b="1">
                <a:solidFill>
                  <a:schemeClr val="dk1"/>
                </a:solidFill>
              </a:rPr>
              <a:t>Előny</a:t>
            </a:r>
            <a:r>
              <a:rPr lang="hu-HU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: a frontend és backend külön fejleszthető, bővíthető</a:t>
            </a:r>
            <a:endParaRPr/>
          </a:p>
        </p:txBody>
      </p:sp>
      <p:pic>
        <p:nvPicPr>
          <p:cNvPr id="117" name="Google Shape;117;p4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7138882" y="2551650"/>
            <a:ext cx="4180341" cy="17547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18" name="Google Shape;118;p4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 rot="-1916881">
            <a:off x="5967247" y="3409924"/>
            <a:ext cx="1970576" cy="2050626"/>
          </a:xfrm>
          <a:prstGeom prst="rect">
            <a:avLst/>
          </a:prstGeom>
          <a:noFill/>
          <a:ln>
            <a:noFill/>
          </a:ln>
        </p:spPr>
      </p:pic>
      <p:pic>
        <p:nvPicPr>
          <p:cNvPr id="119" name="Google Shape;119;p4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1826075" y="3624840"/>
            <a:ext cx="3550444" cy="236638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rgbClr val="A3C5ED"/>
            </a:gs>
            <a:gs pos="74000">
              <a:srgbClr val="72C4E9"/>
            </a:gs>
            <a:gs pos="83000">
              <a:srgbClr val="72C4E9"/>
            </a:gs>
            <a:gs pos="100000">
              <a:srgbClr val="A1D6F0"/>
            </a:gs>
          </a:gsLst>
          <a:lin ang="5400000" scaled="0"/>
        </a:gradFill>
        <a:effectLst/>
      </p:bgPr>
    </p:bg>
    <p:spTree>
      <p:nvGrpSpPr>
        <p:cNvPr id="1" name="Shape 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Google Shape;124;p5"/>
          <p:cNvSpPr/>
          <p:nvPr/>
        </p:nvSpPr>
        <p:spPr>
          <a:xfrm>
            <a:off x="5715725" y="1436574"/>
            <a:ext cx="5272800" cy="4541400"/>
          </a:xfrm>
          <a:prstGeom prst="ellipse">
            <a:avLst/>
          </a:prstGeom>
          <a:solidFill>
            <a:srgbClr val="4A86E8"/>
          </a:solidFill>
          <a:ln w="9525" cap="flat" cmpd="sng">
            <a:solidFill>
              <a:srgbClr val="CFE2F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5" name="Google Shape;125;p5"/>
          <p:cNvSpPr/>
          <p:nvPr/>
        </p:nvSpPr>
        <p:spPr>
          <a:xfrm>
            <a:off x="548325" y="1778700"/>
            <a:ext cx="4968000" cy="3286200"/>
          </a:xfrm>
          <a:prstGeom prst="ellipse">
            <a:avLst/>
          </a:prstGeom>
          <a:solidFill>
            <a:srgbClr val="4A86E8"/>
          </a:solidFill>
          <a:ln w="9525" cap="flat" cmpd="sng">
            <a:solidFill>
              <a:srgbClr val="CFE2F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6" name="Google Shape;126;p5"/>
          <p:cNvSpPr txBox="1">
            <a:spLocks noGrp="1"/>
          </p:cNvSpPr>
          <p:nvPr>
            <p:ph type="ctrTitle"/>
          </p:nvPr>
        </p:nvSpPr>
        <p:spPr>
          <a:xfrm>
            <a:off x="872762" y="524926"/>
            <a:ext cx="10446473" cy="81080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mbria"/>
              <a:buNone/>
            </a:pPr>
            <a:r>
              <a:rPr lang="hu-HU" sz="4400" dirty="0">
                <a:latin typeface="Cambria"/>
                <a:ea typeface="Cambria"/>
                <a:cs typeface="Cambria"/>
                <a:sym typeface="Cambria"/>
              </a:rPr>
              <a:t>Backend architektúra és API</a:t>
            </a:r>
            <a:endParaRPr dirty="0"/>
          </a:p>
        </p:txBody>
      </p:sp>
      <p:pic>
        <p:nvPicPr>
          <p:cNvPr id="127" name="Google Shape;127;p5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0801999" y="301261"/>
            <a:ext cx="1034472" cy="1034472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5"/>
          <p:cNvSpPr txBox="1"/>
          <p:nvPr/>
        </p:nvSpPr>
        <p:spPr>
          <a:xfrm>
            <a:off x="1321138" y="2128809"/>
            <a:ext cx="3940200" cy="258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285750" marR="0" lvl="0" indent="-2857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</a:pPr>
            <a:r>
              <a:rPr lang="hu-HU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Rétegelt backend felépítés</a:t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</a:endParaRPr>
          </a:p>
          <a:p>
            <a:pPr marL="285750" marR="0" lvl="0" indent="-2857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</a:pPr>
            <a:r>
              <a:rPr lang="hu-HU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API modulonként szervezve</a:t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</a:endParaRPr>
          </a:p>
          <a:p>
            <a:pPr marL="285750" marR="0" lvl="0" indent="-2857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</a:pPr>
            <a:r>
              <a:rPr lang="hu-HU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Egységes hibakezelés</a:t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</a:endParaRPr>
          </a:p>
          <a:p>
            <a:pPr marL="285750" marR="0" lvl="0" indent="-2857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</a:pPr>
            <a:r>
              <a:rPr lang="hu-HU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Központi validáció és üzleti logika</a:t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</a:endParaRPr>
          </a:p>
          <a:p>
            <a:pPr marL="285750" marR="0" lvl="0" indent="-2857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</a:pPr>
            <a:r>
              <a:rPr lang="hu-HU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Stabil, bővíthető működés</a:t>
            </a:r>
            <a:endParaRPr/>
          </a:p>
        </p:txBody>
      </p:sp>
      <p:grpSp>
        <p:nvGrpSpPr>
          <p:cNvPr id="129" name="Google Shape;129;p5"/>
          <p:cNvGrpSpPr/>
          <p:nvPr/>
        </p:nvGrpSpPr>
        <p:grpSpPr>
          <a:xfrm>
            <a:off x="6637421" y="1960734"/>
            <a:ext cx="4681800" cy="3286207"/>
            <a:chOff x="6254496" y="2128809"/>
            <a:chExt cx="4681800" cy="3286207"/>
          </a:xfrm>
        </p:grpSpPr>
        <p:sp>
          <p:nvSpPr>
            <p:cNvPr id="130" name="Google Shape;130;p5"/>
            <p:cNvSpPr txBox="1"/>
            <p:nvPr/>
          </p:nvSpPr>
          <p:spPr>
            <a:xfrm>
              <a:off x="6254496" y="2128809"/>
              <a:ext cx="3822300" cy="9234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hu-HU" sz="1800" b="1" dirty="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rPr>
                <a:t>Fő API modulok:</a:t>
              </a:r>
              <a:r>
                <a:rPr lang="hu-HU" sz="1800" dirty="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rPr>
                <a:t> Auth, Események, Intézmények, Osztályok, Kérelmek</a:t>
              </a:r>
              <a:endParaRPr dirty="0"/>
            </a:p>
          </p:txBody>
        </p:sp>
        <p:sp>
          <p:nvSpPr>
            <p:cNvPr id="131" name="Google Shape;131;p5"/>
            <p:cNvSpPr txBox="1"/>
            <p:nvPr/>
          </p:nvSpPr>
          <p:spPr>
            <a:xfrm>
              <a:off x="6254496" y="3005982"/>
              <a:ext cx="4227600" cy="9234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hu-HU" sz="1800" b="1" dirty="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rPr>
                <a:t>Hibakezelés:</a:t>
              </a:r>
              <a:r>
                <a:rPr lang="hu-HU" sz="1800" dirty="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rPr>
                <a:t> egységes válaszkódok (siker, validációs hiba, jogosultsági hiba)</a:t>
              </a:r>
              <a:endParaRPr dirty="0"/>
            </a:p>
          </p:txBody>
        </p:sp>
        <p:sp>
          <p:nvSpPr>
            <p:cNvPr id="132" name="Google Shape;132;p5"/>
            <p:cNvSpPr txBox="1"/>
            <p:nvPr/>
          </p:nvSpPr>
          <p:spPr>
            <a:xfrm>
              <a:off x="6254496" y="3845305"/>
              <a:ext cx="4681800" cy="6465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hu-HU" sz="1800" b="1" dirty="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rPr>
                <a:t>Központi logika:</a:t>
              </a:r>
              <a:r>
                <a:rPr lang="hu-HU" sz="1800" dirty="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rPr>
                <a:t> validáció és üzleti szabályok a backendben</a:t>
              </a:r>
              <a:endParaRPr dirty="0"/>
            </a:p>
          </p:txBody>
        </p:sp>
        <p:sp>
          <p:nvSpPr>
            <p:cNvPr id="133" name="Google Shape;133;p5"/>
            <p:cNvSpPr txBox="1"/>
            <p:nvPr/>
          </p:nvSpPr>
          <p:spPr>
            <a:xfrm>
              <a:off x="6254508" y="4491616"/>
              <a:ext cx="3474600" cy="9234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hu-HU" sz="1800" b="1" dirty="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rPr>
                <a:t>Eredmény:</a:t>
              </a:r>
              <a:r>
                <a:rPr lang="hu-HU" sz="1800" dirty="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rPr>
                <a:t> stabil, átlátható, könnyen karbantartható rendszer</a:t>
              </a:r>
              <a:endParaRPr dirty="0"/>
            </a:p>
          </p:txBody>
        </p:sp>
      </p:grp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rgbClr val="A3C5ED"/>
            </a:gs>
            <a:gs pos="74000">
              <a:srgbClr val="72C4E9"/>
            </a:gs>
            <a:gs pos="83000">
              <a:srgbClr val="72C4E9"/>
            </a:gs>
            <a:gs pos="100000">
              <a:srgbClr val="A1D6F0"/>
            </a:gs>
          </a:gsLst>
          <a:lin ang="5400000" scaled="0"/>
        </a:gradFill>
        <a:effectLst/>
      </p:bgPr>
    </p:bg>
    <p:spTree>
      <p:nvGrpSpPr>
        <p:cNvPr id="1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6"/>
          <p:cNvSpPr/>
          <p:nvPr/>
        </p:nvSpPr>
        <p:spPr>
          <a:xfrm>
            <a:off x="2729700" y="111225"/>
            <a:ext cx="6732600" cy="1638300"/>
          </a:xfrm>
          <a:prstGeom prst="ellipse">
            <a:avLst/>
          </a:prstGeom>
          <a:solidFill>
            <a:srgbClr val="4A86E8"/>
          </a:solidFill>
          <a:ln w="9525" cap="flat" cmpd="sng">
            <a:solidFill>
              <a:srgbClr val="CFE2F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9" name="Google Shape;139;p6"/>
          <p:cNvSpPr txBox="1">
            <a:spLocks noGrp="1"/>
          </p:cNvSpPr>
          <p:nvPr>
            <p:ph type="ctrTitle"/>
          </p:nvPr>
        </p:nvSpPr>
        <p:spPr>
          <a:xfrm>
            <a:off x="872762" y="524926"/>
            <a:ext cx="10446600" cy="81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mbria"/>
              <a:buNone/>
            </a:pPr>
            <a:r>
              <a:rPr lang="hu-HU" sz="4400">
                <a:latin typeface="Cambria"/>
                <a:ea typeface="Cambria"/>
                <a:cs typeface="Cambria"/>
                <a:sym typeface="Cambria"/>
              </a:rPr>
              <a:t>Jogosultság és biztonság</a:t>
            </a:r>
            <a:endParaRPr/>
          </a:p>
        </p:txBody>
      </p:sp>
      <p:pic>
        <p:nvPicPr>
          <p:cNvPr id="140" name="Google Shape;140;p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257000" y="301261"/>
            <a:ext cx="1034472" cy="1034472"/>
          </a:xfrm>
          <a:prstGeom prst="rect">
            <a:avLst/>
          </a:prstGeom>
          <a:noFill/>
          <a:ln>
            <a:noFill/>
          </a:ln>
        </p:spPr>
      </p:pic>
      <p:sp>
        <p:nvSpPr>
          <p:cNvPr id="141" name="Google Shape;141;p6"/>
          <p:cNvSpPr txBox="1"/>
          <p:nvPr/>
        </p:nvSpPr>
        <p:spPr>
          <a:xfrm>
            <a:off x="1291479" y="2404683"/>
            <a:ext cx="4524000" cy="286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285750" marR="0" lvl="0" indent="-2857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</a:pPr>
            <a:r>
              <a:rPr lang="hu-HU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Token alapú hitelesítés (Sanctum)</a:t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</a:endParaRPr>
          </a:p>
          <a:p>
            <a:pPr marL="285750" marR="0" lvl="0" indent="-2857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</a:pPr>
            <a:r>
              <a:rPr lang="hu-HU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Védett API végpontok</a:t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</a:endParaRPr>
          </a:p>
          <a:p>
            <a:pPr marL="285750" marR="0" lvl="0" indent="-2857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</a:pPr>
            <a:r>
              <a:rPr lang="hu-HU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Szerepkör-alapú hozzáférés</a:t>
            </a:r>
            <a:endParaRPr/>
          </a:p>
          <a:p>
            <a:pPr marL="45720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</a:endParaRPr>
          </a:p>
          <a:p>
            <a:pPr marL="285750" marR="0" lvl="0" indent="-2857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</a:pPr>
            <a:r>
              <a:rPr lang="hu-HU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Kritikus műveletek korlátozása</a:t>
            </a:r>
            <a:endParaRPr/>
          </a:p>
          <a:p>
            <a:pPr marL="45720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</a:endParaRPr>
          </a:p>
          <a:p>
            <a:pPr marL="285750" marR="0" lvl="0" indent="-2857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</a:pPr>
            <a:r>
              <a:rPr lang="hu-HU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Email-verifikáció és hozzáférés-védelem</a:t>
            </a:r>
            <a:endParaRPr sz="1800">
              <a:solidFill>
                <a:schemeClr val="dk1"/>
              </a:solidFill>
            </a:endParaRPr>
          </a:p>
        </p:txBody>
      </p:sp>
      <p:sp>
        <p:nvSpPr>
          <p:cNvPr id="142" name="Google Shape;142;p6"/>
          <p:cNvSpPr txBox="1"/>
          <p:nvPr/>
        </p:nvSpPr>
        <p:spPr>
          <a:xfrm>
            <a:off x="7216234" y="2413058"/>
            <a:ext cx="3429000" cy="203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sz="1800" b="1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Szerepkörök:</a:t>
            </a:r>
            <a:endParaRPr sz="1800" b="1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 b="1">
              <a:solidFill>
                <a:schemeClr val="dk1"/>
              </a:solidFill>
            </a:endParaRPr>
          </a:p>
          <a:p>
            <a:pPr marL="285750" lvl="0" indent="-2857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</a:pPr>
            <a:r>
              <a:rPr lang="hu-HU" sz="1800">
                <a:solidFill>
                  <a:schemeClr val="dk1"/>
                </a:solidFill>
              </a:rPr>
              <a:t>Diák</a:t>
            </a:r>
            <a:endParaRPr sz="1800">
              <a:solidFill>
                <a:schemeClr val="dk1"/>
              </a:solidFill>
            </a:endParaRPr>
          </a:p>
          <a:p>
            <a:pPr marL="45720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</a:endParaRPr>
          </a:p>
          <a:p>
            <a:pPr marL="285750" lvl="0" indent="-2857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</a:pPr>
            <a:r>
              <a:rPr lang="hu-HU" sz="1800">
                <a:solidFill>
                  <a:schemeClr val="dk1"/>
                </a:solidFill>
              </a:rPr>
              <a:t>Tanár</a:t>
            </a:r>
            <a:endParaRPr sz="1800">
              <a:solidFill>
                <a:schemeClr val="dk1"/>
              </a:solidFill>
            </a:endParaRPr>
          </a:p>
          <a:p>
            <a:pPr marL="45720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</a:endParaRPr>
          </a:p>
          <a:p>
            <a:pPr marL="285750" lvl="0" indent="-2857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</a:pPr>
            <a:r>
              <a:rPr lang="hu-HU" sz="1800">
                <a:solidFill>
                  <a:schemeClr val="dk1"/>
                </a:solidFill>
              </a:rPr>
              <a:t>Admin</a:t>
            </a:r>
            <a:endParaRPr sz="1800" b="1">
              <a:solidFill>
                <a:schemeClr val="dk1"/>
              </a:solidFill>
            </a:endParaRP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rgbClr val="A3C5ED"/>
            </a:gs>
            <a:gs pos="74000">
              <a:srgbClr val="72C4E9"/>
            </a:gs>
            <a:gs pos="83000">
              <a:srgbClr val="72C4E9"/>
            </a:gs>
            <a:gs pos="100000">
              <a:srgbClr val="A1D6F0"/>
            </a:gs>
          </a:gsLst>
          <a:lin ang="5400000" scaled="0"/>
        </a:gradFill>
        <a:effectLst/>
      </p:bgPr>
    </p:bg>
    <p:spTree>
      <p:nvGrpSpPr>
        <p:cNvPr id="1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7"/>
          <p:cNvSpPr txBox="1">
            <a:spLocks noGrp="1"/>
          </p:cNvSpPr>
          <p:nvPr>
            <p:ph type="ctrTitle"/>
          </p:nvPr>
        </p:nvSpPr>
        <p:spPr>
          <a:xfrm>
            <a:off x="872762" y="524926"/>
            <a:ext cx="10446473" cy="81080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mbria"/>
              <a:buNone/>
            </a:pPr>
            <a:r>
              <a:rPr lang="hu-HU" sz="4400">
                <a:latin typeface="Cambria"/>
                <a:ea typeface="Cambria"/>
                <a:cs typeface="Cambria"/>
                <a:sym typeface="Cambria"/>
              </a:rPr>
              <a:t>Frontend felépítés és navigáció</a:t>
            </a:r>
            <a:endParaRPr/>
          </a:p>
        </p:txBody>
      </p:sp>
      <p:pic>
        <p:nvPicPr>
          <p:cNvPr id="148" name="Google Shape;148;p7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0801999" y="301261"/>
            <a:ext cx="1034472" cy="1034472"/>
          </a:xfrm>
          <a:prstGeom prst="rect">
            <a:avLst/>
          </a:prstGeom>
          <a:noFill/>
          <a:ln>
            <a:noFill/>
          </a:ln>
        </p:spPr>
      </p:pic>
      <p:sp>
        <p:nvSpPr>
          <p:cNvPr id="149" name="Google Shape;149;p7"/>
          <p:cNvSpPr txBox="1"/>
          <p:nvPr/>
        </p:nvSpPr>
        <p:spPr>
          <a:xfrm>
            <a:off x="1377020" y="1714310"/>
            <a:ext cx="6509700" cy="3971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285750" marR="0" lvl="0" indent="-2857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</a:pPr>
            <a:r>
              <a:rPr lang="hu-HU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SPA működés modern, reszponzív felülettel</a:t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</a:endParaRPr>
          </a:p>
          <a:p>
            <a:pPr marL="285750" marR="0" lvl="0" indent="-2857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</a:pPr>
            <a:r>
              <a:rPr lang="hu-HU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Route alapú navigáció</a:t>
            </a:r>
            <a:endParaRPr/>
          </a:p>
          <a:p>
            <a:pPr marL="45720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</a:endParaRPr>
          </a:p>
          <a:p>
            <a:pPr marL="285750" marR="0" lvl="0" indent="-2857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</a:pPr>
            <a:r>
              <a:rPr lang="hu-HU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Szerepkörhöz igazított irányítópultok</a:t>
            </a:r>
            <a:endParaRPr/>
          </a:p>
          <a:p>
            <a:pPr marL="45720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</a:endParaRPr>
          </a:p>
          <a:p>
            <a:pPr marL="285750" marR="0" lvl="0" indent="-2857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</a:pPr>
            <a:r>
              <a:rPr lang="hu-HU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Események listázása és esemény részletei oldal kapcsolata</a:t>
            </a:r>
            <a:endParaRPr/>
          </a:p>
          <a:p>
            <a:pPr marL="45720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</a:endParaRPr>
          </a:p>
          <a:p>
            <a:pPr marL="285750" marR="0" lvl="0" indent="-2857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</a:pPr>
            <a:r>
              <a:rPr lang="hu-HU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Felhasználói állapotkezelés local/session tárolással</a:t>
            </a:r>
            <a:endParaRPr/>
          </a:p>
          <a:p>
            <a:pPr marL="45720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</a:endParaRPr>
          </a:p>
          <a:p>
            <a:pPr marL="285750" marR="0" lvl="0" indent="-2857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</a:pPr>
            <a:r>
              <a:rPr lang="hu-HU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Reszponzív UI</a:t>
            </a:r>
            <a:endParaRPr/>
          </a:p>
          <a:p>
            <a:pPr marL="45720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</a:endParaRPr>
          </a:p>
          <a:p>
            <a:pPr marL="285750" marR="0" lvl="0" indent="-2857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</a:pPr>
            <a:r>
              <a:rPr lang="hu-HU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Cél: gyors és egyszerű felhasználói élmény</a:t>
            </a:r>
            <a:endParaRPr/>
          </a:p>
        </p:txBody>
      </p:sp>
      <p:sp>
        <p:nvSpPr>
          <p:cNvPr id="150" name="Google Shape;150;p7"/>
          <p:cNvSpPr/>
          <p:nvPr/>
        </p:nvSpPr>
        <p:spPr>
          <a:xfrm>
            <a:off x="7826625" y="1335725"/>
            <a:ext cx="3492600" cy="5292900"/>
          </a:xfrm>
          <a:prstGeom prst="ellipse">
            <a:avLst/>
          </a:prstGeom>
          <a:solidFill>
            <a:srgbClr val="4A86E8"/>
          </a:solidFill>
          <a:ln w="9525" cap="flat" cmpd="sng">
            <a:solidFill>
              <a:srgbClr val="CFE2F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151" name="Google Shape;151;p7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6789540" y="1714300"/>
            <a:ext cx="5566768" cy="4823099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rgbClr val="A3C5ED"/>
            </a:gs>
            <a:gs pos="74000">
              <a:srgbClr val="72C4E9"/>
            </a:gs>
            <a:gs pos="83000">
              <a:srgbClr val="72C4E9"/>
            </a:gs>
            <a:gs pos="100000">
              <a:srgbClr val="A1D6F0"/>
            </a:gs>
          </a:gsLst>
          <a:lin ang="5400000" scaled="0"/>
        </a:gradFill>
        <a:effectLst/>
      </p:bgPr>
    </p:bg>
    <p:spTree>
      <p:nvGrpSpPr>
        <p:cNvPr id="1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8"/>
          <p:cNvSpPr/>
          <p:nvPr/>
        </p:nvSpPr>
        <p:spPr>
          <a:xfrm>
            <a:off x="356025" y="1698075"/>
            <a:ext cx="8708700" cy="4687800"/>
          </a:xfrm>
          <a:prstGeom prst="ellipse">
            <a:avLst/>
          </a:prstGeom>
          <a:solidFill>
            <a:srgbClr val="4A86E8"/>
          </a:solidFill>
          <a:ln w="9525" cap="flat" cmpd="sng">
            <a:solidFill>
              <a:srgbClr val="CFE2F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7" name="Google Shape;157;p8"/>
          <p:cNvSpPr txBox="1">
            <a:spLocks noGrp="1"/>
          </p:cNvSpPr>
          <p:nvPr>
            <p:ph type="ctrTitle"/>
          </p:nvPr>
        </p:nvSpPr>
        <p:spPr>
          <a:xfrm>
            <a:off x="872762" y="524926"/>
            <a:ext cx="10446473" cy="81080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mbria"/>
              <a:buNone/>
            </a:pPr>
            <a:r>
              <a:rPr lang="hu-HU" sz="4400">
                <a:latin typeface="Cambria"/>
                <a:ea typeface="Cambria"/>
                <a:cs typeface="Cambria"/>
                <a:sym typeface="Cambria"/>
              </a:rPr>
              <a:t>Felhasználói élmény és érték</a:t>
            </a:r>
            <a:endParaRPr/>
          </a:p>
        </p:txBody>
      </p:sp>
      <p:pic>
        <p:nvPicPr>
          <p:cNvPr id="158" name="Google Shape;158;p8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257000" y="301261"/>
            <a:ext cx="1034472" cy="1034472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8"/>
          <p:cNvSpPr txBox="1"/>
          <p:nvPr/>
        </p:nvSpPr>
        <p:spPr>
          <a:xfrm>
            <a:off x="1291484" y="2748985"/>
            <a:ext cx="6453600" cy="258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285750" marR="0" lvl="0" indent="-2857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</a:pPr>
            <a:r>
              <a:rPr lang="hu-HU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Egységes, könnyen tanulható felület minden szerepkörnek</a:t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</a:endParaRPr>
          </a:p>
          <a:p>
            <a:pPr marL="285750" marR="0" lvl="0" indent="-2857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</a:pPr>
            <a:r>
              <a:rPr lang="hu-HU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Gyors és logikus navigáció a fő funkciók között</a:t>
            </a:r>
            <a:endParaRPr/>
          </a:p>
          <a:p>
            <a:pPr marL="45720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</a:endParaRPr>
          </a:p>
          <a:p>
            <a:pPr marL="285750" marR="0" lvl="0" indent="-2857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</a:pPr>
            <a:r>
              <a:rPr lang="hu-HU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Átlátható visszajelzések a folyamatok állapotáról</a:t>
            </a:r>
            <a:endParaRPr/>
          </a:p>
          <a:p>
            <a:pPr marL="45720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</a:endParaRPr>
          </a:p>
          <a:p>
            <a:pPr marL="285750" marR="0" lvl="0" indent="-2857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</a:pPr>
            <a:r>
              <a:rPr lang="hu-HU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Reszponzív működés asztali és mobil nézetben</a:t>
            </a:r>
            <a:endParaRPr/>
          </a:p>
          <a:p>
            <a:pPr marL="45720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</a:endParaRPr>
          </a:p>
          <a:p>
            <a:pPr marL="285750" marR="0" lvl="0" indent="-2857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</a:pPr>
            <a:r>
              <a:rPr lang="hu-HU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Cél: minél kevesebb lépésből elvégezhető folyamatok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rgbClr val="A3C5ED"/>
            </a:gs>
            <a:gs pos="74000">
              <a:srgbClr val="72C4E9"/>
            </a:gs>
            <a:gs pos="83000">
              <a:srgbClr val="72C4E9"/>
            </a:gs>
            <a:gs pos="100000">
              <a:srgbClr val="A1D6F0"/>
            </a:gs>
          </a:gsLst>
          <a:lin ang="5400000" scaled="0"/>
        </a:gradFill>
        <a:effectLst/>
      </p:bgPr>
    </p:bg>
    <p:spTree>
      <p:nvGrpSpPr>
        <p:cNvPr id="1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9"/>
          <p:cNvSpPr/>
          <p:nvPr/>
        </p:nvSpPr>
        <p:spPr>
          <a:xfrm>
            <a:off x="9993075" y="-339150"/>
            <a:ext cx="3492600" cy="7536300"/>
          </a:xfrm>
          <a:prstGeom prst="ellipse">
            <a:avLst/>
          </a:prstGeom>
          <a:solidFill>
            <a:srgbClr val="4A86E8"/>
          </a:solidFill>
          <a:ln w="9525" cap="flat" cmpd="sng">
            <a:solidFill>
              <a:srgbClr val="CFE2F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4" name="Google Shape;164;p9"/>
          <p:cNvSpPr txBox="1">
            <a:spLocks noGrp="1"/>
          </p:cNvSpPr>
          <p:nvPr>
            <p:ph type="ctrTitle"/>
          </p:nvPr>
        </p:nvSpPr>
        <p:spPr>
          <a:xfrm>
            <a:off x="872762" y="524926"/>
            <a:ext cx="10446473" cy="81080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mbria"/>
              <a:buNone/>
            </a:pPr>
            <a:r>
              <a:rPr lang="hu-HU" sz="4400">
                <a:latin typeface="Cambria"/>
                <a:ea typeface="Cambria"/>
                <a:cs typeface="Cambria"/>
                <a:sym typeface="Cambria"/>
              </a:rPr>
              <a:t>Adatmodell</a:t>
            </a:r>
            <a:endParaRPr/>
          </a:p>
        </p:txBody>
      </p:sp>
      <p:pic>
        <p:nvPicPr>
          <p:cNvPr id="165" name="Google Shape;165;p9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0801999" y="301261"/>
            <a:ext cx="1034472" cy="1034472"/>
          </a:xfrm>
          <a:prstGeom prst="rect">
            <a:avLst/>
          </a:prstGeom>
          <a:noFill/>
          <a:ln>
            <a:noFill/>
          </a:ln>
        </p:spPr>
      </p:pic>
      <p:sp>
        <p:nvSpPr>
          <p:cNvPr id="166" name="Google Shape;166;p9"/>
          <p:cNvSpPr txBox="1"/>
          <p:nvPr/>
        </p:nvSpPr>
        <p:spPr>
          <a:xfrm>
            <a:off x="1558873" y="1720491"/>
            <a:ext cx="7767600" cy="3417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Fő entitások: felhasználók, intézmények, osztályok, események</a:t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Kapcsolatok: tagságok, kérelmek, esemény-interakciók</a:t>
            </a:r>
            <a:endParaRPr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Relációs modell biztosítja az adatok konzisztenciáját</a:t>
            </a:r>
            <a:endParaRPr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Kulcsfontosságú cél: adatintegritás és visszakövethetőség</a:t>
            </a:r>
            <a:endParaRPr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Bővíthető struktúra új funkciókhoz</a:t>
            </a:r>
            <a:endParaRPr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br>
              <a:rPr lang="hu-HU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</a:b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rgbClr val="A3C5ED"/>
            </a:gs>
            <a:gs pos="74000">
              <a:srgbClr val="72C4E9"/>
            </a:gs>
            <a:gs pos="83000">
              <a:srgbClr val="72C4E9"/>
            </a:gs>
            <a:gs pos="100000">
              <a:srgbClr val="A1D6F0"/>
            </a:gs>
          </a:gsLst>
          <a:lin ang="5400000" scaled="0"/>
        </a:gradFill>
        <a:effectLst/>
      </p:bgPr>
    </p:bg>
    <p:spTree>
      <p:nvGrpSpPr>
        <p:cNvPr id="1" name="Shape 1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2" name="Google Shape;172;p10"/>
          <p:cNvSpPr/>
          <p:nvPr/>
        </p:nvSpPr>
        <p:spPr>
          <a:xfrm>
            <a:off x="-2850775" y="5134425"/>
            <a:ext cx="13068000" cy="3460500"/>
          </a:xfrm>
          <a:prstGeom prst="ellipse">
            <a:avLst/>
          </a:prstGeom>
          <a:solidFill>
            <a:srgbClr val="4A86E8"/>
          </a:solidFill>
          <a:ln w="9525" cap="flat" cmpd="sng">
            <a:solidFill>
              <a:srgbClr val="CFE2F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3" name="Google Shape;173;p10"/>
          <p:cNvSpPr txBox="1">
            <a:spLocks noGrp="1"/>
          </p:cNvSpPr>
          <p:nvPr>
            <p:ph type="ctrTitle"/>
          </p:nvPr>
        </p:nvSpPr>
        <p:spPr>
          <a:xfrm>
            <a:off x="872762" y="524926"/>
            <a:ext cx="10446473" cy="81080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mbria"/>
              <a:buNone/>
            </a:pPr>
            <a:r>
              <a:rPr lang="hu-HU" sz="4400">
                <a:latin typeface="Cambria"/>
                <a:ea typeface="Cambria"/>
                <a:cs typeface="Cambria"/>
                <a:sym typeface="Cambria"/>
              </a:rPr>
              <a:t>Tesztelés és minőségbiztosítás</a:t>
            </a:r>
            <a:endParaRPr/>
          </a:p>
        </p:txBody>
      </p:sp>
      <p:pic>
        <p:nvPicPr>
          <p:cNvPr id="174" name="Google Shape;174;p10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257000" y="301261"/>
            <a:ext cx="1034472" cy="1034472"/>
          </a:xfrm>
          <a:prstGeom prst="rect">
            <a:avLst/>
          </a:prstGeom>
          <a:noFill/>
          <a:ln>
            <a:noFill/>
          </a:ln>
        </p:spPr>
      </p:pic>
      <p:sp>
        <p:nvSpPr>
          <p:cNvPr id="175" name="Google Shape;175;p10"/>
          <p:cNvSpPr txBox="1"/>
          <p:nvPr/>
        </p:nvSpPr>
        <p:spPr>
          <a:xfrm>
            <a:off x="1291479" y="1983980"/>
            <a:ext cx="6777900" cy="2308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Frontend TypeScript tesztek pozitív és negatív tesztek</a:t>
            </a:r>
            <a:endParaRPr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Backend API tesztelés Postmannel</a:t>
            </a:r>
            <a:endParaRPr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Pozitív és negatív esetek ellenőrzése</a:t>
            </a:r>
            <a:endParaRPr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Cél: stabil működés és hibák korai kiszűrése</a:t>
            </a:r>
            <a:endParaRPr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rgbClr val="A3C5ED"/>
            </a:gs>
            <a:gs pos="74000">
              <a:srgbClr val="72C4E9"/>
            </a:gs>
            <a:gs pos="83000">
              <a:srgbClr val="72C4E9"/>
            </a:gs>
            <a:gs pos="100000">
              <a:srgbClr val="A1D6F0"/>
            </a:gs>
          </a:gsLst>
          <a:lin ang="5400000" scaled="0"/>
        </a:gradFill>
        <a:effectLst/>
      </p:bgPr>
    </p:bg>
    <p:spTree>
      <p:nvGrpSpPr>
        <p:cNvPr id="1" name="Shape 1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0" name="Google Shape;180;p11"/>
          <p:cNvSpPr txBox="1">
            <a:spLocks noGrp="1"/>
          </p:cNvSpPr>
          <p:nvPr>
            <p:ph type="ctrTitle"/>
          </p:nvPr>
        </p:nvSpPr>
        <p:spPr>
          <a:xfrm>
            <a:off x="430974" y="504378"/>
            <a:ext cx="4336235" cy="81080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mbria"/>
              <a:buNone/>
            </a:pPr>
            <a:r>
              <a:rPr lang="hu-HU" sz="4400">
                <a:latin typeface="Cambria"/>
                <a:ea typeface="Cambria"/>
                <a:cs typeface="Cambria"/>
                <a:sym typeface="Cambria"/>
              </a:rPr>
              <a:t>Csapatmunka</a:t>
            </a:r>
            <a:endParaRPr/>
          </a:p>
        </p:txBody>
      </p:sp>
      <p:sp>
        <p:nvSpPr>
          <p:cNvPr id="181" name="Google Shape;181;p11"/>
          <p:cNvSpPr txBox="1"/>
          <p:nvPr/>
        </p:nvSpPr>
        <p:spPr>
          <a:xfrm>
            <a:off x="1235026" y="2149950"/>
            <a:ext cx="4963200" cy="64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Kommunikáció: Discord</a:t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Megosztott munka: GitHub, Google</a:t>
            </a:r>
            <a:r>
              <a:rPr lang="hu-HU" sz="1800">
                <a:solidFill>
                  <a:schemeClr val="dk1"/>
                </a:solidFill>
              </a:rPr>
              <a:t> </a:t>
            </a:r>
            <a:r>
              <a:rPr lang="hu-HU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Drive</a:t>
            </a:r>
            <a:endParaRPr/>
          </a:p>
        </p:txBody>
      </p:sp>
      <p:pic>
        <p:nvPicPr>
          <p:cNvPr id="182" name="Google Shape;182;p1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844500" y="330275"/>
            <a:ext cx="2466175" cy="24661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83" name="Google Shape;183;p11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9310675" y="3169775"/>
            <a:ext cx="2143450" cy="2143450"/>
          </a:xfrm>
          <a:prstGeom prst="rect">
            <a:avLst/>
          </a:prstGeom>
          <a:noFill/>
          <a:ln>
            <a:noFill/>
          </a:ln>
        </p:spPr>
      </p:pic>
      <p:pic>
        <p:nvPicPr>
          <p:cNvPr id="184" name="Google Shape;184;p11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5365487" y="3524625"/>
            <a:ext cx="3398815" cy="3037027"/>
          </a:xfrm>
          <a:prstGeom prst="rect">
            <a:avLst/>
          </a:prstGeom>
          <a:noFill/>
          <a:ln>
            <a:noFill/>
          </a:ln>
        </p:spPr>
      </p:pic>
      <p:sp>
        <p:nvSpPr>
          <p:cNvPr id="185" name="Google Shape;185;p11"/>
          <p:cNvSpPr/>
          <p:nvPr/>
        </p:nvSpPr>
        <p:spPr>
          <a:xfrm>
            <a:off x="-1795175" y="4234325"/>
            <a:ext cx="3492600" cy="4823100"/>
          </a:xfrm>
          <a:prstGeom prst="ellipse">
            <a:avLst/>
          </a:prstGeom>
          <a:solidFill>
            <a:srgbClr val="4A86E8"/>
          </a:solidFill>
          <a:ln w="9525" cap="flat" cmpd="sng">
            <a:solidFill>
              <a:srgbClr val="CFE2F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6" name="Google Shape;186;p11"/>
          <p:cNvSpPr/>
          <p:nvPr/>
        </p:nvSpPr>
        <p:spPr>
          <a:xfrm rot="-5400000">
            <a:off x="10310175" y="-2299450"/>
            <a:ext cx="3492600" cy="4823100"/>
          </a:xfrm>
          <a:prstGeom prst="ellipse">
            <a:avLst/>
          </a:prstGeom>
          <a:solidFill>
            <a:srgbClr val="4A86E8"/>
          </a:solidFill>
          <a:ln w="9525" cap="flat" cmpd="sng">
            <a:solidFill>
              <a:srgbClr val="CFE2F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rgbClr val="A3C5ED"/>
            </a:gs>
            <a:gs pos="74000">
              <a:srgbClr val="72C4E9"/>
            </a:gs>
            <a:gs pos="83000">
              <a:srgbClr val="72C4E9"/>
            </a:gs>
            <a:gs pos="100000">
              <a:srgbClr val="A1D6F0"/>
            </a:gs>
          </a:gsLst>
          <a:lin ang="5400000" scaled="0"/>
        </a:gradFill>
        <a:effectLst/>
      </p:bgPr>
    </p:bg>
    <p:spTree>
      <p:nvGrpSpPr>
        <p:cNvPr id="1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12"/>
          <p:cNvSpPr txBox="1">
            <a:spLocks noGrp="1"/>
          </p:cNvSpPr>
          <p:nvPr>
            <p:ph type="ctrTitle"/>
          </p:nvPr>
        </p:nvSpPr>
        <p:spPr>
          <a:xfrm>
            <a:off x="430974" y="504378"/>
            <a:ext cx="4336235" cy="81080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mbria"/>
              <a:buNone/>
            </a:pPr>
            <a:r>
              <a:rPr lang="hu-HU" sz="4400">
                <a:latin typeface="Cambria"/>
                <a:ea typeface="Cambria"/>
                <a:cs typeface="Cambria"/>
                <a:sym typeface="Cambria"/>
              </a:rPr>
              <a:t>Jövőbeli tervek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rgbClr val="A3C5ED"/>
            </a:gs>
            <a:gs pos="74000">
              <a:srgbClr val="72C4E9"/>
            </a:gs>
            <a:gs pos="83000">
              <a:srgbClr val="72C4E9"/>
            </a:gs>
            <a:gs pos="100000">
              <a:srgbClr val="A1D6F0"/>
            </a:gs>
          </a:gsLst>
          <a:lin ang="5400000" scaled="0"/>
        </a:gradFill>
        <a:effectLst/>
      </p:bgPr>
    </p:bg>
    <p:spTree>
      <p:nvGrpSpPr>
        <p:cNvPr id="1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13"/>
          <p:cNvSpPr txBox="1">
            <a:spLocks noGrp="1"/>
          </p:cNvSpPr>
          <p:nvPr>
            <p:ph type="ctrTitle"/>
          </p:nvPr>
        </p:nvSpPr>
        <p:spPr>
          <a:xfrm>
            <a:off x="430974" y="504378"/>
            <a:ext cx="4336235" cy="81080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mbria"/>
              <a:buNone/>
            </a:pPr>
            <a:r>
              <a:rPr lang="hu-HU" sz="4400">
                <a:latin typeface="Cambria"/>
                <a:ea typeface="Cambria"/>
                <a:cs typeface="Cambria"/>
                <a:sym typeface="Cambria"/>
              </a:rPr>
              <a:t>Demó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rgbClr val="A3C5ED"/>
            </a:gs>
            <a:gs pos="74000">
              <a:srgbClr val="72C4E9"/>
            </a:gs>
            <a:gs pos="83000">
              <a:srgbClr val="72C4E9"/>
            </a:gs>
            <a:gs pos="100000">
              <a:srgbClr val="A1D6F0"/>
            </a:gs>
          </a:gsLst>
          <a:lin ang="5400000" scaled="0"/>
        </a:gradFill>
        <a:effectLst/>
      </p:bgPr>
    </p:bg>
    <p:spTree>
      <p:nvGrpSpPr>
        <p:cNvPr id="1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4"/>
          <p:cNvSpPr txBox="1">
            <a:spLocks noGrp="1"/>
          </p:cNvSpPr>
          <p:nvPr>
            <p:ph type="ctrTitle"/>
          </p:nvPr>
        </p:nvSpPr>
        <p:spPr>
          <a:xfrm>
            <a:off x="430974" y="504378"/>
            <a:ext cx="4336235" cy="81080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mbria"/>
              <a:buNone/>
            </a:pPr>
            <a:r>
              <a:rPr lang="hu-HU" sz="4400">
                <a:latin typeface="Cambria"/>
                <a:ea typeface="Cambria"/>
                <a:cs typeface="Cambria"/>
                <a:sym typeface="Cambria"/>
              </a:rPr>
              <a:t>Taralomjegyzék</a:t>
            </a:r>
            <a:endParaRPr/>
          </a:p>
        </p:txBody>
      </p:sp>
      <p:sp>
        <p:nvSpPr>
          <p:cNvPr id="202" name="Google Shape;202;p14"/>
          <p:cNvSpPr txBox="1"/>
          <p:nvPr/>
        </p:nvSpPr>
        <p:spPr>
          <a:xfrm>
            <a:off x="1038208" y="2091420"/>
            <a:ext cx="4336235" cy="129262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sz="16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  <a:hlinkClick r:id="rId3"/>
              </a:rPr>
              <a:t>www.chatgpt.com</a:t>
            </a:r>
            <a:endParaRPr lang="hu-HU" sz="1600" dirty="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lvl="0"/>
            <a:r>
              <a:rPr lang="hu-HU" sz="1600" dirty="0">
                <a:hlinkClick r:id="rId4"/>
              </a:rPr>
              <a:t>https://vueframework.com</a:t>
            </a:r>
            <a:endParaRPr lang="hu-HU" sz="1600" dirty="0"/>
          </a:p>
          <a:p>
            <a:pPr lvl="0"/>
            <a:r>
              <a:rPr lang="hu-HU" sz="1600" dirty="0">
                <a:hlinkClick r:id="rId5"/>
              </a:rPr>
              <a:t>https://laravel.com/docs/12.x</a:t>
            </a:r>
            <a:endParaRPr lang="hu-HU" sz="1600" dirty="0"/>
          </a:p>
          <a:p>
            <a:pPr lvl="0"/>
            <a:endParaRPr lang="hu-HU" sz="1600" dirty="0"/>
          </a:p>
          <a:p>
            <a:pPr lvl="0"/>
            <a:endParaRPr dirty="0"/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rgbClr val="A3C5ED"/>
            </a:gs>
            <a:gs pos="74000">
              <a:srgbClr val="72C4E9"/>
            </a:gs>
            <a:gs pos="83000">
              <a:srgbClr val="72C4E9"/>
            </a:gs>
            <a:gs pos="100000">
              <a:srgbClr val="A1D6F0"/>
            </a:gs>
          </a:gsLst>
          <a:lin ang="5400000" scaled="0"/>
        </a:gradFill>
        <a:effectLst/>
      </p:bgPr>
    </p:bg>
    <p:spTree>
      <p:nvGrpSpPr>
        <p:cNvPr id="1" name="Shape 2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7" name="Google Shape;207;p15"/>
          <p:cNvSpPr txBox="1">
            <a:spLocks noGrp="1"/>
          </p:cNvSpPr>
          <p:nvPr>
            <p:ph type="ctrTitle"/>
          </p:nvPr>
        </p:nvSpPr>
        <p:spPr>
          <a:xfrm>
            <a:off x="872763" y="1593439"/>
            <a:ext cx="10446473" cy="81080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 fontScale="90000"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Cambria"/>
              <a:buNone/>
            </a:pPr>
            <a:r>
              <a:rPr lang="hu-HU" sz="5400" b="1" i="1">
                <a:latin typeface="Cambria"/>
                <a:ea typeface="Cambria"/>
                <a:cs typeface="Cambria"/>
                <a:sym typeface="Cambria"/>
              </a:rPr>
              <a:t>Köszönjük a figyelmüket!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theme/theme1.xml><?xml version="1.0" encoding="utf-8"?>
<a:theme xmlns:a="http://schemas.openxmlformats.org/drawingml/2006/main" name="Office-téma">
  <a:themeElements>
    <a:clrScheme name="Office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19</TotalTime>
  <Words>422</Words>
  <Application>Microsoft Office PowerPoint</Application>
  <PresentationFormat>Szélesvásznú</PresentationFormat>
  <Paragraphs>122</Paragraphs>
  <Slides>15</Slides>
  <Notes>15</Notes>
  <HiddenSlides>0</HiddenSlides>
  <MMClips>0</MMClips>
  <ScaleCrop>false</ScaleCrop>
  <HeadingPairs>
    <vt:vector size="6" baseType="variant">
      <vt:variant>
        <vt:lpstr>Használt betűtípusok</vt:lpstr>
      </vt:variant>
      <vt:variant>
        <vt:i4>4</vt:i4>
      </vt:variant>
      <vt:variant>
        <vt:lpstr>Téma</vt:lpstr>
      </vt:variant>
      <vt:variant>
        <vt:i4>1</vt:i4>
      </vt:variant>
      <vt:variant>
        <vt:lpstr>Diacímek</vt:lpstr>
      </vt:variant>
      <vt:variant>
        <vt:i4>15</vt:i4>
      </vt:variant>
    </vt:vector>
  </HeadingPairs>
  <TitlesOfParts>
    <vt:vector size="20" baseType="lpstr">
      <vt:lpstr>Play</vt:lpstr>
      <vt:lpstr>Times New Roman</vt:lpstr>
      <vt:lpstr>Arial</vt:lpstr>
      <vt:lpstr>Cambria</vt:lpstr>
      <vt:lpstr>Office-téma</vt:lpstr>
      <vt:lpstr>EseményTér</vt:lpstr>
      <vt:lpstr>Bevezetés: Probléma és Megoldás</vt:lpstr>
      <vt:lpstr>A projekt fő funkciói</vt:lpstr>
      <vt:lpstr>A rendszer felépítése</vt:lpstr>
      <vt:lpstr>Backend architektúra és API</vt:lpstr>
      <vt:lpstr>Jogosultság és biztonság</vt:lpstr>
      <vt:lpstr>Frontend felépítés és navigáció</vt:lpstr>
      <vt:lpstr>Felhasználói élmény és érték</vt:lpstr>
      <vt:lpstr>Adatmodell</vt:lpstr>
      <vt:lpstr>Tesztelés és minőségbiztosítás</vt:lpstr>
      <vt:lpstr>Csapatmunka</vt:lpstr>
      <vt:lpstr>Jövőbeli tervek</vt:lpstr>
      <vt:lpstr>Demó</vt:lpstr>
      <vt:lpstr>Taralomjegyzék</vt:lpstr>
      <vt:lpstr>Köszönjük a figyelmüket!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O365 felhasználó</dc:creator>
  <cp:lastModifiedBy>O365 felhasználó</cp:lastModifiedBy>
  <cp:revision>2</cp:revision>
  <dcterms:created xsi:type="dcterms:W3CDTF">2026-03-04T16:50:56Z</dcterms:created>
  <dcterms:modified xsi:type="dcterms:W3CDTF">2026-03-05T21:37:44Z</dcterms:modified>
</cp:coreProperties>
</file>