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2" r:id="rId6"/>
    <p:sldId id="260" r:id="rId7"/>
    <p:sldId id="272" r:id="rId8"/>
    <p:sldId id="261" r:id="rId9"/>
    <p:sldId id="264" r:id="rId10"/>
    <p:sldId id="271" r:id="rId11"/>
    <p:sldId id="265" r:id="rId12"/>
    <p:sldId id="266" r:id="rId13"/>
    <p:sldId id="267" r:id="rId14"/>
    <p:sldId id="268" r:id="rId15"/>
    <p:sldId id="270" r:id="rId16"/>
  </p:sldIdLst>
  <p:sldSz cx="12192000" cy="6858000"/>
  <p:notesSz cx="68580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Play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j67VHAuCHlscAUacmt/Mbt/wFF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6AE613-179F-4F3B-B0BF-9CF6581B68B4}">
  <a:tblStyle styleId="{A36AE613-179F-4F3B-B0BF-9CF6581B68B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751" autoAdjust="0"/>
  </p:normalViewPr>
  <p:slideViewPr>
    <p:cSldViewPr snapToGrid="0">
      <p:cViewPr varScale="1">
        <p:scale>
          <a:sx n="87" d="100"/>
          <a:sy n="87" d="100"/>
        </p:scale>
        <p:origin x="666" y="-3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Jónapot kívánunk!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Engem Nagy </a:t>
            </a:r>
            <a:r>
              <a:rPr lang="hu-HU" dirty="0" err="1"/>
              <a:t>Levéd</a:t>
            </a:r>
            <a:r>
              <a:rPr lang="hu-HU" dirty="0"/>
              <a:t> Sámuel-</a:t>
            </a:r>
            <a:r>
              <a:rPr lang="hu-HU" dirty="0" err="1"/>
              <a:t>nek</a:t>
            </a:r>
            <a:r>
              <a:rPr lang="hu-HU" dirty="0"/>
              <a:t> hívnak.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Engem Tóth Tamás-</a:t>
            </a:r>
            <a:r>
              <a:rPr lang="hu-HU" dirty="0" err="1"/>
              <a:t>nak</a:t>
            </a:r>
            <a:r>
              <a:rPr lang="hu-HU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Ebben az előadásban közösen mutatjuk be a vizsgaremek projektünket.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A projektünk címe: </a:t>
            </a:r>
            <a:r>
              <a:rPr lang="hu-HU" dirty="0" err="1"/>
              <a:t>EseményTér</a:t>
            </a: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projekt témaválasztásának oka egy valós, mindennapi probléma volt az iskolai működésben.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kommunikáció és az események kezelése több külön felületen történt, ami nehezen átláthatóvá tette a folyamatokat.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ad választ az </a:t>
            </a:r>
            <a:r>
              <a:rPr lang="hu-HU" dirty="0" err="1"/>
              <a:t>EseményTér</a:t>
            </a:r>
            <a:r>
              <a:rPr lang="hu-HU" dirty="0"/>
              <a:t>: egy egységes webes rendszer, ahol központilag kezelhetők az események és a kapcsolódó információk.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Így a kommunikáció gyorsabb, a folyamatok követhetőbbek, és minden szereplő ugyanazon rendszerben dolgozik.</a:t>
            </a:r>
            <a:endParaRPr dirty="0"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  <a:br>
              <a:rPr lang="hu-HU" dirty="0"/>
            </a:br>
            <a:r>
              <a:rPr lang="hu-HU" dirty="0"/>
              <a:t>A rendszer alapját a felhasználói belépési és profilfunkciók adják, vagyis a regisztráció, a bejelentkezés és a szerepkör kezelés.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épülnek rá a mindennapi használathoz szükséges funkciók.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fő modulok közé tartozik az események böngészése, létrehozása és kezelése, valamint az intézmények és osztályok adminisztrációja.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Emellett a rendszer kezeli a csatlakozási kérelmeket is, így a jogosultságok és tagságok folyamata is egy helyen történik.</a:t>
            </a:r>
            <a:endParaRPr dirty="0"/>
          </a:p>
        </p:txBody>
      </p:sp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rendszerünk három fő rétegből épül fel: frontendből, backendből és adatbázisból.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kliensalkalmazás, ezen keresztül éri el és használja a felhasználó a funkciókat.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történik a felület megjelenítése, az űrlapkezelés és a felhasználói műveletek indítása.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háttérlogikát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12 alapú REST API biztosítja, amely kezeli az üzleti folyamatokat és a jogosultságokat.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adatok tárolása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MySQL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adatbázisban történik.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és a backend HTTP API-hívásokkal kommunikál, így a két réteg egymástól függetlenül fejleszthető és könnyen bővíthető.</a:t>
            </a:r>
            <a:endParaRPr dirty="0"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frontendünk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SPA, ahol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navigációval kezeljük az oldalak közötti váltást.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felület komponensalapúan épül fel, funkciók szerint csoportosítva, ezért jól átlátható és bővíthető.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dashboard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szerepkör szerint jelenik meg, így a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eltérő nézetet kap.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állapotkezelés böngésző-tárolóval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tokenes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hitelesítéssel történik, a felhasználói visszajelzéseket pedig egységes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toast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értesítési rendszer biztosítja..</a:t>
            </a:r>
            <a:endParaRPr dirty="0"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a backendünk réteges felépítése látható.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API/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routing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fogadja és irányítja a kéréseket.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kezelik 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requesteket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majd a service rétegben fut az üzleti logika.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modellek és az adatkezelés az adatbázis-műveletekért és relációkért felelnek.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infrastruktúra réteg pedig 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-t,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autentikációt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és rendszer szintű működést biztosítja.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struktúra átlátható, jól bővíthető és stabil működést ad.</a:t>
            </a:r>
            <a:endParaRPr dirty="0"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8C01DFBA-FAA2-DD3F-8AEB-75C6C8569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>
            <a:extLst>
              <a:ext uri="{FF2B5EF4-FFF2-40B4-BE49-F238E27FC236}">
                <a16:creationId xmlns:a16="http://schemas.microsoft.com/office/drawing/2014/main" id="{C3A81FB4-E590-BCD8-2560-67A910175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a backend belépési pontjai.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érkeznek be az API kérések, itt történik az adatok ellenőrzése, majd a kérés továbbadása az üzleti logikának.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feladata az is, hogy egységes, jól kezelhető JSON válaszokat adjanak a frontendnek.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Mivel a rendszer szerepkör-alapú, a kontrollerek figyelembe veszik, hogy diák, tanár vagy adminisztrátor használja a funkciót.</a:t>
            </a:r>
            <a:endParaRPr dirty="0"/>
          </a:p>
        </p:txBody>
      </p:sp>
      <p:sp>
        <p:nvSpPr>
          <p:cNvPr id="122" name="Google Shape;122;p5:notes">
            <a:extLst>
              <a:ext uri="{FF2B5EF4-FFF2-40B4-BE49-F238E27FC236}">
                <a16:creationId xmlns:a16="http://schemas.microsoft.com/office/drawing/2014/main" id="{9EF0938B-0088-7C27-9A33-B5412EA5AE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2021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 biztonságát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hitelesítés adja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Sanctummal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védett API végpontokat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ellenőrzi, ezért csak hitelesített felhasználók érhetik 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Erre épül a szerepkör-alapú hozzáférés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szintekkel.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kritikus műveletek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jogosultsághoz kötöttek, a regisztrációt pedig email-verifikáció védi.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>
          <a:extLst>
            <a:ext uri="{FF2B5EF4-FFF2-40B4-BE49-F238E27FC236}">
              <a16:creationId xmlns:a16="http://schemas.microsoft.com/office/drawing/2014/main" id="{055D3378-106D-2E2B-631D-F0D205853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>
            <a:extLst>
              <a:ext uri="{FF2B5EF4-FFF2-40B4-BE49-F238E27FC236}">
                <a16:creationId xmlns:a16="http://schemas.microsoft.com/office/drawing/2014/main" id="{3B9BC4D0-5513-84DB-846C-7D8B0B648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Az oldalunk teljes mértékben reszponzív, azaz bármilyen mobileszközön használva is teljes mértékben a maximális élményt nyújtja.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Ezáltal a felület kezelése nincsen asztali számítógéphez kötve, bármikor kitudjuk használni bármely funkcióját az oldalnak.</a:t>
            </a:r>
            <a:endParaRPr dirty="0"/>
          </a:p>
        </p:txBody>
      </p:sp>
      <p:sp>
        <p:nvSpPr>
          <p:cNvPr id="162" name="Google Shape;162;p9:notes">
            <a:extLst>
              <a:ext uri="{FF2B5EF4-FFF2-40B4-BE49-F238E27FC236}">
                <a16:creationId xmlns:a16="http://schemas.microsoft.com/office/drawing/2014/main" id="{753B8D68-A1F8-22AF-5D25-7D41DF8FA6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0501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tesztelést két oldalon végeztük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Frontend oldalon automatizált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tesztekkel ellenőriztük a fő funkciókat.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Backend oldalon pedig Postman segítségével vizsgáltuk az API végpontokat.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Azt kiemelném, hogy nem csak pozitív, de negatív 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eseteket is teszteltünk, hogy minél stabilabb legyen a rendszer.</a:t>
            </a:r>
            <a:endParaRPr dirty="0"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során a csapatmunkát több eszközzel támogattuk.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Napi kommunikációra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Discordot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használtunk, a fejlesztési feladatokat GitHubon, külön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branchekben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kezeltük.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közös megtervezések Google Drive-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a felületterveket pedig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Figma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segítségével egyeztettük.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Ennek köszönhetően mindkettőnk pontosan látta a saját feladatait, és a munka jól szervezetten, párhuzamosan tudott haladni.</a:t>
            </a:r>
            <a:endParaRPr dirty="0"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következő lépéseit három fő irányban látjuk.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első a mobilos alkalmazás, hogy a felhasználók gyorsabban és kényelmesebben, bárhonnan elérjék az eseményeket.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második az értesítőrendszer, amivel automatikusan tudjuk jelezni az új eseményeket, határidőket és fontos változásokat.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harmadik az online vásárlást, intézményi előfizetésként képzeljük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iskolák éves bérletet vásárolhatnak, ami prémium funkciókat ad.</a:t>
            </a:r>
            <a:endParaRPr dirty="0"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u-HU" dirty="0"/>
              <a:t>Tomi:</a:t>
            </a: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is our home page. From here, users can either register or log in.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 create an account, users enter their name, email address, and password. After registration, the system sends a verification code by email. Once the account is confirmed, the user is redirected to the dashboard.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today’s presentation, we log in with a pre-created demo account.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logging in, the user is also redirected to the dashboard.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 the dashboard, users choose a role: student, teacher, or administrator.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 this demo, we continue with the administrator role.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that, users select their location step by step, and the system displays the schools available in the selected city.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Students and teachers can apply to join a school. Their request remains pending until an administrator approves it.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administrator flow is slightly different: administrators can register a new institution by entering the basic details, then handle incoming requests and assign users to classes.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approval, users can access the main platform features.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hu-HU" dirty="0"/>
              <a:t>Samu:</a:t>
            </a: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the Events section, users can view the events relevant to them.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They can filter by type, for example local or global, and by status, for example active or closed events.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They can also sort the list and switch to calendar view.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opening an event, users can see all key details and decide whether to participate.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They can also vote, comment, and save events as favorites.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the student view, this part looks almost the same, but with fewer administrative actions.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 event creation, teachers and administrators can create school-level events.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However, global events that affect multiple schools can only be created by administrators.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 global events, the administrator selects the target areas or schools, fills in the details, and submits the event.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that, local school administrators can accept or reject it.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 school-level events, the target group can be defined precisely: for example a specific class, a full grade level, or the entire school.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platform also supports recurring weekly events.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this case, users set the day, start time, duration, and date range, and the system automatically creates all sessions.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Finally, on the Profile page, users can view their personal information.</a:t>
            </a:r>
          </a:p>
          <a:p>
            <a:pPr marL="158750" indent="0">
              <a:buNone/>
            </a:pPr>
            <a:endParaRPr lang="hu-HU" dirty="0"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mbria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EseményTér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Készítették: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Nagy Levéd Sámuel, Tóth Tamás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328DACF-C190-D603-12FE-F12ED351F0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5" b="55"/>
          <a:stretch/>
        </p:blipFill>
        <p:spPr>
          <a:xfrm>
            <a:off x="4669781" y="-105728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25;p5">
            <a:extLst>
              <a:ext uri="{FF2B5EF4-FFF2-40B4-BE49-F238E27FC236}">
                <a16:creationId xmlns:a16="http://schemas.microsoft.com/office/drawing/2014/main" id="{6F45A2C4-DC8B-0FF2-B751-05BC7B478441}"/>
              </a:ext>
            </a:extLst>
          </p:cNvPr>
          <p:cNvSpPr/>
          <p:nvPr/>
        </p:nvSpPr>
        <p:spPr>
          <a:xfrm>
            <a:off x="7667808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25;p5">
            <a:extLst>
              <a:ext uri="{FF2B5EF4-FFF2-40B4-BE49-F238E27FC236}">
                <a16:creationId xmlns:a16="http://schemas.microsoft.com/office/drawing/2014/main" id="{728FC3E7-18EE-112C-88DD-42D924B448DE}"/>
              </a:ext>
            </a:extLst>
          </p:cNvPr>
          <p:cNvSpPr/>
          <p:nvPr/>
        </p:nvSpPr>
        <p:spPr>
          <a:xfrm>
            <a:off x="708817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38;p6">
            <a:extLst>
              <a:ext uri="{FF2B5EF4-FFF2-40B4-BE49-F238E27FC236}">
                <a16:creationId xmlns:a16="http://schemas.microsoft.com/office/drawing/2014/main" id="{C4526191-E079-ECAD-7FB7-CB581B5F7FFD}"/>
              </a:ext>
            </a:extLst>
          </p:cNvPr>
          <p:cNvSpPr/>
          <p:nvPr/>
        </p:nvSpPr>
        <p:spPr>
          <a:xfrm>
            <a:off x="1626101" y="1576108"/>
            <a:ext cx="8939798" cy="1723077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Probléma és Megoldás</a:t>
            </a:r>
            <a:endParaRPr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B9244666-2797-0A92-D938-9CAC12D9EB31}"/>
              </a:ext>
            </a:extLst>
          </p:cNvPr>
          <p:cNvSpPr txBox="1"/>
          <p:nvPr/>
        </p:nvSpPr>
        <p:spPr>
          <a:xfrm>
            <a:off x="867791" y="3695963"/>
            <a:ext cx="33334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Probléma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széttagolt kommunikáció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több külön platform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nehézkes eseménykezelés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információk nehéz követése</a:t>
            </a:r>
            <a:endParaRPr lang="hu-HU" sz="2000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478AAD97-7AA0-25DC-DE15-591AEFA381D6}"/>
              </a:ext>
            </a:extLst>
          </p:cNvPr>
          <p:cNvSpPr txBox="1"/>
          <p:nvPr/>
        </p:nvSpPr>
        <p:spPr>
          <a:xfrm>
            <a:off x="7385588" y="3758079"/>
            <a:ext cx="42158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Megoldás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egységes webes rendszer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központi eseménykezelés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egyszerűbb kommunikáció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átlátható információk</a:t>
            </a:r>
            <a:endParaRPr lang="hu-HU" sz="2000" dirty="0"/>
          </a:p>
          <a:p>
            <a:endParaRPr lang="hu-HU" sz="2000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E2F355FB-4B84-7D47-6AF2-8FD42995F575}"/>
              </a:ext>
            </a:extLst>
          </p:cNvPr>
          <p:cNvSpPr txBox="1"/>
          <p:nvPr/>
        </p:nvSpPr>
        <p:spPr>
          <a:xfrm>
            <a:off x="1963825" y="2035002"/>
            <a:ext cx="9008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Cél: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 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Cambria"/>
                <a:sym typeface="Cambria"/>
              </a:rPr>
              <a:t>A tanárok és diákok közötti kommunikáció egyszerűsítése, valamint az iskolai események központi és átlátható kezelése egy rendszerben.</a:t>
            </a:r>
            <a:endParaRPr lang="hu-HU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hu-HU" dirty="0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B0E1AE6A-30E4-25BA-E263-09D543E67A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7;p9">
            <a:extLst>
              <a:ext uri="{FF2B5EF4-FFF2-40B4-BE49-F238E27FC236}">
                <a16:creationId xmlns:a16="http://schemas.microsoft.com/office/drawing/2014/main" id="{57801444-2324-3ADF-5DCA-2533CC8DF37E}"/>
              </a:ext>
            </a:extLst>
          </p:cNvPr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67;p9">
            <a:extLst>
              <a:ext uri="{FF2B5EF4-FFF2-40B4-BE49-F238E27FC236}">
                <a16:creationId xmlns:a16="http://schemas.microsoft.com/office/drawing/2014/main" id="{163E3D33-F746-2664-41C5-8B2E84F2837E}"/>
              </a:ext>
            </a:extLst>
          </p:cNvPr>
          <p:cNvSpPr/>
          <p:nvPr/>
        </p:nvSpPr>
        <p:spPr>
          <a:xfrm>
            <a:off x="-1113506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690452" y="2434975"/>
            <a:ext cx="3059615" cy="1623317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A projekt fő funkciói</a:t>
            </a:r>
            <a:endParaRPr dirty="0"/>
          </a:p>
        </p:txBody>
      </p:sp>
      <p:sp>
        <p:nvSpPr>
          <p:cNvPr id="106" name="Google Shape;106;p3"/>
          <p:cNvSpPr txBox="1"/>
          <p:nvPr/>
        </p:nvSpPr>
        <p:spPr>
          <a:xfrm>
            <a:off x="1498862" y="2794571"/>
            <a:ext cx="1573111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Regisztráció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Bejelentkezés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Profilkezelés</a:t>
            </a: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7947643" y="2724225"/>
            <a:ext cx="3553905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böngészése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létrehozása és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Intézmények és osztályok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Jelentkezési kérelmek kezelése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81E4B4F-78E5-5BEA-E4F3-BDFB2C78B2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 rot="5400000">
            <a:off x="4237613" y="-6392525"/>
            <a:ext cx="3492600" cy="141567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rendszer felépítése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1291472" y="2432115"/>
            <a:ext cx="48045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Frontend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alapú kliensalkalmazás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Backend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12 REST API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Adatbázis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MySQL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Kommunikáció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HTTP API hívások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Előny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 frontend és backend külön fejleszthető, bővíthető</a:t>
            </a:r>
            <a:endParaRPr dirty="0"/>
          </a:p>
        </p:txBody>
      </p:sp>
      <p:pic>
        <p:nvPicPr>
          <p:cNvPr id="117" name="Google Shape;11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882" y="2551650"/>
            <a:ext cx="4180341" cy="17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916881">
            <a:off x="5967247" y="3409924"/>
            <a:ext cx="1970576" cy="205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6075" y="3624840"/>
            <a:ext cx="3550444" cy="23663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CE37B5BB-7703-FB12-0FE0-1F492C9592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"/>
          <p:cNvSpPr/>
          <p:nvPr/>
        </p:nvSpPr>
        <p:spPr>
          <a:xfrm rot="5400000">
            <a:off x="-1468870" y="1124578"/>
            <a:ext cx="3492600" cy="52929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Frontend</a:t>
            </a:r>
            <a:endParaRPr dirty="0"/>
          </a:p>
        </p:txBody>
      </p:sp>
      <p:sp>
        <p:nvSpPr>
          <p:cNvPr id="149" name="Google Shape;149;p7"/>
          <p:cNvSpPr txBox="1"/>
          <p:nvPr/>
        </p:nvSpPr>
        <p:spPr>
          <a:xfrm>
            <a:off x="872762" y="2472571"/>
            <a:ext cx="65097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SPA,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800" dirty="0">
                <a:solidFill>
                  <a:schemeClr val="dk1"/>
                </a:solidFill>
              </a:rPr>
              <a:t>-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alapú navigáció</a:t>
            </a: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Komponensalapú felépítés, funkciók szerint csoportosítva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Szerepkör alapú irányítópultok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Állapotkezelés böngésző tárolóval és </a:t>
            </a:r>
            <a:r>
              <a:rPr lang="hu-HU" sz="1800" dirty="0" err="1">
                <a:solidFill>
                  <a:schemeClr val="dk1"/>
                </a:solidFill>
              </a:rPr>
              <a:t>tokenes</a:t>
            </a:r>
            <a:r>
              <a:rPr lang="hu-HU" sz="1800" dirty="0">
                <a:solidFill>
                  <a:schemeClr val="dk1"/>
                </a:solidFill>
              </a:rPr>
              <a:t> hitelesítéssel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Egységes értesítési rendszer (</a:t>
            </a:r>
            <a:r>
              <a:rPr lang="hu-HU" sz="1800" dirty="0" err="1"/>
              <a:t>toastok</a:t>
            </a:r>
            <a:r>
              <a:rPr lang="hu-HU" sz="1800" dirty="0"/>
              <a:t>)</a:t>
            </a: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F97EB40-BCA8-156B-ADB7-A400002E53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369E2F3D-E7E9-5259-2122-96AE26EF1D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6345" y="262104"/>
            <a:ext cx="2852432" cy="65187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421030" y="1871108"/>
            <a:ext cx="6190671" cy="419496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Backend architektúra</a:t>
            </a:r>
            <a:endParaRPr dirty="0"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3615821A-0B5A-AFA2-70D0-BB28F94FB7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1A182C00-DF9A-595F-45C3-1B92870DB267}"/>
              </a:ext>
            </a:extLst>
          </p:cNvPr>
          <p:cNvSpPr txBox="1"/>
          <p:nvPr/>
        </p:nvSpPr>
        <p:spPr>
          <a:xfrm>
            <a:off x="1292528" y="2531736"/>
            <a:ext cx="563435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API / </a:t>
            </a:r>
            <a:r>
              <a:rPr lang="hu-HU" sz="1800" dirty="0" err="1"/>
              <a:t>Routing</a:t>
            </a:r>
            <a:r>
              <a:rPr lang="hu-HU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Controller</a:t>
            </a: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Model</a:t>
            </a:r>
            <a:r>
              <a:rPr lang="hu-HU" sz="1800" dirty="0"/>
              <a:t> + adatkezelés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Infrastruktúra (</a:t>
            </a:r>
            <a:r>
              <a:rPr lang="hu-HU" sz="1800" dirty="0" err="1"/>
              <a:t>middleware</a:t>
            </a:r>
            <a:r>
              <a:rPr lang="hu-HU" sz="1800" dirty="0"/>
              <a:t>, </a:t>
            </a:r>
            <a:r>
              <a:rPr lang="hu-HU" sz="1800" dirty="0" err="1"/>
              <a:t>auth</a:t>
            </a:r>
            <a:r>
              <a:rPr lang="hu-HU" sz="1800" dirty="0"/>
              <a:t>, stb.)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2ECEB9B-A547-C71D-4219-18C3117363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050" y="824003"/>
            <a:ext cx="2669037" cy="57774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>
          <a:extLst>
            <a:ext uri="{FF2B5EF4-FFF2-40B4-BE49-F238E27FC236}">
              <a16:creationId xmlns:a16="http://schemas.microsoft.com/office/drawing/2014/main" id="{89CDD949-1624-D715-4274-70BF1D69E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>
            <a:extLst>
              <a:ext uri="{FF2B5EF4-FFF2-40B4-BE49-F238E27FC236}">
                <a16:creationId xmlns:a16="http://schemas.microsoft.com/office/drawing/2014/main" id="{8C811668-B0F4-F47B-B18A-FBEF94CE94E7}"/>
              </a:ext>
            </a:extLst>
          </p:cNvPr>
          <p:cNvSpPr/>
          <p:nvPr/>
        </p:nvSpPr>
        <p:spPr>
          <a:xfrm>
            <a:off x="5401340" y="1695157"/>
            <a:ext cx="6579804" cy="4486486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FD3525F-9239-F39B-02A8-B12202CFE55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Kontrollerek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66B6417-0E38-F43A-3A77-709C67B4E2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D9B7A07A-2D6A-1984-F4A7-476723F6C2A3}"/>
              </a:ext>
            </a:extLst>
          </p:cNvPr>
          <p:cNvSpPr txBox="1"/>
          <p:nvPr/>
        </p:nvSpPr>
        <p:spPr>
          <a:xfrm>
            <a:off x="6095998" y="2472572"/>
            <a:ext cx="563435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 </a:t>
            </a:r>
            <a:r>
              <a:rPr lang="hu-HU" sz="1800" dirty="0" err="1"/>
              <a:t>kontreollerek</a:t>
            </a:r>
            <a:r>
              <a:rPr lang="hu-HU" sz="1800" dirty="0"/>
              <a:t> fogadják az API kéréseket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Validálják</a:t>
            </a:r>
            <a:r>
              <a:rPr lang="hu-HU" sz="1800" dirty="0"/>
              <a:t> a bejövő adatokat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Meghívják a megfelelő service / </a:t>
            </a:r>
            <a:r>
              <a:rPr lang="hu-HU" sz="1800" dirty="0" err="1"/>
              <a:t>model</a:t>
            </a:r>
            <a:r>
              <a:rPr lang="hu-HU" sz="1800" dirty="0"/>
              <a:t> logikát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Egységes JSON választ adnak vissza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Szerepkör és jogosultság alapján eltérő működést kezelnek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BED8106-2703-BE1C-9D9F-D960A9244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66" y="2247477"/>
            <a:ext cx="3915321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026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/>
          <p:nvPr/>
        </p:nvSpPr>
        <p:spPr>
          <a:xfrm>
            <a:off x="2729700" y="111225"/>
            <a:ext cx="6732600" cy="1638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600" cy="8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Jogosultság és biztonság</a:t>
            </a:r>
            <a:endParaRPr dirty="0"/>
          </a:p>
        </p:txBody>
      </p:sp>
      <p:sp>
        <p:nvSpPr>
          <p:cNvPr id="141" name="Google Shape;141;p6"/>
          <p:cNvSpPr txBox="1"/>
          <p:nvPr/>
        </p:nvSpPr>
        <p:spPr>
          <a:xfrm>
            <a:off x="1291479" y="2404683"/>
            <a:ext cx="45240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alapú hitelesítés (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Sanctum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Védett API végpontok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Szerepkör-alapú hozzáférés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jogosultsághoz kötött műveletek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Email-verifikáció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890362" y="2163226"/>
            <a:ext cx="34290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Szerepkörök:</a:t>
            </a:r>
            <a:endParaRPr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Diák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Tanár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 err="1">
                <a:solidFill>
                  <a:schemeClr val="dk1"/>
                </a:solidFill>
              </a:rPr>
              <a:t>Admin</a:t>
            </a:r>
            <a:endParaRPr sz="1800" b="1" dirty="0">
              <a:solidFill>
                <a:schemeClr val="dk1"/>
              </a:solidFill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C16AE64D-33DD-F020-DFA3-E586274913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D0611A6-D8E8-24E8-923A-EAFFF7F09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3110" y="4694774"/>
            <a:ext cx="6079512" cy="16383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Adatmodell</a:t>
            </a:r>
            <a:endParaRPr/>
          </a:p>
        </p:txBody>
      </p:sp>
      <p:sp>
        <p:nvSpPr>
          <p:cNvPr id="166" name="Google Shape;166;p9"/>
          <p:cNvSpPr txBox="1"/>
          <p:nvPr/>
        </p:nvSpPr>
        <p:spPr>
          <a:xfrm>
            <a:off x="1558873" y="1720491"/>
            <a:ext cx="7767600" cy="341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Fő entitások: felhasználók, intézmények, osztályok, események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Kapcsolatok: tagságok, kérelmek, esemény-interakciók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Relációs modell biztosítja az adatok konzisztenciáját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Kulcsfontosságú cél: adatintegritás és visszakövethetőség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Bővíthető struktúra új funkciókhoz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26ABEE9A-C9D5-0750-497F-3E38C12853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>
          <a:extLst>
            <a:ext uri="{FF2B5EF4-FFF2-40B4-BE49-F238E27FC236}">
              <a16:creationId xmlns:a16="http://schemas.microsoft.com/office/drawing/2014/main" id="{9FD071AA-436D-971A-A541-D08A464CA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>
            <a:extLst>
              <a:ext uri="{FF2B5EF4-FFF2-40B4-BE49-F238E27FC236}">
                <a16:creationId xmlns:a16="http://schemas.microsoft.com/office/drawing/2014/main" id="{570EDD70-0BDF-CEC5-2C59-32C50CD8E3B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 err="1">
                <a:latin typeface="Cambria" panose="02040503050406030204" pitchFamily="18" charset="0"/>
                <a:ea typeface="Cambria" panose="02040503050406030204" pitchFamily="18" charset="0"/>
              </a:rPr>
              <a:t>Reszponzivitás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6" name="Google Shape;166;p9">
            <a:extLst>
              <a:ext uri="{FF2B5EF4-FFF2-40B4-BE49-F238E27FC236}">
                <a16:creationId xmlns:a16="http://schemas.microsoft.com/office/drawing/2014/main" id="{9474E5A6-E23B-DABB-5990-92CEA2EE42DD}"/>
              </a:ext>
            </a:extLst>
          </p:cNvPr>
          <p:cNvSpPr txBox="1"/>
          <p:nvPr/>
        </p:nvSpPr>
        <p:spPr>
          <a:xfrm>
            <a:off x="389240" y="2268714"/>
            <a:ext cx="77676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hu-HU" sz="1800" dirty="0"/>
              <a:t>Reszponzív felület asztali, tablet és mobil nézetre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Rugalmas elrendezés (kártyák, listák, menük igazodnak a kijelzőhöz)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Olvasható betűméret és jól kezelhető gombok kisebb kijelzőn is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Fő funkciók minden nézetben elérhetők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ADDCDEC-1DC4-5524-2DCA-9EB04EF608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7C76B75-C4A7-F786-8BD9-C2B96D12B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9421" y="1335733"/>
            <a:ext cx="2581639" cy="458881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27568F30-6AA1-5E0A-7D41-3F9E2278A3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409" y="3429000"/>
            <a:ext cx="2275771" cy="334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85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-2850775" y="5134425"/>
            <a:ext cx="13068000" cy="34605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Tesztelés</a:t>
            </a:r>
            <a:endParaRPr dirty="0"/>
          </a:p>
        </p:txBody>
      </p:sp>
      <p:sp>
        <p:nvSpPr>
          <p:cNvPr id="175" name="Google Shape;175;p10"/>
          <p:cNvSpPr txBox="1"/>
          <p:nvPr/>
        </p:nvSpPr>
        <p:spPr>
          <a:xfrm>
            <a:off x="1520079" y="2274600"/>
            <a:ext cx="67779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Frontend: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tesztek pozitív és negatív tesztek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Backend: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tesztelés Postmannel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Pozitív és negatív esetek ellenőrzése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stabil működés és hibák korai kiszűrése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02D68B3B-2132-2F6A-4985-5A1B54A7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BE8C11D-ABCB-AD67-494E-6C26538EC1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89371" y="3857626"/>
            <a:ext cx="1829864" cy="182986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986AE4E-E05B-3DF2-C1AB-9899B9A827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89371" y="1538070"/>
            <a:ext cx="1670573" cy="1892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/>
          </a:p>
        </p:txBody>
      </p:sp>
      <p:sp>
        <p:nvSpPr>
          <p:cNvPr id="181" name="Google Shape;181;p11"/>
          <p:cNvSpPr txBox="1"/>
          <p:nvPr/>
        </p:nvSpPr>
        <p:spPr>
          <a:xfrm>
            <a:off x="1235026" y="2149950"/>
            <a:ext cx="5394374" cy="196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Kommunikáció: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Discord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Megosztott munka: GitHub, Google</a:t>
            </a:r>
            <a:r>
              <a:rPr lang="hu-HU" sz="1800" dirty="0">
                <a:solidFill>
                  <a:schemeClr val="dk1"/>
                </a:solidFill>
              </a:rPr>
              <a:t>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Drive,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Figma</a:t>
            </a:r>
            <a:endParaRPr lang="hu-HU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</a:rPr>
              <a:t>Feladatmegosztás: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Nagy </a:t>
            </a:r>
            <a:r>
              <a:rPr lang="hu-HU" sz="1800" dirty="0" err="1">
                <a:solidFill>
                  <a:schemeClr val="dk1"/>
                </a:solidFill>
              </a:rPr>
              <a:t>Levéd</a:t>
            </a:r>
            <a:r>
              <a:rPr lang="hu-HU" sz="1800" dirty="0">
                <a:solidFill>
                  <a:schemeClr val="dk1"/>
                </a:solidFill>
              </a:rPr>
              <a:t> Sámuel – Frontend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Tóth Tamás - Backend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185" name="Google Shape;185;p11"/>
          <p:cNvSpPr/>
          <p:nvPr/>
        </p:nvSpPr>
        <p:spPr>
          <a:xfrm>
            <a:off x="-1795175" y="423432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"/>
          <p:cNvSpPr/>
          <p:nvPr/>
        </p:nvSpPr>
        <p:spPr>
          <a:xfrm rot="-5400000">
            <a:off x="10310175" y="-2299450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2FD08B5-7A42-9156-76EE-A85EACDFFE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45" b="345"/>
          <a:stretch/>
        </p:blipFill>
        <p:spPr>
          <a:xfrm>
            <a:off x="8565083" y="1556073"/>
            <a:ext cx="2696838" cy="267825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3ACE7F7-D201-D52C-68D5-69DA9EE253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70896" y="4174295"/>
            <a:ext cx="1998785" cy="199878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77C569F-51E7-248F-140C-C2C7D950D8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38052" y="3467013"/>
            <a:ext cx="1534624" cy="1534624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3D3B566-02E0-8135-75EC-6F16C95533D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38343" y="4502750"/>
            <a:ext cx="2143125" cy="2143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5D502B9-1114-96F0-137A-8AF8CA806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5451" y="363285"/>
            <a:ext cx="2113472" cy="4167199"/>
          </a:xfrm>
          <a:prstGeom prst="rect">
            <a:avLst/>
          </a:prstGeom>
        </p:spPr>
      </p:pic>
      <p:sp>
        <p:nvSpPr>
          <p:cNvPr id="2" name="Google Shape;185;p11">
            <a:extLst>
              <a:ext uri="{FF2B5EF4-FFF2-40B4-BE49-F238E27FC236}">
                <a16:creationId xmlns:a16="http://schemas.microsoft.com/office/drawing/2014/main" id="{59FB9058-B16B-62FF-42D3-15B1E3A50903}"/>
              </a:ext>
            </a:extLst>
          </p:cNvPr>
          <p:cNvSpPr/>
          <p:nvPr/>
        </p:nvSpPr>
        <p:spPr>
          <a:xfrm>
            <a:off x="10445700" y="426585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86;p11">
            <a:extLst>
              <a:ext uri="{FF2B5EF4-FFF2-40B4-BE49-F238E27FC236}">
                <a16:creationId xmlns:a16="http://schemas.microsoft.com/office/drawing/2014/main" id="{7A225262-4330-5433-DFC6-8966CB87C205}"/>
              </a:ext>
            </a:extLst>
          </p:cNvPr>
          <p:cNvSpPr/>
          <p:nvPr/>
        </p:nvSpPr>
        <p:spPr>
          <a:xfrm rot="-5400000">
            <a:off x="-1598046" y="-2278429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2"/>
          <p:cNvSpPr txBox="1">
            <a:spLocks noGrp="1"/>
          </p:cNvSpPr>
          <p:nvPr>
            <p:ph type="ctrTitle"/>
          </p:nvPr>
        </p:nvSpPr>
        <p:spPr>
          <a:xfrm>
            <a:off x="430975" y="504378"/>
            <a:ext cx="7864614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Továbbfejlesztési lehetőségek</a:t>
            </a:r>
            <a:endParaRPr sz="4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E884CCC8-F38A-918E-2031-3A469699B264}"/>
              </a:ext>
            </a:extLst>
          </p:cNvPr>
          <p:cNvSpPr/>
          <p:nvPr/>
        </p:nvSpPr>
        <p:spPr>
          <a:xfrm>
            <a:off x="621323" y="2446885"/>
            <a:ext cx="5154930" cy="268605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139700" dist="50800" dir="540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5070E45E-AE58-19F9-F366-069C291D09D9}"/>
              </a:ext>
            </a:extLst>
          </p:cNvPr>
          <p:cNvSpPr txBox="1"/>
          <p:nvPr/>
        </p:nvSpPr>
        <p:spPr>
          <a:xfrm>
            <a:off x="727852" y="2810263"/>
            <a:ext cx="5036393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Mobilos alkalmazás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Értesítő rendszer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Online vásárlás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B18EEF8-EFE1-B675-104E-DC6B6D2D4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730" y="4717636"/>
            <a:ext cx="3603423" cy="10002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0090FA25-CD5A-C010-3B50-EEB51A3D6401}"/>
              </a:ext>
            </a:extLst>
          </p:cNvPr>
          <p:cNvSpPr/>
          <p:nvPr/>
        </p:nvSpPr>
        <p:spPr>
          <a:xfrm rot="16200000">
            <a:off x="485515" y="-674370"/>
            <a:ext cx="4227151" cy="28326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96" name="Google Shape;196;p13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Demó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hu-HU" sz="5400" b="1" i="1">
                <a:latin typeface="Cambria"/>
                <a:ea typeface="Cambria"/>
                <a:cs typeface="Cambria"/>
                <a:sym typeface="Cambria"/>
              </a:rPr>
              <a:t>Köszönjük a figyelmüket!</a:t>
            </a:r>
            <a:endParaRPr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ADB9E7F-9F4E-0597-96C3-8F07F13D9B34}"/>
              </a:ext>
            </a:extLst>
          </p:cNvPr>
          <p:cNvSpPr txBox="1"/>
          <p:nvPr/>
        </p:nvSpPr>
        <p:spPr>
          <a:xfrm>
            <a:off x="0" y="5380672"/>
            <a:ext cx="30434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Források: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http://www.chatgpt.com/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http://www.github.com/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http://www.figma.com/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http://www.drive.google.com/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https://discord.com/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672</TotalTime>
  <Words>1612</Words>
  <Application>Microsoft Office PowerPoint</Application>
  <PresentationFormat>Szélesvásznú</PresentationFormat>
  <Paragraphs>203</Paragraphs>
  <Slides>15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Times New Roman</vt:lpstr>
      <vt:lpstr>Play</vt:lpstr>
      <vt:lpstr>Arial</vt:lpstr>
      <vt:lpstr>Cambria</vt:lpstr>
      <vt:lpstr>Courier New</vt:lpstr>
      <vt:lpstr>Office-téma</vt:lpstr>
      <vt:lpstr>EseményTér</vt:lpstr>
      <vt:lpstr>Probléma és Megoldás</vt:lpstr>
      <vt:lpstr>A projekt fő funkciói</vt:lpstr>
      <vt:lpstr>A rendszer felépítése</vt:lpstr>
      <vt:lpstr>Frontend</vt:lpstr>
      <vt:lpstr>Backend architektúra</vt:lpstr>
      <vt:lpstr>Kontrollerek</vt:lpstr>
      <vt:lpstr>Jogosultság és biztonság</vt:lpstr>
      <vt:lpstr>Adatmodell</vt:lpstr>
      <vt:lpstr>Reszponzivitás</vt:lpstr>
      <vt:lpstr>Tesztelés</vt:lpstr>
      <vt:lpstr>Csapatmunka</vt:lpstr>
      <vt:lpstr>Továbbfejlesztési lehetőségek</vt:lpstr>
      <vt:lpstr>Demó</vt:lpstr>
      <vt:lpstr>Köszönjük a figyelmüket!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O365 felhasználó</dc:creator>
  <cp:lastModifiedBy>O365 felhasználó</cp:lastModifiedBy>
  <cp:revision>17</cp:revision>
  <dcterms:created xsi:type="dcterms:W3CDTF">2026-03-04T16:50:56Z</dcterms:created>
  <dcterms:modified xsi:type="dcterms:W3CDTF">2026-03-26T18:45:36Z</dcterms:modified>
</cp:coreProperties>
</file>