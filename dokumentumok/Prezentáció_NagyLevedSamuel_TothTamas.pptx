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2" r:id="rId6"/>
    <p:sldId id="260" r:id="rId7"/>
    <p:sldId id="272" r:id="rId8"/>
    <p:sldId id="261" r:id="rId9"/>
    <p:sldId id="264" r:id="rId10"/>
    <p:sldId id="271" r:id="rId11"/>
    <p:sldId id="265" r:id="rId12"/>
    <p:sldId id="266" r:id="rId13"/>
    <p:sldId id="267" r:id="rId14"/>
    <p:sldId id="268" r:id="rId15"/>
    <p:sldId id="270" r:id="rId16"/>
  </p:sldIdLst>
  <p:sldSz cx="12192000" cy="6858000"/>
  <p:notesSz cx="6858000" cy="9144000"/>
  <p:embeddedFontLst>
    <p:embeddedFont>
      <p:font typeface="Cambria" panose="02040503050406030204" pitchFamily="18" charset="0"/>
      <p:regular r:id="rId18"/>
      <p:bold r:id="rId19"/>
      <p:italic r:id="rId20"/>
      <p:boldItalic r:id="rId21"/>
    </p:embeddedFont>
    <p:embeddedFont>
      <p:font typeface="Play" panose="020B0604020202020204" charset="0"/>
      <p:regular r:id="rId22"/>
      <p:bold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4" roundtripDataSignature="AMtx7mj67VHAuCHlscAUacmt/Mbt/wFF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6AE613-179F-4F3B-B0BF-9CF6581B68B4}">
  <a:tblStyle styleId="{A36AE613-179F-4F3B-B0BF-9CF6581B68B4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tcBdr/>
        <a:fill>
          <a:solidFill>
            <a:srgbClr val="CAD1D8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D1D8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6271" autoAdjust="0"/>
  </p:normalViewPr>
  <p:slideViewPr>
    <p:cSldViewPr snapToGrid="0">
      <p:cViewPr varScale="1">
        <p:scale>
          <a:sx n="84" d="100"/>
          <a:sy n="84" d="100"/>
        </p:scale>
        <p:origin x="1596" y="120"/>
      </p:cViewPr>
      <p:guideLst/>
    </p:cSldViewPr>
  </p:slideViewPr>
  <p:notesTextViewPr>
    <p:cViewPr>
      <p:scale>
        <a:sx n="3" d="2"/>
        <a:sy n="3" d="2"/>
      </p:scale>
      <p:origin x="0" y="-6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search?q=objektum-rel%C3%A1ci%C3%B3s+lek%C3%A9pez%C3%A9s&amp;oq=az+ORM&amp;gs_lcrp=EgZjaHJvbWUyBggAEEUYOTIHCAEQABiABDIHCAIQABiABDIICAMQABgWGB4yCAgEEAAYFhgeMggIBRAAGBYYHjIICAYQABgWGB4yCAgHEAAYFhgeMggICBAAGBYYHjIICAkQABgWGB7SAQc2NjlqMGo3qAIAsAIA&amp;sourceid=chrome&amp;ie=UTF-8&amp;mstk=AUtExfBasRTAhb9fKa1uD141dUceyjxHYePZLhpLbwVbSyMTew7i0DPNyLReI8N2lkPh-upBU6alxJcO5SQKNU3GB3Z6d_PYWBKLQrPrAPOZEBt1uzbHz7c4b75H8Wl_FPB7uDLOptZh4AuM-TXJioEK-5afrZM7xqk4s5gOin-2i5WyRBI&amp;csui=3&amp;ved=2ahUKEwiRiszvyvSTAxXZ5gIHHQJFJpgQgK4QegQIARAD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Jónapot kívánunk!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Engem Nagy </a:t>
            </a:r>
            <a:r>
              <a:rPr lang="hu-HU" dirty="0" err="1"/>
              <a:t>Levéd</a:t>
            </a:r>
            <a:r>
              <a:rPr lang="hu-HU" dirty="0"/>
              <a:t> Sámuel-</a:t>
            </a:r>
            <a:r>
              <a:rPr lang="hu-HU" dirty="0" err="1"/>
              <a:t>nek</a:t>
            </a:r>
            <a:r>
              <a:rPr lang="hu-HU" dirty="0"/>
              <a:t> hívnak.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 Engem Tóth Tamás-</a:t>
            </a:r>
            <a:r>
              <a:rPr lang="hu-HU" dirty="0" err="1"/>
              <a:t>nak</a:t>
            </a:r>
            <a:r>
              <a:rPr lang="hu-HU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Ebben az előadásban közösen mutatjuk be a vizsgaremek projektünket.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 A projektünk címe: </a:t>
            </a:r>
            <a:r>
              <a:rPr lang="hu-HU" dirty="0" err="1"/>
              <a:t>EseményTér</a:t>
            </a: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projekt témaválasztásának oka egy valós, mindennapi probléma volt az iskolai működésben.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kommunikáció és az események kezelése több külön felületen történt, ami nehezen átláthatóvá tette a folyamatokat.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Erre ad választ az </a:t>
            </a:r>
            <a:r>
              <a:rPr lang="hu-HU" dirty="0" err="1"/>
              <a:t>EseményTér</a:t>
            </a:r>
            <a:r>
              <a:rPr lang="hu-HU" dirty="0"/>
              <a:t>: egy egységes webes rendszer, ahol központilag kezelhetők az események és a kapcsolódó információk.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Így a kommunikáció gyorsabb, a folyamatok követhetőbbek, és minden szereplő ugyanazon rendszerben dolgozik.</a:t>
            </a:r>
            <a:endParaRPr dirty="0"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  <a:br>
              <a:rPr lang="hu-HU" dirty="0"/>
            </a:br>
            <a:r>
              <a:rPr lang="hu-HU" dirty="0"/>
              <a:t>A rendszer alapját a felhasználói belépési és profilfunkciók adják, vagyis a regisztráció, a bejelentkezés és a jogosultságkezelés.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Erre épülnek rá a mindennapi használathoz szükséges funkciók.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fő modulok közé tartozik az események böngészése, létrehozása és kezelése, valamint az intézmények és osztályok adminisztrációja.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Emellett a rendszer kezeli a csatlakozási kérelmeket is, így a jogosultságok és tagságok folyamata is egy helyen történik.</a:t>
            </a:r>
            <a:endParaRPr dirty="0"/>
          </a:p>
        </p:txBody>
      </p:sp>
      <p:sp>
        <p:nvSpPr>
          <p:cNvPr id="100" name="Google Shape;10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rendszerünk három fő rétegből épül fel: frontendből, backendből és adatbázisból.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 Vue.js keretrendszerre épül, ezen keresztül éri el és használja a felhasználó a funkciókat.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Itt történik a felület megjelenítése, az űrlapkezelés és a felhasználói műveletek indítása.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háttérlogikát egy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12 alapú REST API biztosítja, amely kezeli az üzleti folyamatokat és a jogosultságokat.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adatok tárolása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MySQL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adatbázisban történik.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 és a backend HTTP API-hívásokkal kommunikál, így a két réteg egymástól függetlenül fejleszthető és könnyen bővíthető.</a:t>
            </a:r>
            <a:endParaRPr dirty="0"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frontendünk egy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3 alapú kliensalkalmazás, ahol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route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alapú navigációval kezeljük az oldalak közötti váltást.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felület komponensalapúan épül fel, funkciók szerint csoportosítva, ezért jól átlátható és bővíthető.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</a:t>
            </a:r>
            <a:r>
              <a:rPr lang="hu-HU" b="0" dirty="0" err="1"/>
              <a:t>Dashboardok</a:t>
            </a:r>
            <a:r>
              <a:rPr lang="hu-HU" dirty="0"/>
              <a:t> szerepkör szerint változnak, így a diákok, tanárok és </a:t>
            </a:r>
            <a:r>
              <a:rPr lang="hu-HU" dirty="0" err="1"/>
              <a:t>adminok</a:t>
            </a:r>
            <a:r>
              <a:rPr lang="hu-HU" dirty="0"/>
              <a:t> eltérő nézetet látnak.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hitelesítés </a:t>
            </a:r>
            <a:r>
              <a:rPr lang="hu-HU" b="0" dirty="0" err="1"/>
              <a:t>tokenes</a:t>
            </a:r>
            <a:r>
              <a:rPr lang="hu-HU" dirty="0"/>
              <a:t> megoldással működik, a visszajelzésekről pedig egy egységes </a:t>
            </a:r>
            <a:r>
              <a:rPr lang="hu-HU" b="0" dirty="0" err="1"/>
              <a:t>toast</a:t>
            </a:r>
            <a:r>
              <a:rPr lang="hu-HU" b="1" dirty="0"/>
              <a:t> </a:t>
            </a:r>
            <a:r>
              <a:rPr lang="hu-HU" b="0" dirty="0"/>
              <a:t>rendszer</a:t>
            </a:r>
            <a:r>
              <a:rPr lang="hu-HU" dirty="0"/>
              <a:t> gondoskodik.</a:t>
            </a:r>
            <a:endParaRPr dirty="0"/>
          </a:p>
        </p:txBody>
      </p:sp>
      <p:sp>
        <p:nvSpPr>
          <p:cNvPr id="145" name="Google Shape;14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backendünk réteges felépítésű, ami átláthatóvá és jól bővíthetővé teszi a rendszert.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routing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réteg a kéréseket a megfelelő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controllerhez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irányítja.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controllerek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végzik a validációt, jogosultság-ellenőrzést, majd kezelik az üzleti folyamatokat.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modellek és az </a:t>
            </a:r>
            <a:r>
              <a:rPr lang="hu-HU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ORM (azaz </a:t>
            </a:r>
            <a:r>
              <a:rPr lang="hu-HU" sz="1100" b="0" i="0" u="sng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  <a:hlinkClick r:id="rId3"/>
              </a:rPr>
              <a:t>objektum-relációs leképezés</a:t>
            </a:r>
            <a:r>
              <a:rPr lang="hu-HU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egy olyan programozási technika, amely lehetővé teszi a fejlesztők számára, hogy az objektumorientált kódban használt objektumokat közvetlenül relációs adatbázisokba) az 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adatbázis-műveleteket és relációkat biztosítják.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middleware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és az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autentikációs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réteg a biztonságos, szerepköralapú hozzáférést adja.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Ez a struktúra jól skálázható, átlátható és könnyen tesztelhető.</a:t>
            </a:r>
            <a:endParaRPr dirty="0"/>
          </a:p>
        </p:txBody>
      </p:sp>
      <p:sp>
        <p:nvSpPr>
          <p:cNvPr id="122" name="Google Shape;12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8C01DFBA-FAA2-DD3F-8AEB-75C6C8569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>
            <a:extLst>
              <a:ext uri="{FF2B5EF4-FFF2-40B4-BE49-F238E27FC236}">
                <a16:creationId xmlns:a16="http://schemas.microsoft.com/office/drawing/2014/main" id="{C3A81FB4-E590-BCD8-2560-67A910175A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rendszerünkben a kontrollerek az API végpontok belépési pontjai.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Itt történik a bejövő kérések fogadása, az adatok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validálása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valamint a jogosultság ellenőrzése.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kontrollerek ezután a megfelelő üzleti logikát hívják meg, és egységes JSON válaszstruktúrát adnak vissza a frontendnek.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Mivel a rendszer szerepköralapú, ugyanaz a végpont eltérően viselkedhet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tanár vagy diák felhasználó esetén.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controller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réteg így egyszerre biztosít átláthatóságot, biztonságot és jól szervezett kéréskezelést.</a:t>
            </a:r>
            <a:endParaRPr dirty="0"/>
          </a:p>
        </p:txBody>
      </p:sp>
      <p:sp>
        <p:nvSpPr>
          <p:cNvPr id="122" name="Google Shape;122;p5:notes">
            <a:extLst>
              <a:ext uri="{FF2B5EF4-FFF2-40B4-BE49-F238E27FC236}">
                <a16:creationId xmlns:a16="http://schemas.microsoft.com/office/drawing/2014/main" id="{9EF0938B-0088-7C27-9A33-B5412EA5AE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920210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rendszer biztonságát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token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alapú hitelesítés adja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Sanctummal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védett API végpontokat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middleware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ellenőrzi, ezért csak hitelesített felhasználók érhetik el.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Erre épül a szerepkör-alapú hozzáférés diák, tanár és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szintekkel.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kritikus műveletek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jogosultsághoz kötöttek, a regisztrációt pedig email-verifikáció védi.</a:t>
            </a:r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Ez a rendszer relációs adatmodellje.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fő entitásokat külön táblákban kezeljük, például felhasználók, intézmények, osztályok, események, kommentek és szavazások.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táblák idegen kulcsokkal kapcsolódnak egymáshoz, így biztosított az adatok közötti konzisztens kapcsolat.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Ez azért fontos, mert így pontosan lekövethető, hogy egy felhasználó melyik intézményhez tartozik, egy eseményhez kik kapcsolódnak, és egy szavazáshoz milyen opciók és válaszok tartoznak.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normalizált szerkezet csökkenti az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adatduplikációt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és megkönnyíti a bővítést, például új szerepkörök vagy új eseménytípusok bevezetését.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Összességében ez az adatmodell stabil alapot ad a backend logikának és a megbízható API működésnek.</a:t>
            </a:r>
            <a:endParaRPr dirty="0"/>
          </a:p>
        </p:txBody>
      </p:sp>
      <p:sp>
        <p:nvSpPr>
          <p:cNvPr id="162" name="Google Shape;16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>
          <a:extLst>
            <a:ext uri="{FF2B5EF4-FFF2-40B4-BE49-F238E27FC236}">
              <a16:creationId xmlns:a16="http://schemas.microsoft.com/office/drawing/2014/main" id="{055D3378-106D-2E2B-631D-F0D205853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:notes">
            <a:extLst>
              <a:ext uri="{FF2B5EF4-FFF2-40B4-BE49-F238E27FC236}">
                <a16:creationId xmlns:a16="http://schemas.microsoft.com/office/drawing/2014/main" id="{3B9BC4D0-5513-84DB-846C-7D8B0B648F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Az oldalunk teljes mértékben reszponzív, azaz bármilyen mobileszközön használva is teljes mértékben a maximális élményt nyújtja.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Ezáltal a rendszer használata nem korlátozódik asztali számítógépekre, bármilyen eszközről kényelmesen elérhető.</a:t>
            </a:r>
            <a:endParaRPr dirty="0"/>
          </a:p>
        </p:txBody>
      </p:sp>
      <p:sp>
        <p:nvSpPr>
          <p:cNvPr id="162" name="Google Shape;162;p9:notes">
            <a:extLst>
              <a:ext uri="{FF2B5EF4-FFF2-40B4-BE49-F238E27FC236}">
                <a16:creationId xmlns:a16="http://schemas.microsoft.com/office/drawing/2014/main" id="{753B8D68-A1F8-22AF-5D25-7D41DF8FA6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005012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tesztelést két oldalon végeztük el.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Frontend oldalon automatizált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TypeScript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tesztekkel ellenőriztük a fő funkciókat.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Backend oldalon pedig Postman segítségével vizsgáltuk az API végpontokat.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Azt kiemelném, hogy nem csak pozitív, de negatív 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eseteket is teszteltünk, hogy minél stabilabb legyen a rendszer.</a:t>
            </a:r>
            <a:endParaRPr dirty="0"/>
          </a:p>
        </p:txBody>
      </p:sp>
      <p:sp>
        <p:nvSpPr>
          <p:cNvPr id="170" name="Google Shape;17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projekt során a csapatmunkát több eszközzel támogattuk.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Napi kommunikációra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Discordot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használtunk, a fejlesztési feladatokat GitHubon, külön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branchekben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kezeltük.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közös megtervezések Google Drive-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a felületterveket pedig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Figma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segítségével egyeztettük.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Ennek köszönhetően mindkettőnk pontosan látta a saját feladatait, és a munka jól szervezetten, párhuzamosan tudott haladni.</a:t>
            </a:r>
            <a:endParaRPr dirty="0"/>
          </a:p>
        </p:txBody>
      </p:sp>
      <p:sp>
        <p:nvSpPr>
          <p:cNvPr id="178" name="Google Shape;17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projekt következő lépéseit három fő irányban látjuk.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első a mobilos alkalmazás, hogy a felhasználók gyorsabban és kényelmesebben, bárhonnan elérjék az eseményeket.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második az értesítőrendszer, amivel automatikusan tudjuk jelezni az új eseményeket, határidőket és fontos változásokat.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harmadik az online vásárlást, intézményi előfizetésként képzeljük el.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iskolák éves bérletet vásárolhatnak, ami prémium funkciókat ad.</a:t>
            </a:r>
            <a:endParaRPr dirty="0"/>
          </a:p>
        </p:txBody>
      </p:sp>
      <p:sp>
        <p:nvSpPr>
          <p:cNvPr id="189" name="Google Shape;18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 rtl="0">
              <a:buNone/>
            </a:pPr>
            <a:r>
              <a:rPr lang="hu-HU" dirty="0"/>
              <a:t>Samu:</a:t>
            </a:r>
            <a:br>
              <a:rPr lang="hu-HU" dirty="0"/>
            </a:br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This is our home page.</a:t>
            </a:r>
            <a:b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From here, users can navigate to the registration or login pages.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 create an account, users are required to enter their name, email address, and password. After confirming their email address, they must log in to proceed to the dashboard.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On the dashboard, users select their role (student, teacher, or administrator), then choose their location and school.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Students and teachers can apply to an existing institution, while administrators also have the option to register a new one.</a:t>
            </a:r>
            <a:br>
              <a:rPr lang="en-US" b="0" dirty="0">
                <a:effectLst/>
              </a:rPr>
            </a:b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or today’s demo, we continue with a pre-created sample administrator account to demonstrate the workflow.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After logging in, we can see how the administrator manages incoming requests and assigns users to classes.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Once the requests are approved, the platform’s main features become accessible.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158750" indent="0" rtl="0"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158750" indent="0" rtl="0"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Tomi:</a:t>
            </a: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 the </a:t>
            </a:r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Events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section, users can filter events by type and status or switch to a calendar view.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When opening an event, users can decide whether to participate, leave comments, mark events as favorites, and take part in interactive polls.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Event creators can also launch polls directly from here, including options such as scheduled closing times or hidden partial results.</a:t>
            </a:r>
            <a:br>
              <a:rPr lang="en-US" b="0" dirty="0">
                <a:effectLst/>
              </a:rPr>
            </a:b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When creating an event, the target group can be defined precisely (a specific class, grade level, or the entire school).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The platform also supports weekly recurring events, where all instances are automatically generated by the system.</a:t>
            </a:r>
            <a:br>
              <a:rPr lang="en-US" b="0" dirty="0">
                <a:effectLst/>
              </a:rPr>
            </a:b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Finally, on the </a:t>
            </a:r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Profile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page, users can view and update their personal information, including their displayed name, which can be changed once every 15 days.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This page also includes the institution switcher, allowing administrators to quickly switch between the schools they manage.</a:t>
            </a:r>
            <a:br>
              <a:rPr lang="en-US" dirty="0"/>
            </a:br>
            <a:br>
              <a:rPr lang="en-US" dirty="0"/>
            </a:br>
            <a:endParaRPr lang="hu-HU" dirty="0"/>
          </a:p>
        </p:txBody>
      </p:sp>
      <p:sp>
        <p:nvSpPr>
          <p:cNvPr id="194" name="Google Shape;19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dia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7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7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tartalom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zakaszfejléc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9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9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tartalomrész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0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Összehasonlítás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1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1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1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1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sak cím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Üres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rtalomrész képaláírással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4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4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ép képaláírással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5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5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függőleges szöveg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6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üggőleges cím és szöveg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7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7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3901123" y="2515898"/>
            <a:ext cx="4389748" cy="1341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mbria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EseményTér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3684309" y="4816138"/>
            <a:ext cx="4823381" cy="984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Készítették: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Nagy Levéd Sámuel, Tóth Tamás</a:t>
            </a:r>
            <a:endParaRPr/>
          </a:p>
        </p:txBody>
      </p:sp>
      <p:pic>
        <p:nvPicPr>
          <p:cNvPr id="89" name="Google Shape;89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59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0" name="Google Shape;90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94603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5328DACF-C190-D603-12FE-F12ED351F0C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5" b="55"/>
          <a:stretch/>
        </p:blipFill>
        <p:spPr>
          <a:xfrm>
            <a:off x="4669781" y="-105728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25;p5">
            <a:extLst>
              <a:ext uri="{FF2B5EF4-FFF2-40B4-BE49-F238E27FC236}">
                <a16:creationId xmlns:a16="http://schemas.microsoft.com/office/drawing/2014/main" id="{6F45A2C4-DC8B-0FF2-B751-05BC7B478441}"/>
              </a:ext>
            </a:extLst>
          </p:cNvPr>
          <p:cNvSpPr/>
          <p:nvPr/>
        </p:nvSpPr>
        <p:spPr>
          <a:xfrm>
            <a:off x="7667808" y="3632669"/>
            <a:ext cx="3651427" cy="248899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25;p5">
            <a:extLst>
              <a:ext uri="{FF2B5EF4-FFF2-40B4-BE49-F238E27FC236}">
                <a16:creationId xmlns:a16="http://schemas.microsoft.com/office/drawing/2014/main" id="{728FC3E7-18EE-112C-88DD-42D924B448DE}"/>
              </a:ext>
            </a:extLst>
          </p:cNvPr>
          <p:cNvSpPr/>
          <p:nvPr/>
        </p:nvSpPr>
        <p:spPr>
          <a:xfrm>
            <a:off x="708817" y="3632669"/>
            <a:ext cx="3651427" cy="248899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38;p6">
            <a:extLst>
              <a:ext uri="{FF2B5EF4-FFF2-40B4-BE49-F238E27FC236}">
                <a16:creationId xmlns:a16="http://schemas.microsoft.com/office/drawing/2014/main" id="{C4526191-E079-ECAD-7FB7-CB581B5F7FFD}"/>
              </a:ext>
            </a:extLst>
          </p:cNvPr>
          <p:cNvSpPr/>
          <p:nvPr/>
        </p:nvSpPr>
        <p:spPr>
          <a:xfrm>
            <a:off x="1626101" y="1576108"/>
            <a:ext cx="8939798" cy="1723077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Probléma és Megoldás</a:t>
            </a:r>
            <a:endParaRPr dirty="0"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B9244666-2797-0A92-D938-9CAC12D9EB31}"/>
              </a:ext>
            </a:extLst>
          </p:cNvPr>
          <p:cNvSpPr txBox="1"/>
          <p:nvPr/>
        </p:nvSpPr>
        <p:spPr>
          <a:xfrm>
            <a:off x="867791" y="3695963"/>
            <a:ext cx="333347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200000"/>
              </a:lnSpc>
            </a:pPr>
            <a:r>
              <a:rPr lang="hu-HU" sz="2000" b="1" dirty="0">
                <a:latin typeface="Times New Roman"/>
                <a:ea typeface="Times New Roman"/>
                <a:cs typeface="Times New Roman"/>
                <a:sym typeface="Times New Roman"/>
              </a:rPr>
              <a:t>Probléma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széttagolt kommunikáció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több külön platform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nehézkes eseménykezelés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információk nehéz követése</a:t>
            </a:r>
            <a:endParaRPr lang="hu-HU" sz="2000" dirty="0"/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478AAD97-7AA0-25DC-DE15-591AEFA381D6}"/>
              </a:ext>
            </a:extLst>
          </p:cNvPr>
          <p:cNvSpPr txBox="1"/>
          <p:nvPr/>
        </p:nvSpPr>
        <p:spPr>
          <a:xfrm>
            <a:off x="7385588" y="3758079"/>
            <a:ext cx="421586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200000"/>
              </a:lnSpc>
            </a:pPr>
            <a:r>
              <a:rPr lang="hu-HU" sz="2000" b="1" dirty="0">
                <a:latin typeface="Times New Roman"/>
                <a:ea typeface="Times New Roman"/>
                <a:cs typeface="Times New Roman"/>
                <a:sym typeface="Times New Roman"/>
              </a:rPr>
              <a:t>Megoldás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egységes webes rendszer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központi eseménykezelés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egyszerűbb kommunikáció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átlátható információk</a:t>
            </a:r>
            <a:endParaRPr lang="hu-HU" sz="2000" dirty="0"/>
          </a:p>
          <a:p>
            <a:endParaRPr lang="hu-HU" sz="2000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E2F355FB-4B84-7D47-6AF2-8FD42995F575}"/>
              </a:ext>
            </a:extLst>
          </p:cNvPr>
          <p:cNvSpPr txBox="1"/>
          <p:nvPr/>
        </p:nvSpPr>
        <p:spPr>
          <a:xfrm>
            <a:off x="1963825" y="2035002"/>
            <a:ext cx="9008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b="1" dirty="0">
                <a:latin typeface="Cambria" panose="02040503050406030204" pitchFamily="18" charset="0"/>
                <a:ea typeface="Cambria" panose="02040503050406030204" pitchFamily="18" charset="0"/>
                <a:cs typeface="Times New Roman"/>
                <a:sym typeface="Times New Roman"/>
              </a:rPr>
              <a:t>Cél:</a:t>
            </a:r>
            <a:r>
              <a:rPr lang="hu-HU" sz="2000" dirty="0">
                <a:latin typeface="Cambria" panose="02040503050406030204" pitchFamily="18" charset="0"/>
                <a:ea typeface="Cambria" panose="02040503050406030204" pitchFamily="18" charset="0"/>
                <a:cs typeface="Times New Roman"/>
                <a:sym typeface="Times New Roman"/>
              </a:rPr>
              <a:t> </a:t>
            </a:r>
            <a:r>
              <a:rPr lang="hu-HU" sz="2000" dirty="0">
                <a:latin typeface="Cambria" panose="02040503050406030204" pitchFamily="18" charset="0"/>
                <a:ea typeface="Cambria" panose="02040503050406030204" pitchFamily="18" charset="0"/>
                <a:cs typeface="Cambria"/>
                <a:sym typeface="Cambria"/>
              </a:rPr>
              <a:t>A tanárok és diákok közötti kommunikáció egyszerűsítése, valamint az iskolai események központi és átlátható kezelése egy rendszerben.</a:t>
            </a:r>
            <a:endParaRPr lang="hu-HU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endParaRPr lang="hu-HU" dirty="0"/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B0E1AE6A-30E4-25BA-E263-09D543E67A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67;p9">
            <a:extLst>
              <a:ext uri="{FF2B5EF4-FFF2-40B4-BE49-F238E27FC236}">
                <a16:creationId xmlns:a16="http://schemas.microsoft.com/office/drawing/2014/main" id="{57801444-2324-3ADF-5DCA-2533CC8DF37E}"/>
              </a:ext>
            </a:extLst>
          </p:cNvPr>
          <p:cNvSpPr/>
          <p:nvPr/>
        </p:nvSpPr>
        <p:spPr>
          <a:xfrm>
            <a:off x="9993075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67;p9">
            <a:extLst>
              <a:ext uri="{FF2B5EF4-FFF2-40B4-BE49-F238E27FC236}">
                <a16:creationId xmlns:a16="http://schemas.microsoft.com/office/drawing/2014/main" id="{163E3D33-F746-2664-41C5-8B2E84F2837E}"/>
              </a:ext>
            </a:extLst>
          </p:cNvPr>
          <p:cNvSpPr/>
          <p:nvPr/>
        </p:nvSpPr>
        <p:spPr>
          <a:xfrm>
            <a:off x="-1113506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"/>
          <p:cNvSpPr/>
          <p:nvPr/>
        </p:nvSpPr>
        <p:spPr>
          <a:xfrm>
            <a:off x="7582328" y="2434975"/>
            <a:ext cx="4099389" cy="1777429"/>
          </a:xfrm>
          <a:prstGeom prst="rect">
            <a:avLst/>
          </a:prstGeom>
          <a:solidFill>
            <a:srgbClr val="D8D8D8"/>
          </a:solidFill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715720" y="2536617"/>
            <a:ext cx="3059615" cy="1623317"/>
          </a:xfrm>
          <a:prstGeom prst="rect">
            <a:avLst/>
          </a:prstGeom>
          <a:solidFill>
            <a:srgbClr val="D8D8D8"/>
          </a:solidFill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3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A projekt fő funkciói</a:t>
            </a:r>
            <a:endParaRPr dirty="0"/>
          </a:p>
        </p:txBody>
      </p:sp>
      <p:sp>
        <p:nvSpPr>
          <p:cNvPr id="106" name="Google Shape;106;p3"/>
          <p:cNvSpPr txBox="1"/>
          <p:nvPr/>
        </p:nvSpPr>
        <p:spPr>
          <a:xfrm>
            <a:off x="1354138" y="2862044"/>
            <a:ext cx="2049911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Regisztráció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Bejelentkezés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Profilkezelés</a:t>
            </a:r>
            <a:endParaRPr dirty="0"/>
          </a:p>
        </p:txBody>
      </p:sp>
      <p:sp>
        <p:nvSpPr>
          <p:cNvPr id="107" name="Google Shape;107;p3"/>
          <p:cNvSpPr txBox="1"/>
          <p:nvPr/>
        </p:nvSpPr>
        <p:spPr>
          <a:xfrm>
            <a:off x="7799310" y="2723545"/>
            <a:ext cx="3882407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Események böngészése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Események létrehozása és kezelése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Intézmények és osztályok kezelése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Jelentkezési kérelmek kezelése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F81E4B4F-78E5-5BEA-E4F3-BDFB2C78B2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/>
          <p:nvPr/>
        </p:nvSpPr>
        <p:spPr>
          <a:xfrm rot="5400000">
            <a:off x="4237613" y="-6392525"/>
            <a:ext cx="3492600" cy="141567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 rendszer felépítése</a:t>
            </a:r>
            <a:endParaRPr/>
          </a:p>
        </p:txBody>
      </p:sp>
      <p:sp>
        <p:nvSpPr>
          <p:cNvPr id="116" name="Google Shape;116;p4"/>
          <p:cNvSpPr txBox="1"/>
          <p:nvPr/>
        </p:nvSpPr>
        <p:spPr>
          <a:xfrm>
            <a:off x="1291472" y="2432115"/>
            <a:ext cx="4804500" cy="17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Frontend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3 alapú kliensalkalmazás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Backend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12 REST API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Adatbázis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MySQL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Kommunikáció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HTTP API hívások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Előny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a frontend és backend külön fejleszthető, bővíthető</a:t>
            </a:r>
            <a:endParaRPr dirty="0"/>
          </a:p>
        </p:txBody>
      </p:sp>
      <p:pic>
        <p:nvPicPr>
          <p:cNvPr id="117" name="Google Shape;117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38882" y="2551650"/>
            <a:ext cx="4180341" cy="175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1916881">
            <a:off x="5967247" y="3409924"/>
            <a:ext cx="1970576" cy="2050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26075" y="3624840"/>
            <a:ext cx="3550444" cy="23663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Kép 1">
            <a:extLst>
              <a:ext uri="{FF2B5EF4-FFF2-40B4-BE49-F238E27FC236}">
                <a16:creationId xmlns:a16="http://schemas.microsoft.com/office/drawing/2014/main" id="{CE37B5BB-7703-FB12-0FE0-1F492C95922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7"/>
          <p:cNvSpPr/>
          <p:nvPr/>
        </p:nvSpPr>
        <p:spPr>
          <a:xfrm rot="5400000">
            <a:off x="-1978955" y="1097934"/>
            <a:ext cx="3492600" cy="52929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7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Frontend felépítése</a:t>
            </a:r>
            <a:endParaRPr dirty="0"/>
          </a:p>
        </p:txBody>
      </p:sp>
      <p:sp>
        <p:nvSpPr>
          <p:cNvPr id="149" name="Google Shape;149;p7"/>
          <p:cNvSpPr txBox="1"/>
          <p:nvPr/>
        </p:nvSpPr>
        <p:spPr>
          <a:xfrm>
            <a:off x="2413795" y="2660051"/>
            <a:ext cx="65097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3 SPA,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route</a:t>
            </a:r>
            <a:r>
              <a:rPr lang="hu-HU" sz="1800" dirty="0">
                <a:solidFill>
                  <a:schemeClr val="dk1"/>
                </a:solidFill>
              </a:rPr>
              <a:t>-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alapú navigáció</a:t>
            </a: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indent="-285750"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/>
              <a:t>Komponensalapú felépítés, funkciók szerint csoportosítva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Szerepkör alapú irányítópultok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Állapotkezelés böngésző tárolóval és </a:t>
            </a:r>
            <a:r>
              <a:rPr lang="hu-HU" sz="1800" dirty="0" err="1">
                <a:solidFill>
                  <a:schemeClr val="dk1"/>
                </a:solidFill>
              </a:rPr>
              <a:t>tokenes</a:t>
            </a:r>
            <a:r>
              <a:rPr lang="hu-HU" sz="1800" dirty="0">
                <a:solidFill>
                  <a:schemeClr val="dk1"/>
                </a:solidFill>
              </a:rPr>
              <a:t> hitelesítéssel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/>
              <a:t>Egységes értesítési rendszer (</a:t>
            </a:r>
            <a:r>
              <a:rPr lang="hu-HU" sz="1800" dirty="0" err="1"/>
              <a:t>toastok</a:t>
            </a:r>
            <a:r>
              <a:rPr lang="hu-HU" sz="1800" dirty="0"/>
              <a:t>)</a:t>
            </a: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7F97EB40-BCA8-156B-ADB7-A400002E53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A7331664-2776-8924-FDA4-4FED695B88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6967" y="169611"/>
            <a:ext cx="2889768" cy="651877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/>
          <p:cNvSpPr/>
          <p:nvPr/>
        </p:nvSpPr>
        <p:spPr>
          <a:xfrm>
            <a:off x="421030" y="1871108"/>
            <a:ext cx="6190671" cy="419496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6" name="Google Shape;126;p5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Backend architektúra</a:t>
            </a:r>
            <a:endParaRPr dirty="0"/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3615821A-0B5A-AFA2-70D0-BB28F94FB7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1A182C00-DF9A-595F-45C3-1B92870DB267}"/>
              </a:ext>
            </a:extLst>
          </p:cNvPr>
          <p:cNvSpPr txBox="1"/>
          <p:nvPr/>
        </p:nvSpPr>
        <p:spPr>
          <a:xfrm>
            <a:off x="1292528" y="2531736"/>
            <a:ext cx="563435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API / </a:t>
            </a:r>
            <a:r>
              <a:rPr lang="hu-HU" sz="1800" dirty="0" err="1"/>
              <a:t>Routing</a:t>
            </a:r>
            <a:r>
              <a:rPr lang="hu-HU" sz="18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Controller</a:t>
            </a: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Service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Model</a:t>
            </a:r>
            <a:r>
              <a:rPr lang="hu-HU" sz="1800" dirty="0"/>
              <a:t> + adatkezelés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Infrastruktúra (</a:t>
            </a:r>
            <a:r>
              <a:rPr lang="hu-HU" sz="1800" dirty="0" err="1"/>
              <a:t>middleware</a:t>
            </a:r>
            <a:r>
              <a:rPr lang="hu-HU" sz="1800" dirty="0"/>
              <a:t>, </a:t>
            </a:r>
            <a:r>
              <a:rPr lang="hu-HU" sz="1800" dirty="0" err="1"/>
              <a:t>auth</a:t>
            </a:r>
            <a:r>
              <a:rPr lang="hu-HU" sz="1800" dirty="0"/>
              <a:t>, stb.)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82ECEB9B-A547-C71D-4219-18C3117363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7050" y="824003"/>
            <a:ext cx="2669037" cy="57774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23">
          <a:extLst>
            <a:ext uri="{FF2B5EF4-FFF2-40B4-BE49-F238E27FC236}">
              <a16:creationId xmlns:a16="http://schemas.microsoft.com/office/drawing/2014/main" id="{89CDD949-1624-D715-4274-70BF1D69E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>
            <a:extLst>
              <a:ext uri="{FF2B5EF4-FFF2-40B4-BE49-F238E27FC236}">
                <a16:creationId xmlns:a16="http://schemas.microsoft.com/office/drawing/2014/main" id="{8C811668-B0F4-F47B-B18A-FBEF94CE94E7}"/>
              </a:ext>
            </a:extLst>
          </p:cNvPr>
          <p:cNvSpPr/>
          <p:nvPr/>
        </p:nvSpPr>
        <p:spPr>
          <a:xfrm>
            <a:off x="5401340" y="1695157"/>
            <a:ext cx="6579804" cy="4486486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6" name="Google Shape;126;p5">
            <a:extLst>
              <a:ext uri="{FF2B5EF4-FFF2-40B4-BE49-F238E27FC236}">
                <a16:creationId xmlns:a16="http://schemas.microsoft.com/office/drawing/2014/main" id="{0FD3525F-9239-F39B-02A8-B12202CFE55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dirty="0">
                <a:latin typeface="Cambria" panose="02040503050406030204" pitchFamily="18" charset="0"/>
                <a:ea typeface="Cambria" panose="02040503050406030204" pitchFamily="18" charset="0"/>
              </a:rPr>
              <a:t>Kontrollerek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F66B6417-0E38-F43A-3A77-709C67B4E2B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D9B7A07A-2D6A-1984-F4A7-476723F6C2A3}"/>
              </a:ext>
            </a:extLst>
          </p:cNvPr>
          <p:cNvSpPr txBox="1"/>
          <p:nvPr/>
        </p:nvSpPr>
        <p:spPr>
          <a:xfrm>
            <a:off x="6095998" y="2472572"/>
            <a:ext cx="563435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A kontrollerek fogadják az API kéréseket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Validálják</a:t>
            </a:r>
            <a:r>
              <a:rPr lang="hu-HU" sz="1800" dirty="0"/>
              <a:t> a bejövő adatokat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Meghívják a megfelelő service / </a:t>
            </a:r>
            <a:r>
              <a:rPr lang="hu-HU" sz="1800" dirty="0" err="1"/>
              <a:t>model</a:t>
            </a:r>
            <a:r>
              <a:rPr lang="hu-HU" sz="1800" dirty="0"/>
              <a:t> logikát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Egységes JSON választ adnak vissza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Szerepkör és jogosultság alapján eltérő működést kezelnek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BED8106-2703-BE1C-9D9F-D960A9244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66" y="2247477"/>
            <a:ext cx="3915321" cy="338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3026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/>
          <p:nvPr/>
        </p:nvSpPr>
        <p:spPr>
          <a:xfrm>
            <a:off x="2729700" y="111225"/>
            <a:ext cx="6732600" cy="1638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6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600" cy="81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Jogosultság és biztonság</a:t>
            </a:r>
            <a:endParaRPr dirty="0"/>
          </a:p>
        </p:txBody>
      </p:sp>
      <p:sp>
        <p:nvSpPr>
          <p:cNvPr id="141" name="Google Shape;141;p6"/>
          <p:cNvSpPr txBox="1"/>
          <p:nvPr/>
        </p:nvSpPr>
        <p:spPr>
          <a:xfrm>
            <a:off x="1291479" y="2404683"/>
            <a:ext cx="45240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Token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alapú hitelesítés (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Sanctum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Védett API végpontok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Szerepkör-alapú hozzáférés</a:t>
            </a:r>
            <a:endParaRPr dirty="0"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jogosultsághoz kötött műveletek</a:t>
            </a:r>
            <a:endParaRPr dirty="0"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Email-verifikáció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142" name="Google Shape;142;p6"/>
          <p:cNvSpPr txBox="1"/>
          <p:nvPr/>
        </p:nvSpPr>
        <p:spPr>
          <a:xfrm>
            <a:off x="7890362" y="2163226"/>
            <a:ext cx="3429000" cy="20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Szerepkörök:</a:t>
            </a:r>
            <a:endParaRPr sz="18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Diák</a:t>
            </a:r>
            <a:endParaRPr sz="1800" dirty="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Tanár</a:t>
            </a:r>
            <a:endParaRPr sz="1800" dirty="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 err="1">
                <a:solidFill>
                  <a:schemeClr val="dk1"/>
                </a:solidFill>
              </a:rPr>
              <a:t>Admin</a:t>
            </a:r>
            <a:endParaRPr sz="1800" b="1" dirty="0">
              <a:solidFill>
                <a:schemeClr val="dk1"/>
              </a:solidFill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C16AE64D-33DD-F020-DFA3-E586274913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4D0611A6-D8E8-24E8-923A-EAFFF7F095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3110" y="4694774"/>
            <a:ext cx="6079512" cy="16383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9"/>
          <p:cNvSpPr/>
          <p:nvPr/>
        </p:nvSpPr>
        <p:spPr>
          <a:xfrm>
            <a:off x="10763599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9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Adatmodell</a:t>
            </a:r>
            <a:endParaRPr/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26ABEE9A-C9D5-0750-497F-3E38C12853E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B61B75C4-CCCA-3A10-7130-5CB867CFDF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1105" y="1610802"/>
            <a:ext cx="7610183" cy="49137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63">
          <a:extLst>
            <a:ext uri="{FF2B5EF4-FFF2-40B4-BE49-F238E27FC236}">
              <a16:creationId xmlns:a16="http://schemas.microsoft.com/office/drawing/2014/main" id="{9FD071AA-436D-971A-A541-D08A464CA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9">
            <a:extLst>
              <a:ext uri="{FF2B5EF4-FFF2-40B4-BE49-F238E27FC236}">
                <a16:creationId xmlns:a16="http://schemas.microsoft.com/office/drawing/2014/main" id="{570EDD70-0BDF-CEC5-2C59-32C50CD8E3B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dirty="0" err="1">
                <a:latin typeface="Cambria" panose="02040503050406030204" pitchFamily="18" charset="0"/>
                <a:ea typeface="Cambria" panose="02040503050406030204" pitchFamily="18" charset="0"/>
              </a:rPr>
              <a:t>Reszponzívitás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6" name="Google Shape;166;p9">
            <a:extLst>
              <a:ext uri="{FF2B5EF4-FFF2-40B4-BE49-F238E27FC236}">
                <a16:creationId xmlns:a16="http://schemas.microsoft.com/office/drawing/2014/main" id="{9474E5A6-E23B-DABB-5990-92CEA2EE42DD}"/>
              </a:ext>
            </a:extLst>
          </p:cNvPr>
          <p:cNvSpPr txBox="1"/>
          <p:nvPr/>
        </p:nvSpPr>
        <p:spPr>
          <a:xfrm>
            <a:off x="389240" y="2268714"/>
            <a:ext cx="77676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hu-HU" sz="1800" dirty="0"/>
              <a:t>Reszponzív felület asztali, tablet és mobil nézetre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Rugalmas elrendezés (kártyák, listák, menük igazodnak a kijelzőhöz)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Olvasható betűméret és jól kezelhető gombok kisebb kijelzőn is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Fő funkciók minden nézetben elérhetők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7ADDCDEC-1DC4-5524-2DCA-9EB04EF608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27C76B75-C4A7-F786-8BD9-C2B96D12BA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9421" y="1335733"/>
            <a:ext cx="2581639" cy="458881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27568F30-6AA1-5E0A-7D41-3F9E2278A3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5409" y="3429000"/>
            <a:ext cx="2275771" cy="3349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5856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0"/>
          <p:cNvSpPr/>
          <p:nvPr/>
        </p:nvSpPr>
        <p:spPr>
          <a:xfrm>
            <a:off x="-2850775" y="5134425"/>
            <a:ext cx="13068000" cy="34605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10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Tesztelés</a:t>
            </a:r>
            <a:endParaRPr dirty="0"/>
          </a:p>
        </p:txBody>
      </p:sp>
      <p:sp>
        <p:nvSpPr>
          <p:cNvPr id="175" name="Google Shape;175;p10"/>
          <p:cNvSpPr txBox="1"/>
          <p:nvPr/>
        </p:nvSpPr>
        <p:spPr>
          <a:xfrm>
            <a:off x="1520079" y="2274600"/>
            <a:ext cx="6777900" cy="230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Frontend: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TypeScript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tesztek pozitív és negatív tesztek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lvl="0"/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Backend: 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API tesztelés </a:t>
            </a:r>
            <a:r>
              <a:rPr lang="hu-HU" sz="1800" dirty="0"/>
              <a:t>Postmannal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Pozitív és negatív esetek ellenőrzése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Cél: stabil működés és hibák korai kiszűrése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02D68B3B-2132-2F6A-4985-5A1B54A7F9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4BE8C11D-ABCB-AD67-494E-6C26538EC1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489371" y="3857626"/>
            <a:ext cx="1829864" cy="1829864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1986AE4E-E05B-3DF2-C1AB-9899B9A8274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489371" y="1538070"/>
            <a:ext cx="1670573" cy="18922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1"/>
          <p:cNvSpPr txBox="1">
            <a:spLocks noGrp="1"/>
          </p:cNvSpPr>
          <p:nvPr>
            <p:ph type="ctrTitle"/>
          </p:nvPr>
        </p:nvSpPr>
        <p:spPr>
          <a:xfrm>
            <a:off x="430974" y="504378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Csapatmunka</a:t>
            </a:r>
            <a:endParaRPr dirty="0"/>
          </a:p>
        </p:txBody>
      </p:sp>
      <p:sp>
        <p:nvSpPr>
          <p:cNvPr id="181" name="Google Shape;181;p11"/>
          <p:cNvSpPr txBox="1"/>
          <p:nvPr/>
        </p:nvSpPr>
        <p:spPr>
          <a:xfrm>
            <a:off x="1235026" y="2149950"/>
            <a:ext cx="5394374" cy="1969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Kommunikáció: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Discord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Megosztott munka: GitHub, Google</a:t>
            </a:r>
            <a:r>
              <a:rPr lang="hu-HU" sz="1800" dirty="0">
                <a:solidFill>
                  <a:schemeClr val="dk1"/>
                </a:solidFill>
              </a:rPr>
              <a:t> 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Drive,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Figma</a:t>
            </a:r>
            <a:endParaRPr lang="hu-HU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</a:rPr>
              <a:t>Feladatmegosztás: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Nagy </a:t>
            </a:r>
            <a:r>
              <a:rPr lang="hu-HU" sz="1800" dirty="0" err="1">
                <a:solidFill>
                  <a:schemeClr val="dk1"/>
                </a:solidFill>
              </a:rPr>
              <a:t>Levéd</a:t>
            </a:r>
            <a:r>
              <a:rPr lang="hu-HU" sz="1800" dirty="0">
                <a:solidFill>
                  <a:schemeClr val="dk1"/>
                </a:solidFill>
              </a:rPr>
              <a:t> Sámuel – Frontend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Tóth Tamás - Backend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dirty="0"/>
          </a:p>
        </p:txBody>
      </p:sp>
      <p:sp>
        <p:nvSpPr>
          <p:cNvPr id="185" name="Google Shape;185;p11"/>
          <p:cNvSpPr/>
          <p:nvPr/>
        </p:nvSpPr>
        <p:spPr>
          <a:xfrm>
            <a:off x="-1795175" y="4234325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1"/>
          <p:cNvSpPr/>
          <p:nvPr/>
        </p:nvSpPr>
        <p:spPr>
          <a:xfrm rot="-5400000">
            <a:off x="10310175" y="-2299450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32FD08B5-7A42-9156-76EE-A85EACDFFE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45" b="345"/>
          <a:stretch/>
        </p:blipFill>
        <p:spPr>
          <a:xfrm>
            <a:off x="8565083" y="1556073"/>
            <a:ext cx="2696838" cy="2678252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23ACE7F7-D201-D52C-68D5-69DA9EE253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270896" y="4174295"/>
            <a:ext cx="1998785" cy="199878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77C569F-51E7-248F-140C-C2C7D950D85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438052" y="3467013"/>
            <a:ext cx="1534624" cy="1534624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93D3B566-02E0-8135-75EC-6F16C95533D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438343" y="4502750"/>
            <a:ext cx="2143125" cy="21431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D5D502B9-1114-96F0-137A-8AF8CA806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5451" y="363285"/>
            <a:ext cx="2113472" cy="4167199"/>
          </a:xfrm>
          <a:prstGeom prst="rect">
            <a:avLst/>
          </a:prstGeom>
        </p:spPr>
      </p:pic>
      <p:sp>
        <p:nvSpPr>
          <p:cNvPr id="2" name="Google Shape;185;p11">
            <a:extLst>
              <a:ext uri="{FF2B5EF4-FFF2-40B4-BE49-F238E27FC236}">
                <a16:creationId xmlns:a16="http://schemas.microsoft.com/office/drawing/2014/main" id="{59FB9058-B16B-62FF-42D3-15B1E3A50903}"/>
              </a:ext>
            </a:extLst>
          </p:cNvPr>
          <p:cNvSpPr/>
          <p:nvPr/>
        </p:nvSpPr>
        <p:spPr>
          <a:xfrm>
            <a:off x="10445700" y="4265855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86;p11">
            <a:extLst>
              <a:ext uri="{FF2B5EF4-FFF2-40B4-BE49-F238E27FC236}">
                <a16:creationId xmlns:a16="http://schemas.microsoft.com/office/drawing/2014/main" id="{7A225262-4330-5433-DFC6-8966CB87C205}"/>
              </a:ext>
            </a:extLst>
          </p:cNvPr>
          <p:cNvSpPr/>
          <p:nvPr/>
        </p:nvSpPr>
        <p:spPr>
          <a:xfrm rot="-5400000">
            <a:off x="-1598046" y="-2278429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12"/>
          <p:cNvSpPr txBox="1">
            <a:spLocks noGrp="1"/>
          </p:cNvSpPr>
          <p:nvPr>
            <p:ph type="ctrTitle"/>
          </p:nvPr>
        </p:nvSpPr>
        <p:spPr>
          <a:xfrm>
            <a:off x="430975" y="504378"/>
            <a:ext cx="7864614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 panose="02040503050406030204" pitchFamily="18" charset="0"/>
                <a:ea typeface="Cambria" panose="02040503050406030204" pitchFamily="18" charset="0"/>
              </a:rPr>
              <a:t>Továbbfejlesztési lehetőségek</a:t>
            </a:r>
            <a:endParaRPr sz="4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E884CCC8-F38A-918E-2031-3A469699B264}"/>
              </a:ext>
            </a:extLst>
          </p:cNvPr>
          <p:cNvSpPr/>
          <p:nvPr/>
        </p:nvSpPr>
        <p:spPr>
          <a:xfrm>
            <a:off x="621323" y="2446885"/>
            <a:ext cx="5154930" cy="2686050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  <a:effectLst>
            <a:outerShdw blurRad="139700" dist="50800" dir="5400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5070E45E-AE58-19F9-F366-069C291D09D9}"/>
              </a:ext>
            </a:extLst>
          </p:cNvPr>
          <p:cNvSpPr txBox="1"/>
          <p:nvPr/>
        </p:nvSpPr>
        <p:spPr>
          <a:xfrm>
            <a:off x="727852" y="2810263"/>
            <a:ext cx="5036393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Mobilos alkalmazás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hu-HU" sz="24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Értesítő rendszer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hu-HU" sz="24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Online vásárlás</a:t>
            </a:r>
          </a:p>
          <a:p>
            <a:endParaRPr lang="hu-HU" dirty="0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9B18EEF8-EFE1-B675-104E-DC6B6D2D45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4730" y="4717636"/>
            <a:ext cx="3603423" cy="10002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églalap 1">
            <a:extLst>
              <a:ext uri="{FF2B5EF4-FFF2-40B4-BE49-F238E27FC236}">
                <a16:creationId xmlns:a16="http://schemas.microsoft.com/office/drawing/2014/main" id="{0090FA25-CD5A-C010-3B50-EEB51A3D6401}"/>
              </a:ext>
            </a:extLst>
          </p:cNvPr>
          <p:cNvSpPr/>
          <p:nvPr/>
        </p:nvSpPr>
        <p:spPr>
          <a:xfrm>
            <a:off x="1" y="2012654"/>
            <a:ext cx="12191999" cy="2832691"/>
          </a:xfrm>
          <a:prstGeom prst="rect">
            <a:avLst/>
          </a:prstGeom>
          <a:effectLst>
            <a:outerShdw blurRad="1397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96" name="Google Shape;196;p13"/>
          <p:cNvSpPr txBox="1">
            <a:spLocks noGrp="1"/>
          </p:cNvSpPr>
          <p:nvPr>
            <p:ph type="ctrTitle"/>
          </p:nvPr>
        </p:nvSpPr>
        <p:spPr>
          <a:xfrm>
            <a:off x="3927882" y="3023595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 err="1">
                <a:solidFill>
                  <a:schemeClr val="bg1"/>
                </a:solidFill>
                <a:latin typeface="Cambria"/>
                <a:ea typeface="Cambria"/>
                <a:cs typeface="Cambria"/>
                <a:sym typeface="Cambria"/>
              </a:rPr>
              <a:t>EseményTér</a:t>
            </a:r>
            <a:r>
              <a:rPr lang="hu-HU" sz="4400" dirty="0">
                <a:solidFill>
                  <a:schemeClr val="bg1"/>
                </a:solidFill>
                <a:latin typeface="Cambria"/>
                <a:ea typeface="Cambria"/>
                <a:cs typeface="Cambria"/>
                <a:sym typeface="Cambria"/>
              </a:rPr>
              <a:t> demó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5"/>
          <p:cNvSpPr txBox="1">
            <a:spLocks noGrp="1"/>
          </p:cNvSpPr>
          <p:nvPr>
            <p:ph type="ctrTitle"/>
          </p:nvPr>
        </p:nvSpPr>
        <p:spPr>
          <a:xfrm>
            <a:off x="872763" y="1593439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hu-HU" sz="5400" b="1" i="1">
                <a:latin typeface="Cambria"/>
                <a:ea typeface="Cambria"/>
                <a:cs typeface="Cambria"/>
                <a:sym typeface="Cambria"/>
              </a:rPr>
              <a:t>Köszönjük a figyelmüket!</a:t>
            </a:r>
            <a:endParaRPr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DADB9E7F-9F4E-0597-96C3-8F07F13D9B34}"/>
              </a:ext>
            </a:extLst>
          </p:cNvPr>
          <p:cNvSpPr txBox="1"/>
          <p:nvPr/>
        </p:nvSpPr>
        <p:spPr>
          <a:xfrm>
            <a:off x="0" y="5380672"/>
            <a:ext cx="304344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Források:</a:t>
            </a:r>
          </a:p>
          <a:p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http://www.chatgpt.com/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http://www.github.com/</a:t>
            </a:r>
          </a:p>
          <a:p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http://www.figma.com/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http://www.drive.google.com/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https://discord.com/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1147</TotalTime>
  <Words>1605</Words>
  <Application>Microsoft Office PowerPoint</Application>
  <PresentationFormat>Szélesvásznú</PresentationFormat>
  <Paragraphs>185</Paragraphs>
  <Slides>15</Slides>
  <Notes>15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21" baseType="lpstr">
      <vt:lpstr>Cambria</vt:lpstr>
      <vt:lpstr>Arial</vt:lpstr>
      <vt:lpstr>Courier New</vt:lpstr>
      <vt:lpstr>Times New Roman</vt:lpstr>
      <vt:lpstr>Play</vt:lpstr>
      <vt:lpstr>Office-téma</vt:lpstr>
      <vt:lpstr>EseményTér</vt:lpstr>
      <vt:lpstr>Probléma és Megoldás</vt:lpstr>
      <vt:lpstr>A projekt fő funkciói</vt:lpstr>
      <vt:lpstr>A rendszer felépítése</vt:lpstr>
      <vt:lpstr>Frontend felépítése</vt:lpstr>
      <vt:lpstr>Backend architektúra</vt:lpstr>
      <vt:lpstr>Kontrollerek</vt:lpstr>
      <vt:lpstr>Jogosultság és biztonság</vt:lpstr>
      <vt:lpstr>Adatmodell</vt:lpstr>
      <vt:lpstr>Reszponzívitás</vt:lpstr>
      <vt:lpstr>Tesztelés</vt:lpstr>
      <vt:lpstr>Csapatmunka</vt:lpstr>
      <vt:lpstr>Továbbfejlesztési lehetőségek</vt:lpstr>
      <vt:lpstr>EseményTér demó</vt:lpstr>
      <vt:lpstr>Köszönjük a figyelmüket!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O365 felhasználó</dc:creator>
  <cp:lastModifiedBy>O365 felhasználó</cp:lastModifiedBy>
  <cp:revision>33</cp:revision>
  <dcterms:created xsi:type="dcterms:W3CDTF">2026-03-04T16:50:56Z</dcterms:created>
  <dcterms:modified xsi:type="dcterms:W3CDTF">2026-04-17T09:59:07Z</dcterms:modified>
</cp:coreProperties>
</file>