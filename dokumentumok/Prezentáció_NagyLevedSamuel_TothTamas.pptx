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embeddedFontLst>
    <p:embeddedFont>
      <p:font typeface="Cambria" panose="02040503050406030204" pitchFamily="18" charset="0"/>
      <p:regular r:id="rId18"/>
      <p:bold r:id="rId19"/>
      <p:italic r:id="rId20"/>
      <p:boldItalic r:id="rId21"/>
    </p:embeddedFont>
    <p:embeddedFont>
      <p:font typeface="Play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67VHAuCHlscAUacmt/Mbt/wF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6AE613-179F-4F3B-B0BF-9CF6581B68B4}">
  <a:tblStyle styleId="{A36AE613-179F-4F3B-B0BF-9CF6581B68B4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513" autoAdjust="0"/>
  </p:normalViewPr>
  <p:slideViewPr>
    <p:cSldViewPr snapToGrid="0">
      <p:cViewPr varScale="1">
        <p:scale>
          <a:sx n="84" d="100"/>
          <a:sy n="84" d="100"/>
        </p:scale>
        <p:origin x="78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 Jónapot kívánunk!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 Engem Nagy </a:t>
            </a:r>
            <a:r>
              <a:rPr lang="hu-HU" dirty="0" err="1"/>
              <a:t>Levéd</a:t>
            </a:r>
            <a:r>
              <a:rPr lang="hu-HU" dirty="0"/>
              <a:t> Sámuel-</a:t>
            </a:r>
            <a:r>
              <a:rPr lang="hu-HU" dirty="0" err="1"/>
              <a:t>nek</a:t>
            </a:r>
            <a:r>
              <a:rPr lang="hu-HU" dirty="0"/>
              <a:t> hívnak.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 Engem Tóth Tamás-</a:t>
            </a:r>
            <a:r>
              <a:rPr lang="hu-HU" dirty="0" err="1"/>
              <a:t>nak</a:t>
            </a:r>
            <a:r>
              <a:rPr lang="hu-H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 Ebben az előadásban közösen mutatjuk be a vizsgaremek projektünket.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 A projektünk címe: </a:t>
            </a:r>
            <a:r>
              <a:rPr lang="hu-HU" dirty="0" err="1"/>
              <a:t>EseményTér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projekt témaválasztásának oka egy valós, mindennapi probléma volt az iskolai működésben.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kommunikáció és az események kezelése több külön felületen történt, ami nehezen átláthatóvá tette a folyamatokat.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Erre ad választ az </a:t>
            </a:r>
            <a:r>
              <a:rPr lang="hu-HU" dirty="0" err="1"/>
              <a:t>EseményTér</a:t>
            </a:r>
            <a:r>
              <a:rPr lang="hu-HU" dirty="0"/>
              <a:t>: egy egységes webes rendszer, ahol központilag kezelhetők az események és a kapcsolódó információk.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Így a kommunikáció gyorsabb, a folyamatok követhetőbbek, és minden szereplő ugyanazon rendszerben dolgozik.</a:t>
            </a: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  <a:br>
              <a:rPr lang="hu-HU" dirty="0"/>
            </a:br>
            <a:r>
              <a:rPr lang="hu-HU" dirty="0"/>
              <a:t>A rendszer alapját a felhasználói belépési és profilfunkciók adják, vagyis a regisztráció, a bejelentkezés és a szerepkör kezelés.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Erre épülnek rá a mindennapi használathoz szükséges funkciók.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fő modulok közé tartozik az események böngészése, létrehozása és kezelése, valamint az intézmények és osztályok adminisztrációja.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Emellett a rendszer kezeli a csatlakozási kérelmeket is, így a jogosultságok és tagságok folyamata is egy helyen történik.</a:t>
            </a:r>
            <a:endParaRPr dirty="0"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rendszerünk három fő rétegből épül fel: frontendből, backendből és adatbázisból.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frontend egy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Vue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3 alapú kliensalkalmazás, ezen keresztül éri el és használja a felhasználó a funkciókat.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Itt történik a felület megjelenítése, az űrlapkezelés és a felhasználói műveletek indítása.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háttérlogikát egy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12 alapú REST API biztosítja, amely kezeli az üzleti folyamatokat és a jogosultságokat.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 adatok tárolása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MySQL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adatbázisban történik.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frontend és a backend HTTP API-hívásokkal kommunikál, így a két réteg egymástól függetlenül fejleszthető és könnyen bővíthető.</a:t>
            </a:r>
            <a:endParaRPr dirty="0"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frontend egy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Vue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3 alapú egyoldalas alkalmazás.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felhasználó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-okon keresztül éri el a fő funkciókat, például az eseménylistát,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naptárat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és részletező oldalt.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rendszer szerepkör szerint eltérő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dashboardokat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ad, így diák, tanár és az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felhasználó más műveleteket lát.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kliens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tokennel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kommunikál a backend API-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val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és kezeli az eseményekhez kapcsolódó műveleteket, például részvételt, kedvencek kezelését és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kommentelést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55D3378-106D-2E2B-631D-F0D20585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3B9BC4D0-5513-84DB-846C-7D8B0B648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Az oldalunk teljes mértékben reszponzív, azaz bármilyen mobileszközön használva is teljes mértékben a maximális élményt nyújtja.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Ezáltal a felület kezelése nincsen asztali számítógéphez kötve, bármikor kitudjuk használni bármely funkcióját az oldalnak.</a:t>
            </a:r>
            <a:endParaRPr dirty="0"/>
          </a:p>
        </p:txBody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753B8D68-A1F8-22AF-5D25-7D41DF8FA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0501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tesztelést két oldalon végeztük el.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Frontend oldalon automatizált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tesztekkel ellenőriztük a fő funkciókat.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Backend oldalon pedig Postman segítségével vizsgáltuk az API végpontokat.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Azt kiemelném, hogy nem csak pozitív, de negatív 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eseteket is teszteltünk, hogy minél stabilabb legyen a rendszer.</a:t>
            </a:r>
            <a:endParaRPr dirty="0"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projekt során a csapatmunkát több eszközzel támogattuk.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Napi kommunikációra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Discordot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használtunk, a fejlesztési feladatokat GitHubon, külön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branchekben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kezeltük.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közös megtervezések Google Drive-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a felületterveket pedig </a:t>
            </a:r>
            <a:r>
              <a:rPr lang="hu-HU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Figma</a:t>
            </a: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segítségével egyeztettük.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Ennek köszönhetően mindkettőnk pontosan látta a saját feladatait, és a munka jól szervezetten, párhuzamosan tudott haladni.</a:t>
            </a:r>
            <a:endParaRPr dirty="0"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Samu: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projekt következő lépéseit három fő irányban látjuk.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 első a mobilos alkalmazás, hogy a felhasználók gyorsabban és kényelmesebben, bárhonnan elérjék az eseményeket.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második az értesítőrendszer, amivel automatikusan tudjuk jelezni az új eseményeket, határidőket és fontos változásokat.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u-HU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Tomi: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harmadik az online vásárlást, intézményi előfizetésként képzeljük el.</a:t>
            </a:r>
            <a:br>
              <a:rPr lang="hu-HU" dirty="0"/>
            </a:br>
            <a:r>
              <a:rPr lang="hu-HU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 iskolák éves bérletet vásárolhatnak, ami prémium funkciókat ad.</a:t>
            </a:r>
            <a:endParaRPr dirty="0"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dia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tartalom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zakaszfejléc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artalomrész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Összehasonlítás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sak cím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res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talomrész képaláírással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ép képaláírással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függőleges szöveg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üggőleges cím és szöveg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3901123" y="2515898"/>
            <a:ext cx="4389748" cy="134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</a:pPr>
            <a:r>
              <a:rPr lang="hu-HU">
                <a:latin typeface="Cambria"/>
                <a:ea typeface="Cambria"/>
                <a:cs typeface="Cambria"/>
                <a:sym typeface="Cambria"/>
              </a:rPr>
              <a:t>EseményTér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3684309" y="4816138"/>
            <a:ext cx="4823381" cy="984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>
                <a:latin typeface="Cambria"/>
                <a:ea typeface="Cambria"/>
                <a:cs typeface="Cambria"/>
                <a:sym typeface="Cambria"/>
              </a:rPr>
              <a:t>Készítették: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>
                <a:latin typeface="Cambria"/>
                <a:ea typeface="Cambria"/>
                <a:cs typeface="Cambria"/>
                <a:sym typeface="Cambria"/>
              </a:rPr>
              <a:t>Nagy Levéd Sámuel, Tóth Tamás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95" y="1883685"/>
            <a:ext cx="2347181" cy="3476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6035" y="1883685"/>
            <a:ext cx="2347181" cy="3476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328DACF-C190-D603-12FE-F12ED351F0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" b="55"/>
          <a:stretch/>
        </p:blipFill>
        <p:spPr>
          <a:xfrm>
            <a:off x="4669781" y="-105728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5;p5">
            <a:extLst>
              <a:ext uri="{FF2B5EF4-FFF2-40B4-BE49-F238E27FC236}">
                <a16:creationId xmlns:a16="http://schemas.microsoft.com/office/drawing/2014/main" id="{6F45A2C4-DC8B-0FF2-B751-05BC7B478441}"/>
              </a:ext>
            </a:extLst>
          </p:cNvPr>
          <p:cNvSpPr/>
          <p:nvPr/>
        </p:nvSpPr>
        <p:spPr>
          <a:xfrm>
            <a:off x="7667808" y="3632669"/>
            <a:ext cx="3651427" cy="2488998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25;p5">
            <a:extLst>
              <a:ext uri="{FF2B5EF4-FFF2-40B4-BE49-F238E27FC236}">
                <a16:creationId xmlns:a16="http://schemas.microsoft.com/office/drawing/2014/main" id="{728FC3E7-18EE-112C-88DD-42D924B448DE}"/>
              </a:ext>
            </a:extLst>
          </p:cNvPr>
          <p:cNvSpPr/>
          <p:nvPr/>
        </p:nvSpPr>
        <p:spPr>
          <a:xfrm>
            <a:off x="708817" y="3632669"/>
            <a:ext cx="3651427" cy="2488998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38;p6">
            <a:extLst>
              <a:ext uri="{FF2B5EF4-FFF2-40B4-BE49-F238E27FC236}">
                <a16:creationId xmlns:a16="http://schemas.microsoft.com/office/drawing/2014/main" id="{C4526191-E079-ECAD-7FB7-CB581B5F7FFD}"/>
              </a:ext>
            </a:extLst>
          </p:cNvPr>
          <p:cNvSpPr/>
          <p:nvPr/>
        </p:nvSpPr>
        <p:spPr>
          <a:xfrm>
            <a:off x="1626101" y="1576108"/>
            <a:ext cx="8939798" cy="1723077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Probléma és Megoldás</a:t>
            </a:r>
            <a:endParaRPr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B9244666-2797-0A92-D938-9CAC12D9EB31}"/>
              </a:ext>
            </a:extLst>
          </p:cNvPr>
          <p:cNvSpPr txBox="1"/>
          <p:nvPr/>
        </p:nvSpPr>
        <p:spPr>
          <a:xfrm>
            <a:off x="867791" y="3695963"/>
            <a:ext cx="33334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hu-HU" sz="2000" b="1" dirty="0">
                <a:latin typeface="Times New Roman"/>
                <a:ea typeface="Times New Roman"/>
                <a:cs typeface="Times New Roman"/>
                <a:sym typeface="Times New Roman"/>
              </a:rPr>
              <a:t>Probléma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széttagolt kommunikáció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több külön platform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nehézkes eseménykezelés</a:t>
            </a:r>
            <a:endParaRPr lang="hu-HU" sz="2000" dirty="0"/>
          </a:p>
          <a:p>
            <a:pPr lvl="0" algn="ctr">
              <a:buClr>
                <a:schemeClr val="dk1"/>
              </a:buClr>
              <a:buSzPts val="1800"/>
            </a:pPr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információk nehéz követése</a:t>
            </a:r>
            <a:endParaRPr lang="hu-HU" sz="2000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78AAD97-7AA0-25DC-DE15-591AEFA381D6}"/>
              </a:ext>
            </a:extLst>
          </p:cNvPr>
          <p:cNvSpPr txBox="1"/>
          <p:nvPr/>
        </p:nvSpPr>
        <p:spPr>
          <a:xfrm>
            <a:off x="7385588" y="3758079"/>
            <a:ext cx="42158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hu-HU" sz="2000" b="1" dirty="0">
                <a:latin typeface="Times New Roman"/>
                <a:ea typeface="Times New Roman"/>
                <a:cs typeface="Times New Roman"/>
                <a:sym typeface="Times New Roman"/>
              </a:rPr>
              <a:t>Megoldás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egységes webes rendszer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központi eseménykezelés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egyszerűbb kommunikáció</a:t>
            </a:r>
            <a:endParaRPr lang="hu-HU" sz="2000" dirty="0"/>
          </a:p>
          <a:p>
            <a:pPr lvl="0" algn="ctr"/>
            <a:r>
              <a:rPr lang="hu-HU" sz="2000" dirty="0">
                <a:latin typeface="Times New Roman"/>
                <a:ea typeface="Times New Roman"/>
                <a:cs typeface="Times New Roman"/>
                <a:sym typeface="Times New Roman"/>
              </a:rPr>
              <a:t>átlátható információk</a:t>
            </a:r>
            <a:endParaRPr lang="hu-HU" sz="2000" dirty="0"/>
          </a:p>
          <a:p>
            <a:endParaRPr lang="hu-HU" sz="20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2F355FB-4B84-7D47-6AF2-8FD42995F575}"/>
              </a:ext>
            </a:extLst>
          </p:cNvPr>
          <p:cNvSpPr txBox="1"/>
          <p:nvPr/>
        </p:nvSpPr>
        <p:spPr>
          <a:xfrm>
            <a:off x="1963825" y="2035002"/>
            <a:ext cx="9008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Cél: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  <a:sym typeface="Times New Roman"/>
              </a:rPr>
              <a:t> </a:t>
            </a:r>
            <a:r>
              <a:rPr lang="hu-HU" sz="2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 tanárok és diákok közötti kommunikáció egyszerűsítése, valamint az iskolai események központi és átlátható kezelése egy rendszerben.</a:t>
            </a:r>
            <a:endParaRPr lang="hu-H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0E1AE6A-30E4-25BA-E263-09D543E67A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7;p9">
            <a:extLst>
              <a:ext uri="{FF2B5EF4-FFF2-40B4-BE49-F238E27FC236}">
                <a16:creationId xmlns:a16="http://schemas.microsoft.com/office/drawing/2014/main" id="{57801444-2324-3ADF-5DCA-2533CC8DF37E}"/>
              </a:ext>
            </a:extLst>
          </p:cNvPr>
          <p:cNvSpPr/>
          <p:nvPr/>
        </p:nvSpPr>
        <p:spPr>
          <a:xfrm>
            <a:off x="9993075" y="-339150"/>
            <a:ext cx="3492600" cy="7536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67;p9">
            <a:extLst>
              <a:ext uri="{FF2B5EF4-FFF2-40B4-BE49-F238E27FC236}">
                <a16:creationId xmlns:a16="http://schemas.microsoft.com/office/drawing/2014/main" id="{163E3D33-F746-2664-41C5-8B2E84F2837E}"/>
              </a:ext>
            </a:extLst>
          </p:cNvPr>
          <p:cNvSpPr/>
          <p:nvPr/>
        </p:nvSpPr>
        <p:spPr>
          <a:xfrm>
            <a:off x="-1113506" y="-339150"/>
            <a:ext cx="3492600" cy="7536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582328" y="2434975"/>
            <a:ext cx="4099389" cy="1777429"/>
          </a:xfrm>
          <a:prstGeom prst="rect">
            <a:avLst/>
          </a:prstGeom>
          <a:solidFill>
            <a:srgbClr val="D8D8D8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90452" y="2434975"/>
            <a:ext cx="3059615" cy="1623317"/>
          </a:xfrm>
          <a:prstGeom prst="rect">
            <a:avLst/>
          </a:prstGeom>
          <a:solidFill>
            <a:srgbClr val="D8D8D8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A projekt fő funkciói</a:t>
            </a:r>
            <a:endParaRPr dirty="0"/>
          </a:p>
        </p:txBody>
      </p:sp>
      <p:sp>
        <p:nvSpPr>
          <p:cNvPr id="106" name="Google Shape;106;p3"/>
          <p:cNvSpPr txBox="1"/>
          <p:nvPr/>
        </p:nvSpPr>
        <p:spPr>
          <a:xfrm>
            <a:off x="1498862" y="2794571"/>
            <a:ext cx="15731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Regisztráció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Bejelentkezés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Profilkezelés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947643" y="2724225"/>
            <a:ext cx="355390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Események böngészése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Események létrehozása és kezelése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Intézmények és osztályok kezelése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Jelentkezési kérelmek kezelése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F81E4B4F-78E5-5BEA-E4F3-BDFB2C78B2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 rot="5400000">
            <a:off x="4237613" y="-6392525"/>
            <a:ext cx="3492600" cy="141567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>
                <a:latin typeface="Cambria"/>
                <a:ea typeface="Cambria"/>
                <a:cs typeface="Cambria"/>
                <a:sym typeface="Cambria"/>
              </a:rPr>
              <a:t>A rendszer felépítése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1291472" y="2432115"/>
            <a:ext cx="48045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Frontend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Vue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 alapú kliensalkalmazás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Backend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Laravel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 REST API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Adatbázis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Kommunikáció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HTTP API hívások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</a:rPr>
              <a:t>Előny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frontend és backend külön fejleszthető, bővíthető</a:t>
            </a:r>
            <a:endParaRPr dirty="0"/>
          </a:p>
        </p:txBody>
      </p:sp>
      <p:pic>
        <p:nvPicPr>
          <p:cNvPr id="117" name="Google Shape;1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8882" y="2551650"/>
            <a:ext cx="4180341" cy="17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916881">
            <a:off x="5967247" y="3409924"/>
            <a:ext cx="1970576" cy="205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6075" y="3624840"/>
            <a:ext cx="3550444" cy="236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CE37B5BB-7703-FB12-0FE0-1F492C9592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>
                <a:latin typeface="Cambria"/>
                <a:ea typeface="Cambria"/>
                <a:cs typeface="Cambria"/>
                <a:sym typeface="Cambria"/>
              </a:rPr>
              <a:t>Frontend felépítés és navigáció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872762" y="2472571"/>
            <a:ext cx="65097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Vue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 SPA,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alapú navigáció</a:t>
            </a: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Fő oldalak: Bejelentkezés, regisztráció, eseménylista, eseményrészletek, naptár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Szerepkör alapú irányítópultok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Állapotkezelés böngésző tárolóval és </a:t>
            </a:r>
            <a:r>
              <a:rPr lang="hu-HU" sz="1800" dirty="0" err="1">
                <a:solidFill>
                  <a:schemeClr val="dk1"/>
                </a:solidFill>
              </a:rPr>
              <a:t>tokenes</a:t>
            </a:r>
            <a:r>
              <a:rPr lang="hu-HU" sz="1800" dirty="0">
                <a:solidFill>
                  <a:schemeClr val="dk1"/>
                </a:solidFill>
              </a:rPr>
              <a:t> hitelesítéssel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hu-HU" sz="1800" dirty="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 dirty="0">
                <a:solidFill>
                  <a:schemeClr val="dk1"/>
                </a:solidFill>
              </a:rPr>
              <a:t>API kapcsolat: események, kommentek, kedvencek, részvétel, osztály és kérelmek kezelése</a:t>
            </a:r>
          </a:p>
        </p:txBody>
      </p:sp>
      <p:sp>
        <p:nvSpPr>
          <p:cNvPr id="150" name="Google Shape;150;p7"/>
          <p:cNvSpPr/>
          <p:nvPr/>
        </p:nvSpPr>
        <p:spPr>
          <a:xfrm>
            <a:off x="7826625" y="1335725"/>
            <a:ext cx="3492600" cy="52929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9540" y="1714300"/>
            <a:ext cx="5566768" cy="4823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7F97EB40-BCA8-156B-ADB7-A400002E53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273924" y="1525348"/>
            <a:ext cx="7475616" cy="5332652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5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Backend architektúra és API</a:t>
            </a:r>
            <a:endParaRPr dirty="0"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3615821A-0B5A-AFA2-70D0-BB28F94FB7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1A182C00-DF9A-595F-45C3-1B92870DB267}"/>
              </a:ext>
            </a:extLst>
          </p:cNvPr>
          <p:cNvSpPr txBox="1"/>
          <p:nvPr/>
        </p:nvSpPr>
        <p:spPr>
          <a:xfrm>
            <a:off x="1432921" y="2238753"/>
            <a:ext cx="563435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 err="1"/>
              <a:t>Laravel</a:t>
            </a:r>
            <a:r>
              <a:rPr lang="hu-HU" sz="1800" dirty="0"/>
              <a:t> 12 REST API, </a:t>
            </a:r>
            <a:r>
              <a:rPr lang="hu-HU" sz="1800" dirty="0" err="1"/>
              <a:t>Sanctum</a:t>
            </a:r>
            <a:r>
              <a:rPr lang="hu-HU" sz="1800" dirty="0"/>
              <a:t> alapú </a:t>
            </a:r>
            <a:r>
              <a:rPr lang="hu-HU" sz="1800" dirty="0" err="1"/>
              <a:t>tokenes</a:t>
            </a:r>
            <a:r>
              <a:rPr lang="hu-HU" sz="1800" dirty="0"/>
              <a:t> védelem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Modulok: Auth és email-verifikáció, események, intézmények, osztályok, kérelmek, kommentek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Implementált műveletek: esemény létrehozás, részvétel, kedvenc, ismétlődő alkalmak kezelése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Intézményi folyamatok: osztály- és tagságkezelés, kérelmek jóváhagyása/elutasítása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Egységes JSON válaszok és validáció a megbízható működésért</a:t>
            </a:r>
          </a:p>
          <a:p>
            <a:endParaRPr lang="hu-H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2729700" y="111225"/>
            <a:ext cx="6732600" cy="1638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600" cy="8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>
                <a:latin typeface="Cambria"/>
                <a:ea typeface="Cambria"/>
                <a:cs typeface="Cambria"/>
                <a:sym typeface="Cambria"/>
              </a:rPr>
              <a:t>Jogosultság és biztonság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1291479" y="2404683"/>
            <a:ext cx="45240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 alapú hitelesítés (Sanctum)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Védett API végpontok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Szerepkör-alapú hozzáférés</a:t>
            </a:r>
            <a:endParaRPr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Kritikus műveletek korlátozása</a:t>
            </a:r>
            <a:endParaRPr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Email-verifikáció és hozzáférés-védelem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7216234" y="2413058"/>
            <a:ext cx="3429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Szerepkörök: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hu-HU" sz="1800">
                <a:solidFill>
                  <a:schemeClr val="dk1"/>
                </a:solidFill>
              </a:rPr>
              <a:t>Diák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hu-HU" sz="1800">
                <a:solidFill>
                  <a:schemeClr val="dk1"/>
                </a:solidFill>
              </a:rPr>
              <a:t>Tanár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hu-HU" sz="1800">
                <a:solidFill>
                  <a:schemeClr val="dk1"/>
                </a:solidFill>
              </a:rPr>
              <a:t>Admin</a:t>
            </a:r>
            <a:endParaRPr sz="1800" b="1">
              <a:solidFill>
                <a:schemeClr val="dk1"/>
              </a:solidFill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C16AE64D-33DD-F020-DFA3-E58627491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356025" y="1698075"/>
            <a:ext cx="8708700" cy="46878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>
                <a:latin typeface="Cambria"/>
                <a:ea typeface="Cambria"/>
                <a:cs typeface="Cambria"/>
                <a:sym typeface="Cambria"/>
              </a:rPr>
              <a:t>Felhasználói élmény és érték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1291484" y="2748985"/>
            <a:ext cx="64536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Egységes, könnyen tanulható felület minden szerepkörnek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Gyors és logikus navigáció a fő funkciók között</a:t>
            </a:r>
            <a:endParaRPr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Átlátható visszajelzések a folyamatok állapotáról</a:t>
            </a:r>
            <a:endParaRPr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Reszponzív működés asztali és mobil nézetben</a:t>
            </a:r>
            <a:endParaRPr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Cél: minél kevesebb lépésből elvégezhető folyamatok</a:t>
            </a:r>
            <a:endParaRPr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C8115FEC-D477-C7C5-2EF0-1670B6153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9993075" y="-339150"/>
            <a:ext cx="3492600" cy="75363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>
                <a:latin typeface="Cambria"/>
                <a:ea typeface="Cambria"/>
                <a:cs typeface="Cambria"/>
                <a:sym typeface="Cambria"/>
              </a:rPr>
              <a:t>Adatmodell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1558873" y="1720491"/>
            <a:ext cx="77676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Fő entitások: felhasználók, intézmények, osztályok, események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Kapcsolatok: tagságok, kérelmek, esemény-interakciók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Relációs modell biztosítja az adatok konzisztenciáját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Kulcsfontosságú cél: adatintegritás és visszakövethetőség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Bővíthető struktúra új funkciókhoz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hu-H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26ABEE9A-C9D5-0750-497F-3E38C12853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9FD071AA-436D-971A-A541-D08A464C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>
            <a:extLst>
              <a:ext uri="{FF2B5EF4-FFF2-40B4-BE49-F238E27FC236}">
                <a16:creationId xmlns:a16="http://schemas.microsoft.com/office/drawing/2014/main" id="{570EDD70-0BDF-CEC5-2C59-32C50CD8E3B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Reszponzivitás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6" name="Google Shape;166;p9">
            <a:extLst>
              <a:ext uri="{FF2B5EF4-FFF2-40B4-BE49-F238E27FC236}">
                <a16:creationId xmlns:a16="http://schemas.microsoft.com/office/drawing/2014/main" id="{9474E5A6-E23B-DABB-5990-92CEA2EE42DD}"/>
              </a:ext>
            </a:extLst>
          </p:cNvPr>
          <p:cNvSpPr txBox="1"/>
          <p:nvPr/>
        </p:nvSpPr>
        <p:spPr>
          <a:xfrm>
            <a:off x="389240" y="2268714"/>
            <a:ext cx="77676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hu-HU" sz="1800" dirty="0"/>
              <a:t>Reszponzív felület asztali, tablet és mobil nézetre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r>
              <a:rPr lang="hu-HU" sz="1800" dirty="0"/>
              <a:t>Rugalmas elrendezés (kártyák, listák, menük igazodnak a kijelzőhöz)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r>
              <a:rPr lang="hu-HU" sz="1800" dirty="0"/>
              <a:t>Olvasható betűméret és jól kezelhető gombok kisebb kijelzőn is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r>
              <a:rPr lang="hu-HU" sz="1800" dirty="0"/>
              <a:t>Fő funkciók minden nézetben elérhetők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7ADDCDEC-1DC4-5524-2DCA-9EB04EF608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27C76B75-C4A7-F786-8BD9-C2B96D12B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421" y="1335733"/>
            <a:ext cx="2581639" cy="458881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7568F30-6AA1-5E0A-7D41-3F9E2278A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409" y="3429000"/>
            <a:ext cx="2275771" cy="334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85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-2850775" y="5134425"/>
            <a:ext cx="13068000" cy="34605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0"/>
          <p:cNvSpPr txBox="1"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Tesztelés</a:t>
            </a:r>
            <a:endParaRPr dirty="0"/>
          </a:p>
        </p:txBody>
      </p:sp>
      <p:sp>
        <p:nvSpPr>
          <p:cNvPr id="175" name="Google Shape;175;p10"/>
          <p:cNvSpPr txBox="1"/>
          <p:nvPr/>
        </p:nvSpPr>
        <p:spPr>
          <a:xfrm>
            <a:off x="1520079" y="2274600"/>
            <a:ext cx="67779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tesztek pozitív és negatív tesztek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Backend: 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tesztelés Postmannel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Pozitív és negatív esetek ellenőrzése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Cél: stabil működés és hibák korai kiszűrése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02D68B3B-2132-2F6A-4985-5A1B54A7F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" b="55"/>
          <a:stretch/>
        </p:blipFill>
        <p:spPr>
          <a:xfrm>
            <a:off x="-317902" y="-137425"/>
            <a:ext cx="2852432" cy="2621626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4BE8C11D-ABCB-AD67-494E-6C26538EC1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89371" y="3857626"/>
            <a:ext cx="1829864" cy="1829864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1986AE4E-E05B-3DF2-C1AB-9899B9A827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89371" y="1538070"/>
            <a:ext cx="1670573" cy="1892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ctrTitle"/>
          </p:nvPr>
        </p:nvSpPr>
        <p:spPr>
          <a:xfrm>
            <a:off x="430974" y="504378"/>
            <a:ext cx="4336235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Csapatmunka</a:t>
            </a:r>
            <a:endParaRPr dirty="0"/>
          </a:p>
        </p:txBody>
      </p:sp>
      <p:sp>
        <p:nvSpPr>
          <p:cNvPr id="181" name="Google Shape;181;p11"/>
          <p:cNvSpPr txBox="1"/>
          <p:nvPr/>
        </p:nvSpPr>
        <p:spPr>
          <a:xfrm>
            <a:off x="1235026" y="2149950"/>
            <a:ext cx="539437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Kommunikáció: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Discord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Megosztott munka: GitHub, Google</a:t>
            </a:r>
            <a:r>
              <a:rPr lang="hu-HU" sz="1800" dirty="0">
                <a:solidFill>
                  <a:schemeClr val="dk1"/>
                </a:solidFill>
              </a:rPr>
              <a:t> </a:t>
            </a:r>
            <a:r>
              <a:rPr lang="hu-HU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Drive, </a:t>
            </a:r>
            <a:r>
              <a:rPr lang="hu-HU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endParaRPr dirty="0"/>
          </a:p>
        </p:txBody>
      </p:sp>
      <p:sp>
        <p:nvSpPr>
          <p:cNvPr id="185" name="Google Shape;185;p11"/>
          <p:cNvSpPr/>
          <p:nvPr/>
        </p:nvSpPr>
        <p:spPr>
          <a:xfrm>
            <a:off x="-1795175" y="4234325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"/>
          <p:cNvSpPr/>
          <p:nvPr/>
        </p:nvSpPr>
        <p:spPr>
          <a:xfrm rot="-5400000">
            <a:off x="10310175" y="-2299450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32FD08B5-7A42-9156-76EE-A85EACDFF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5" b="345"/>
          <a:stretch/>
        </p:blipFill>
        <p:spPr>
          <a:xfrm>
            <a:off x="8565083" y="1556073"/>
            <a:ext cx="2696838" cy="267825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3ACE7F7-D201-D52C-68D5-69DA9EE253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0896" y="4174295"/>
            <a:ext cx="1998785" cy="199878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77C569F-51E7-248F-140C-C2C7D950D8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38052" y="3467013"/>
            <a:ext cx="1534624" cy="1534624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93D3B566-02E0-8135-75EC-6F16C95533D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38343" y="4502750"/>
            <a:ext cx="2143125" cy="2143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D5D502B9-1114-96F0-137A-8AF8CA80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451" y="363285"/>
            <a:ext cx="2113472" cy="4167199"/>
          </a:xfrm>
          <a:prstGeom prst="rect">
            <a:avLst/>
          </a:prstGeom>
        </p:spPr>
      </p:pic>
      <p:sp>
        <p:nvSpPr>
          <p:cNvPr id="2" name="Google Shape;185;p11">
            <a:extLst>
              <a:ext uri="{FF2B5EF4-FFF2-40B4-BE49-F238E27FC236}">
                <a16:creationId xmlns:a16="http://schemas.microsoft.com/office/drawing/2014/main" id="{59FB9058-B16B-62FF-42D3-15B1E3A50903}"/>
              </a:ext>
            </a:extLst>
          </p:cNvPr>
          <p:cNvSpPr/>
          <p:nvPr/>
        </p:nvSpPr>
        <p:spPr>
          <a:xfrm>
            <a:off x="10445700" y="4265855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86;p11">
            <a:extLst>
              <a:ext uri="{FF2B5EF4-FFF2-40B4-BE49-F238E27FC236}">
                <a16:creationId xmlns:a16="http://schemas.microsoft.com/office/drawing/2014/main" id="{7A225262-4330-5433-DFC6-8966CB87C205}"/>
              </a:ext>
            </a:extLst>
          </p:cNvPr>
          <p:cNvSpPr/>
          <p:nvPr/>
        </p:nvSpPr>
        <p:spPr>
          <a:xfrm rot="-5400000">
            <a:off x="-1598046" y="-2278429"/>
            <a:ext cx="3492600" cy="48231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ctrTitle"/>
          </p:nvPr>
        </p:nvSpPr>
        <p:spPr>
          <a:xfrm>
            <a:off x="430975" y="504378"/>
            <a:ext cx="7864614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Továbbfejlesztési lehetőségek</a:t>
            </a:r>
            <a:endParaRPr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E884CCC8-F38A-918E-2031-3A469699B264}"/>
              </a:ext>
            </a:extLst>
          </p:cNvPr>
          <p:cNvSpPr/>
          <p:nvPr/>
        </p:nvSpPr>
        <p:spPr>
          <a:xfrm>
            <a:off x="621323" y="2446885"/>
            <a:ext cx="5154930" cy="2686050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outerShdw blurRad="1397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070E45E-AE58-19F9-F366-069C291D09D9}"/>
              </a:ext>
            </a:extLst>
          </p:cNvPr>
          <p:cNvSpPr txBox="1"/>
          <p:nvPr/>
        </p:nvSpPr>
        <p:spPr>
          <a:xfrm>
            <a:off x="848592" y="2872460"/>
            <a:ext cx="5036393" cy="1658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Mobilos alkalmazás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Értesítő rendszer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 sz="28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Online vásárlás</a:t>
            </a:r>
          </a:p>
          <a:p>
            <a:endParaRPr lang="hu-HU" dirty="0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B18EEF8-EFE1-B675-104E-DC6B6D2D4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30" y="4717636"/>
            <a:ext cx="3603423" cy="10002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0090FA25-CD5A-C010-3B50-EEB51A3D6401}"/>
              </a:ext>
            </a:extLst>
          </p:cNvPr>
          <p:cNvSpPr/>
          <p:nvPr/>
        </p:nvSpPr>
        <p:spPr>
          <a:xfrm rot="16200000">
            <a:off x="485515" y="-674370"/>
            <a:ext cx="4227151" cy="2832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6" name="Google Shape;196;p13"/>
          <p:cNvSpPr txBox="1">
            <a:spLocks noGrp="1"/>
          </p:cNvSpPr>
          <p:nvPr>
            <p:ph type="ctrTitle"/>
          </p:nvPr>
        </p:nvSpPr>
        <p:spPr>
          <a:xfrm>
            <a:off x="430974" y="504378"/>
            <a:ext cx="4336235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hu-HU" sz="4400" dirty="0">
                <a:latin typeface="Cambria"/>
                <a:ea typeface="Cambria"/>
                <a:cs typeface="Cambria"/>
                <a:sym typeface="Cambria"/>
              </a:rPr>
              <a:t>Demó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3C5ED"/>
            </a:gs>
            <a:gs pos="74000">
              <a:srgbClr val="72C4E9"/>
            </a:gs>
            <a:gs pos="83000">
              <a:srgbClr val="72C4E9"/>
            </a:gs>
            <a:gs pos="100000">
              <a:srgbClr val="A1D6F0"/>
            </a:gs>
          </a:gsLst>
          <a:lin ang="5400000" scaled="0"/>
        </a:gra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>
            <a:spLocks noGrp="1"/>
          </p:cNvSpPr>
          <p:nvPr>
            <p:ph type="ctrTitle"/>
          </p:nvPr>
        </p:nvSpPr>
        <p:spPr>
          <a:xfrm>
            <a:off x="872763" y="1593439"/>
            <a:ext cx="10446473" cy="81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hu-HU" sz="5400" b="1" i="1">
                <a:latin typeface="Cambria"/>
                <a:ea typeface="Cambria"/>
                <a:cs typeface="Cambria"/>
                <a:sym typeface="Cambria"/>
              </a:rPr>
              <a:t>Köszönjük a figyelmüket!</a:t>
            </a:r>
            <a:endParaRPr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DADB9E7F-9F4E-0597-96C3-8F07F13D9B34}"/>
              </a:ext>
            </a:extLst>
          </p:cNvPr>
          <p:cNvSpPr txBox="1"/>
          <p:nvPr/>
        </p:nvSpPr>
        <p:spPr>
          <a:xfrm>
            <a:off x="0" y="5380672"/>
            <a:ext cx="30434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Források:</a:t>
            </a:r>
          </a:p>
          <a:p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http://www.chatgpt.com/</a:t>
            </a:r>
            <a:b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http://www.github.com/</a:t>
            </a:r>
          </a:p>
          <a:p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http://www.figma.com/</a:t>
            </a:r>
            <a:b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http://www.drive.google.com/</a:t>
            </a:r>
            <a:b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hu-HU" sz="1200" dirty="0">
                <a:latin typeface="Cambria" panose="02040503050406030204" pitchFamily="18" charset="0"/>
                <a:ea typeface="Cambria" panose="02040503050406030204" pitchFamily="18" charset="0"/>
              </a:rPr>
              <a:t>https://discord.com/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1026</Words>
  <Application>Microsoft Office PowerPoint</Application>
  <PresentationFormat>Szélesvásznú</PresentationFormat>
  <Paragraphs>164</Paragraphs>
  <Slides>15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Times New Roman</vt:lpstr>
      <vt:lpstr>Arial</vt:lpstr>
      <vt:lpstr>Cambria</vt:lpstr>
      <vt:lpstr>Play</vt:lpstr>
      <vt:lpstr>Courier New</vt:lpstr>
      <vt:lpstr>Office-téma</vt:lpstr>
      <vt:lpstr>EseményTér</vt:lpstr>
      <vt:lpstr>Probléma és Megoldás</vt:lpstr>
      <vt:lpstr>A projekt fő funkciói</vt:lpstr>
      <vt:lpstr>A rendszer felépítése</vt:lpstr>
      <vt:lpstr>Frontend felépítés és navigáció</vt:lpstr>
      <vt:lpstr>Backend architektúra és API</vt:lpstr>
      <vt:lpstr>Jogosultság és biztonság</vt:lpstr>
      <vt:lpstr>Felhasználói élmény és érték</vt:lpstr>
      <vt:lpstr>Adatmodell</vt:lpstr>
      <vt:lpstr>Reszponzivitás</vt:lpstr>
      <vt:lpstr>Tesztelés</vt:lpstr>
      <vt:lpstr>Csapatmunka</vt:lpstr>
      <vt:lpstr>Továbbfejlesztési lehetőségek</vt:lpstr>
      <vt:lpstr>Demó</vt:lpstr>
      <vt:lpstr>Köszönjük a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O365 felhasználó</dc:creator>
  <cp:lastModifiedBy>O365 felhasználó</cp:lastModifiedBy>
  <cp:revision>14</cp:revision>
  <dcterms:created xsi:type="dcterms:W3CDTF">2026-03-04T16:50:56Z</dcterms:created>
  <dcterms:modified xsi:type="dcterms:W3CDTF">2026-03-25T22:51:03Z</dcterms:modified>
</cp:coreProperties>
</file>