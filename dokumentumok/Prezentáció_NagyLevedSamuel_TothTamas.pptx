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</p:sldIdLst>
  <p:sldSz cx="12192000" cy="6858000"/>
  <p:notesSz cx="6858000" cy="9144000"/>
  <p:embeddedFontLst>
    <p:embeddedFont>
      <p:font typeface="Cambria" panose="02040503050406030204" pitchFamily="18" charset="0"/>
      <p:regular r:id="rId17"/>
      <p:bold r:id="rId18"/>
      <p:italic r:id="rId19"/>
      <p:boldItalic r:id="rId20"/>
    </p:embeddedFont>
    <p:embeddedFont>
      <p:font typeface="Play" panose="020B0604020202020204" charset="0"/>
      <p:regular r:id="rId21"/>
      <p:bold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4" roundtripDataSignature="AMtx7mj67VHAuCHlscAUacmt/Mbt/wFF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6AE613-179F-4F3B-B0BF-9CF6581B68B4}">
  <a:tblStyle styleId="{A36AE613-179F-4F3B-B0BF-9CF6581B68B4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9EC"/>
          </a:solidFill>
        </a:fill>
      </a:tcStyle>
    </a:wholeTbl>
    <a:band1H>
      <a:tcTxStyle/>
      <a:tcStyle>
        <a:tcBdr/>
        <a:fill>
          <a:solidFill>
            <a:srgbClr val="CAD1D8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D1D8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92" y="185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dia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7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7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tartalom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zakaszfejléc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9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9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tartalomrész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0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Összehasonlítás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1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1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1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1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1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sak cím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Üres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rtalomrész képaláírással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4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4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ép képaláírással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5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5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függőleges szöveg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6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üggőleges cím és szöveg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7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7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>
            <a:spLocks noGrp="1"/>
          </p:cNvSpPr>
          <p:nvPr>
            <p:ph type="ctrTitle"/>
          </p:nvPr>
        </p:nvSpPr>
        <p:spPr>
          <a:xfrm>
            <a:off x="3901123" y="2515898"/>
            <a:ext cx="4389748" cy="1341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mbria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EseményTér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5" name="Google Shape;85;p1"/>
          <p:cNvSpPr txBox="1">
            <a:spLocks noGrp="1"/>
          </p:cNvSpPr>
          <p:nvPr>
            <p:ph type="subTitle" idx="1"/>
          </p:nvPr>
        </p:nvSpPr>
        <p:spPr>
          <a:xfrm>
            <a:off x="3684309" y="4816138"/>
            <a:ext cx="4823381" cy="984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Készítették:</a:t>
            </a:r>
            <a:endParaRPr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Nagy Levéd Sámuel, Tóth Tamás</a:t>
            </a:r>
            <a:endParaRPr/>
          </a:p>
        </p:txBody>
      </p:sp>
      <p:pic>
        <p:nvPicPr>
          <p:cNvPr id="89" name="Google Shape;89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5595" y="1883685"/>
            <a:ext cx="2347181" cy="34768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0" name="Google Shape;90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946035" y="1883685"/>
            <a:ext cx="2347181" cy="34768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5328DACF-C190-D603-12FE-F12ED351F0C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55" b="55"/>
          <a:stretch/>
        </p:blipFill>
        <p:spPr>
          <a:xfrm>
            <a:off x="4669781" y="-105728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25;p5">
            <a:extLst>
              <a:ext uri="{FF2B5EF4-FFF2-40B4-BE49-F238E27FC236}">
                <a16:creationId xmlns:a16="http://schemas.microsoft.com/office/drawing/2014/main" id="{6F45A2C4-DC8B-0FF2-B751-05BC7B478441}"/>
              </a:ext>
            </a:extLst>
          </p:cNvPr>
          <p:cNvSpPr/>
          <p:nvPr/>
        </p:nvSpPr>
        <p:spPr>
          <a:xfrm>
            <a:off x="7667808" y="3632669"/>
            <a:ext cx="3651427" cy="2488998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25;p5">
            <a:extLst>
              <a:ext uri="{FF2B5EF4-FFF2-40B4-BE49-F238E27FC236}">
                <a16:creationId xmlns:a16="http://schemas.microsoft.com/office/drawing/2014/main" id="{728FC3E7-18EE-112C-88DD-42D924B448DE}"/>
              </a:ext>
            </a:extLst>
          </p:cNvPr>
          <p:cNvSpPr/>
          <p:nvPr/>
        </p:nvSpPr>
        <p:spPr>
          <a:xfrm>
            <a:off x="708817" y="3632669"/>
            <a:ext cx="3651427" cy="2488998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38;p6">
            <a:extLst>
              <a:ext uri="{FF2B5EF4-FFF2-40B4-BE49-F238E27FC236}">
                <a16:creationId xmlns:a16="http://schemas.microsoft.com/office/drawing/2014/main" id="{C4526191-E079-ECAD-7FB7-CB581B5F7FFD}"/>
              </a:ext>
            </a:extLst>
          </p:cNvPr>
          <p:cNvSpPr/>
          <p:nvPr/>
        </p:nvSpPr>
        <p:spPr>
          <a:xfrm>
            <a:off x="1626101" y="1576108"/>
            <a:ext cx="8939798" cy="1723077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Probléma és Megoldás</a:t>
            </a:r>
            <a:endParaRPr dirty="0"/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B9244666-2797-0A92-D938-9CAC12D9EB31}"/>
              </a:ext>
            </a:extLst>
          </p:cNvPr>
          <p:cNvSpPr txBox="1"/>
          <p:nvPr/>
        </p:nvSpPr>
        <p:spPr>
          <a:xfrm>
            <a:off x="867791" y="3695963"/>
            <a:ext cx="333347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200000"/>
              </a:lnSpc>
            </a:pPr>
            <a:r>
              <a:rPr lang="hu-HU" sz="2000" b="1" dirty="0">
                <a:latin typeface="Times New Roman"/>
                <a:ea typeface="Times New Roman"/>
                <a:cs typeface="Times New Roman"/>
                <a:sym typeface="Times New Roman"/>
              </a:rPr>
              <a:t>Probléma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széttagolt kommunikáció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több külön platform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nehézkes eseménykezelés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információk nehéz követése</a:t>
            </a:r>
            <a:endParaRPr lang="hu-HU" sz="2000" dirty="0"/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478AAD97-7AA0-25DC-DE15-591AEFA381D6}"/>
              </a:ext>
            </a:extLst>
          </p:cNvPr>
          <p:cNvSpPr txBox="1"/>
          <p:nvPr/>
        </p:nvSpPr>
        <p:spPr>
          <a:xfrm>
            <a:off x="7385588" y="3758079"/>
            <a:ext cx="421586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200000"/>
              </a:lnSpc>
            </a:pPr>
            <a:r>
              <a:rPr lang="hu-HU" sz="2000" b="1" dirty="0">
                <a:latin typeface="Times New Roman"/>
                <a:ea typeface="Times New Roman"/>
                <a:cs typeface="Times New Roman"/>
                <a:sym typeface="Times New Roman"/>
              </a:rPr>
              <a:t>Megoldás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egységes webes rendszer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központi eseménykezelés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egyszerűbb kommunikáció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átlátható információk</a:t>
            </a:r>
            <a:endParaRPr lang="hu-HU" sz="2000" dirty="0"/>
          </a:p>
          <a:p>
            <a:endParaRPr lang="hu-HU" sz="2000" dirty="0"/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E2F355FB-4B84-7D47-6AF2-8FD42995F575}"/>
              </a:ext>
            </a:extLst>
          </p:cNvPr>
          <p:cNvSpPr txBox="1"/>
          <p:nvPr/>
        </p:nvSpPr>
        <p:spPr>
          <a:xfrm>
            <a:off x="1963825" y="2035002"/>
            <a:ext cx="9008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b="1" dirty="0">
                <a:latin typeface="Cambria" panose="02040503050406030204" pitchFamily="18" charset="0"/>
                <a:ea typeface="Cambria" panose="02040503050406030204" pitchFamily="18" charset="0"/>
                <a:cs typeface="Times New Roman"/>
                <a:sym typeface="Times New Roman"/>
              </a:rPr>
              <a:t>Cél:</a:t>
            </a:r>
            <a:r>
              <a:rPr lang="hu-HU" sz="2000" dirty="0">
                <a:latin typeface="Cambria" panose="02040503050406030204" pitchFamily="18" charset="0"/>
                <a:ea typeface="Cambria" panose="02040503050406030204" pitchFamily="18" charset="0"/>
                <a:cs typeface="Times New Roman"/>
                <a:sym typeface="Times New Roman"/>
              </a:rPr>
              <a:t> </a:t>
            </a:r>
            <a:r>
              <a:rPr lang="hu-HU" sz="2000" dirty="0">
                <a:latin typeface="Cambria" panose="02040503050406030204" pitchFamily="18" charset="0"/>
                <a:ea typeface="Cambria" panose="02040503050406030204" pitchFamily="18" charset="0"/>
                <a:cs typeface="Cambria"/>
                <a:sym typeface="Cambria"/>
              </a:rPr>
              <a:t>A tanárok és diákok közötti kommunikáció egyszerűsítése, valamint az iskolai események központi és átlátható kezelése egy rendszerben.</a:t>
            </a:r>
            <a:endParaRPr lang="hu-HU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endParaRPr lang="hu-HU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67;p9">
            <a:extLst>
              <a:ext uri="{FF2B5EF4-FFF2-40B4-BE49-F238E27FC236}">
                <a16:creationId xmlns:a16="http://schemas.microsoft.com/office/drawing/2014/main" id="{57801444-2324-3ADF-5DCA-2533CC8DF37E}"/>
              </a:ext>
            </a:extLst>
          </p:cNvPr>
          <p:cNvSpPr/>
          <p:nvPr/>
        </p:nvSpPr>
        <p:spPr>
          <a:xfrm>
            <a:off x="9993075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67;p9">
            <a:extLst>
              <a:ext uri="{FF2B5EF4-FFF2-40B4-BE49-F238E27FC236}">
                <a16:creationId xmlns:a16="http://schemas.microsoft.com/office/drawing/2014/main" id="{163E3D33-F746-2664-41C5-8B2E84F2837E}"/>
              </a:ext>
            </a:extLst>
          </p:cNvPr>
          <p:cNvSpPr/>
          <p:nvPr/>
        </p:nvSpPr>
        <p:spPr>
          <a:xfrm>
            <a:off x="-1113506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"/>
          <p:cNvSpPr/>
          <p:nvPr/>
        </p:nvSpPr>
        <p:spPr>
          <a:xfrm>
            <a:off x="7582328" y="2434975"/>
            <a:ext cx="4099389" cy="1777429"/>
          </a:xfrm>
          <a:prstGeom prst="rect">
            <a:avLst/>
          </a:prstGeom>
          <a:solidFill>
            <a:srgbClr val="D8D8D8"/>
          </a:solidFill>
          <a:ln w="19050" cap="flat" cmpd="sng">
            <a:solidFill>
              <a:srgbClr val="08283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3"/>
          <p:cNvSpPr/>
          <p:nvPr/>
        </p:nvSpPr>
        <p:spPr>
          <a:xfrm>
            <a:off x="690452" y="2434975"/>
            <a:ext cx="3059615" cy="1623317"/>
          </a:xfrm>
          <a:prstGeom prst="rect">
            <a:avLst/>
          </a:prstGeom>
          <a:solidFill>
            <a:srgbClr val="D8D8D8"/>
          </a:solidFill>
          <a:ln w="19050" cap="flat" cmpd="sng">
            <a:solidFill>
              <a:srgbClr val="08283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3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A projekt fő funkciói</a:t>
            </a:r>
            <a:endParaRPr dirty="0"/>
          </a:p>
        </p:txBody>
      </p:sp>
      <p:sp>
        <p:nvSpPr>
          <p:cNvPr id="106" name="Google Shape;106;p3"/>
          <p:cNvSpPr txBox="1"/>
          <p:nvPr/>
        </p:nvSpPr>
        <p:spPr>
          <a:xfrm>
            <a:off x="1498862" y="2794571"/>
            <a:ext cx="1573111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Regisztráció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Bejelentkezés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Profilkezelés</a:t>
            </a:r>
            <a:endParaRPr/>
          </a:p>
        </p:txBody>
      </p:sp>
      <p:sp>
        <p:nvSpPr>
          <p:cNvPr id="107" name="Google Shape;107;p3"/>
          <p:cNvSpPr txBox="1"/>
          <p:nvPr/>
        </p:nvSpPr>
        <p:spPr>
          <a:xfrm>
            <a:off x="7947643" y="2724225"/>
            <a:ext cx="3553905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Események böngészése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Események létrehozása és kezelése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Intézmények és osztályok kezelése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Jelentkezési kérelmek kezelése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/>
          <p:nvPr/>
        </p:nvSpPr>
        <p:spPr>
          <a:xfrm rot="5400000">
            <a:off x="4237613" y="-6392525"/>
            <a:ext cx="3492600" cy="141567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4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A rendszer felépítése</a:t>
            </a:r>
            <a:endParaRPr/>
          </a:p>
        </p:txBody>
      </p:sp>
      <p:sp>
        <p:nvSpPr>
          <p:cNvPr id="116" name="Google Shape;116;p4"/>
          <p:cNvSpPr txBox="1"/>
          <p:nvPr/>
        </p:nvSpPr>
        <p:spPr>
          <a:xfrm>
            <a:off x="1291472" y="2432115"/>
            <a:ext cx="4804500" cy="17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>
                <a:solidFill>
                  <a:schemeClr val="dk1"/>
                </a:solidFill>
              </a:rPr>
              <a:t>Frontend</a:t>
            </a: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Vue 3 alapú kliensalkalmazás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>
                <a:solidFill>
                  <a:schemeClr val="dk1"/>
                </a:solidFill>
              </a:rPr>
              <a:t>Backend</a:t>
            </a: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Laravel 12 REST API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>
                <a:solidFill>
                  <a:schemeClr val="dk1"/>
                </a:solidFill>
              </a:rPr>
              <a:t>Adatbázis</a:t>
            </a: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MySQL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>
                <a:solidFill>
                  <a:schemeClr val="dk1"/>
                </a:solidFill>
              </a:rPr>
              <a:t>Kommunikáció</a:t>
            </a: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HTTP API hívások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>
                <a:solidFill>
                  <a:schemeClr val="dk1"/>
                </a:solidFill>
              </a:rPr>
              <a:t>Előny</a:t>
            </a: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a frontend és backend külön fejleszthető, bővíthető</a:t>
            </a:r>
            <a:endParaRPr/>
          </a:p>
        </p:txBody>
      </p:sp>
      <p:pic>
        <p:nvPicPr>
          <p:cNvPr id="117" name="Google Shape;117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38882" y="2551650"/>
            <a:ext cx="4180341" cy="175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1916881">
            <a:off x="5967247" y="3409924"/>
            <a:ext cx="1970576" cy="20506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26075" y="3624840"/>
            <a:ext cx="3550444" cy="23663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"/>
          <p:cNvSpPr/>
          <p:nvPr/>
        </p:nvSpPr>
        <p:spPr>
          <a:xfrm>
            <a:off x="5715725" y="1436574"/>
            <a:ext cx="5272800" cy="45414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5"/>
          <p:cNvSpPr/>
          <p:nvPr/>
        </p:nvSpPr>
        <p:spPr>
          <a:xfrm>
            <a:off x="548325" y="1778700"/>
            <a:ext cx="4968000" cy="32862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5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Backend architektúra és API</a:t>
            </a:r>
            <a:endParaRPr dirty="0"/>
          </a:p>
        </p:txBody>
      </p:sp>
      <p:sp>
        <p:nvSpPr>
          <p:cNvPr id="128" name="Google Shape;128;p5"/>
          <p:cNvSpPr txBox="1"/>
          <p:nvPr/>
        </p:nvSpPr>
        <p:spPr>
          <a:xfrm>
            <a:off x="1321138" y="2128809"/>
            <a:ext cx="3940200" cy="25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Rétegelt backend felépítés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API modulonként szervezve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Egységes hibakezelés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Központi validáció és üzleti logika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Stabil, bővíthető működés</a:t>
            </a:r>
            <a:endParaRPr dirty="0"/>
          </a:p>
        </p:txBody>
      </p:sp>
      <p:grpSp>
        <p:nvGrpSpPr>
          <p:cNvPr id="129" name="Google Shape;129;p5"/>
          <p:cNvGrpSpPr/>
          <p:nvPr/>
        </p:nvGrpSpPr>
        <p:grpSpPr>
          <a:xfrm>
            <a:off x="6637421" y="1960734"/>
            <a:ext cx="4681800" cy="3286207"/>
            <a:chOff x="6254496" y="2128809"/>
            <a:chExt cx="4681800" cy="3286207"/>
          </a:xfrm>
        </p:grpSpPr>
        <p:sp>
          <p:nvSpPr>
            <p:cNvPr id="130" name="Google Shape;130;p5"/>
            <p:cNvSpPr txBox="1"/>
            <p:nvPr/>
          </p:nvSpPr>
          <p:spPr>
            <a:xfrm>
              <a:off x="6254496" y="2128809"/>
              <a:ext cx="3822300" cy="923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-HU" sz="1800" b="1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Fő API modulok:</a:t>
              </a:r>
              <a:r>
                <a:rPr lang="hu-HU" sz="18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 Auth, Események, Intézmények, Osztályok, Kérelmek</a:t>
              </a:r>
              <a:endParaRPr dirty="0"/>
            </a:p>
          </p:txBody>
        </p:sp>
        <p:sp>
          <p:nvSpPr>
            <p:cNvPr id="131" name="Google Shape;131;p5"/>
            <p:cNvSpPr txBox="1"/>
            <p:nvPr/>
          </p:nvSpPr>
          <p:spPr>
            <a:xfrm>
              <a:off x="6254496" y="3005982"/>
              <a:ext cx="4227600" cy="923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-HU" sz="1800" b="1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Hibakezelés:</a:t>
              </a:r>
              <a:r>
                <a:rPr lang="hu-HU" sz="18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 egységes válaszkódok (siker, validációs hiba, jogosultsági hiba)</a:t>
              </a:r>
              <a:endParaRPr dirty="0"/>
            </a:p>
          </p:txBody>
        </p:sp>
        <p:sp>
          <p:nvSpPr>
            <p:cNvPr id="132" name="Google Shape;132;p5"/>
            <p:cNvSpPr txBox="1"/>
            <p:nvPr/>
          </p:nvSpPr>
          <p:spPr>
            <a:xfrm>
              <a:off x="6254496" y="3845305"/>
              <a:ext cx="4681800" cy="646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-HU" sz="1800" b="1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Központi logika:</a:t>
              </a:r>
              <a:r>
                <a:rPr lang="hu-HU" sz="18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 validáció és üzleti szabályok a backendben</a:t>
              </a:r>
              <a:endParaRPr dirty="0"/>
            </a:p>
          </p:txBody>
        </p:sp>
        <p:sp>
          <p:nvSpPr>
            <p:cNvPr id="133" name="Google Shape;133;p5"/>
            <p:cNvSpPr txBox="1"/>
            <p:nvPr/>
          </p:nvSpPr>
          <p:spPr>
            <a:xfrm>
              <a:off x="6254508" y="4491616"/>
              <a:ext cx="3474600" cy="923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-HU" sz="1800" b="1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Eredmény:</a:t>
              </a:r>
              <a:r>
                <a:rPr lang="hu-HU" sz="18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 stabil, átlátható, könnyen karbantartható rendszer</a:t>
              </a:r>
              <a:endParaRPr dirty="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"/>
          <p:cNvSpPr/>
          <p:nvPr/>
        </p:nvSpPr>
        <p:spPr>
          <a:xfrm>
            <a:off x="2729700" y="111225"/>
            <a:ext cx="6732600" cy="1638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6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600" cy="81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Jogosultság és biztonság</a:t>
            </a:r>
            <a:endParaRPr/>
          </a:p>
        </p:txBody>
      </p:sp>
      <p:sp>
        <p:nvSpPr>
          <p:cNvPr id="141" name="Google Shape;141;p6"/>
          <p:cNvSpPr txBox="1"/>
          <p:nvPr/>
        </p:nvSpPr>
        <p:spPr>
          <a:xfrm>
            <a:off x="1291479" y="2404683"/>
            <a:ext cx="4524000" cy="286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Token alapú hitelesítés (Sanctum)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Védett API végpontok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Szerepkör-alapú hozzáférés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Kritikus műveletek korlátozása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Email-verifikáció és hozzáférés-védelem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142" name="Google Shape;142;p6"/>
          <p:cNvSpPr txBox="1"/>
          <p:nvPr/>
        </p:nvSpPr>
        <p:spPr>
          <a:xfrm>
            <a:off x="7216234" y="2413058"/>
            <a:ext cx="3429000" cy="20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Szerepkörök:</a:t>
            </a:r>
            <a:endParaRPr sz="1800"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>
                <a:solidFill>
                  <a:schemeClr val="dk1"/>
                </a:solidFill>
              </a:rPr>
              <a:t>Diák</a:t>
            </a:r>
            <a:endParaRPr sz="180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>
                <a:solidFill>
                  <a:schemeClr val="dk1"/>
                </a:solidFill>
              </a:rPr>
              <a:t>Tanár</a:t>
            </a:r>
            <a:endParaRPr sz="180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>
                <a:solidFill>
                  <a:schemeClr val="dk1"/>
                </a:solidFill>
              </a:rPr>
              <a:t>Admin</a:t>
            </a:r>
            <a:endParaRPr sz="1800" b="1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7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Frontend felépítés és navigáció</a:t>
            </a:r>
            <a:endParaRPr/>
          </a:p>
        </p:txBody>
      </p:sp>
      <p:sp>
        <p:nvSpPr>
          <p:cNvPr id="149" name="Google Shape;149;p7"/>
          <p:cNvSpPr txBox="1"/>
          <p:nvPr/>
        </p:nvSpPr>
        <p:spPr>
          <a:xfrm>
            <a:off x="1377020" y="1714310"/>
            <a:ext cx="6509700" cy="3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SPA működés modern, reszponzív felülettel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Route alapú navigáció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Szerepkörhöz igazított irányítópultok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Események listázása és esemény részletei oldal kapcsolata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Felhasználói állapotkezelés local/session tárolással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Reszponzív UI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Cél: gyors és egyszerű felhasználói élmény</a:t>
            </a:r>
            <a:endParaRPr/>
          </a:p>
        </p:txBody>
      </p:sp>
      <p:sp>
        <p:nvSpPr>
          <p:cNvPr id="150" name="Google Shape;150;p7"/>
          <p:cNvSpPr/>
          <p:nvPr/>
        </p:nvSpPr>
        <p:spPr>
          <a:xfrm>
            <a:off x="7826625" y="1335725"/>
            <a:ext cx="3492600" cy="52929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1" name="Google Shape;151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89540" y="1714300"/>
            <a:ext cx="5566768" cy="48230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8"/>
          <p:cNvSpPr/>
          <p:nvPr/>
        </p:nvSpPr>
        <p:spPr>
          <a:xfrm>
            <a:off x="356025" y="1698075"/>
            <a:ext cx="8708700" cy="46878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8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Felhasználói élmény és érték</a:t>
            </a:r>
            <a:endParaRPr/>
          </a:p>
        </p:txBody>
      </p:sp>
      <p:sp>
        <p:nvSpPr>
          <p:cNvPr id="159" name="Google Shape;159;p8"/>
          <p:cNvSpPr txBox="1"/>
          <p:nvPr/>
        </p:nvSpPr>
        <p:spPr>
          <a:xfrm>
            <a:off x="1291484" y="2748985"/>
            <a:ext cx="6453600" cy="25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Egységes, könnyen tanulható felület minden szerepkörnek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Gyors és logikus navigáció a fő funkciók között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Átlátható visszajelzések a folyamatok állapotáról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Reszponzív működés asztali és mobil nézetben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Cél: minél kevesebb lépésből elvégezhető folyamatok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9"/>
          <p:cNvSpPr/>
          <p:nvPr/>
        </p:nvSpPr>
        <p:spPr>
          <a:xfrm>
            <a:off x="9993075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9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Adatmodell</a:t>
            </a:r>
            <a:endParaRPr/>
          </a:p>
        </p:txBody>
      </p:sp>
      <p:sp>
        <p:nvSpPr>
          <p:cNvPr id="166" name="Google Shape;166;p9"/>
          <p:cNvSpPr txBox="1"/>
          <p:nvPr/>
        </p:nvSpPr>
        <p:spPr>
          <a:xfrm>
            <a:off x="1558873" y="1720491"/>
            <a:ext cx="7767600" cy="341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Fő entitások: felhasználók, intézmények, osztályok, események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Kapcsolatok: tagságok, kérelmek, esemény-interakciók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Relációs modell biztosítja az adatok konzisztenciáját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Kulcsfontosságú cél: adatintegritás és visszakövethetőség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Bővíthető struktúra új funkciókhoz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0"/>
          <p:cNvSpPr/>
          <p:nvPr/>
        </p:nvSpPr>
        <p:spPr>
          <a:xfrm>
            <a:off x="-2850775" y="5134425"/>
            <a:ext cx="13068000" cy="34605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10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Tesztelés és minőségbiztosítás</a:t>
            </a:r>
            <a:endParaRPr/>
          </a:p>
        </p:txBody>
      </p:sp>
      <p:sp>
        <p:nvSpPr>
          <p:cNvPr id="175" name="Google Shape;175;p10"/>
          <p:cNvSpPr txBox="1"/>
          <p:nvPr/>
        </p:nvSpPr>
        <p:spPr>
          <a:xfrm>
            <a:off x="1291479" y="1983980"/>
            <a:ext cx="6777900" cy="230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Frontend TypeScript tesztek pozitív és negatív tesztek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Backend API tesztelés Postmannel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Pozitív és negatív esetek ellenőrzése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Cél: stabil működés és hibák korai kiszűrése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1"/>
          <p:cNvSpPr txBox="1">
            <a:spLocks noGrp="1"/>
          </p:cNvSpPr>
          <p:nvPr>
            <p:ph type="ctrTitle"/>
          </p:nvPr>
        </p:nvSpPr>
        <p:spPr>
          <a:xfrm>
            <a:off x="430974" y="504378"/>
            <a:ext cx="4336235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Csapatmunka</a:t>
            </a:r>
            <a:endParaRPr/>
          </a:p>
        </p:txBody>
      </p:sp>
      <p:sp>
        <p:nvSpPr>
          <p:cNvPr id="181" name="Google Shape;181;p11"/>
          <p:cNvSpPr txBox="1"/>
          <p:nvPr/>
        </p:nvSpPr>
        <p:spPr>
          <a:xfrm>
            <a:off x="1235026" y="2149950"/>
            <a:ext cx="5394374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Kommunikáció: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Discord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Megosztott munka: GitHub, Google</a:t>
            </a:r>
            <a:r>
              <a:rPr lang="hu-HU" sz="1800" dirty="0">
                <a:solidFill>
                  <a:schemeClr val="dk1"/>
                </a:solidFill>
              </a:rPr>
              <a:t> 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Drive,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Figma</a:t>
            </a:r>
            <a:endParaRPr dirty="0"/>
          </a:p>
        </p:txBody>
      </p:sp>
      <p:sp>
        <p:nvSpPr>
          <p:cNvPr id="185" name="Google Shape;185;p11"/>
          <p:cNvSpPr/>
          <p:nvPr/>
        </p:nvSpPr>
        <p:spPr>
          <a:xfrm>
            <a:off x="-1795175" y="4234325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11"/>
          <p:cNvSpPr/>
          <p:nvPr/>
        </p:nvSpPr>
        <p:spPr>
          <a:xfrm rot="-5400000">
            <a:off x="10310175" y="-2299450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2"/>
          <p:cNvSpPr txBox="1">
            <a:spLocks noGrp="1"/>
          </p:cNvSpPr>
          <p:nvPr>
            <p:ph type="ctrTitle"/>
          </p:nvPr>
        </p:nvSpPr>
        <p:spPr>
          <a:xfrm>
            <a:off x="430974" y="504378"/>
            <a:ext cx="4336235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Jövőbeli tervek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3"/>
          <p:cNvSpPr txBox="1">
            <a:spLocks noGrp="1"/>
          </p:cNvSpPr>
          <p:nvPr>
            <p:ph type="ctrTitle"/>
          </p:nvPr>
        </p:nvSpPr>
        <p:spPr>
          <a:xfrm>
            <a:off x="430974" y="504378"/>
            <a:ext cx="4336235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Demó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5"/>
          <p:cNvSpPr txBox="1">
            <a:spLocks noGrp="1"/>
          </p:cNvSpPr>
          <p:nvPr>
            <p:ph type="ctrTitle"/>
          </p:nvPr>
        </p:nvSpPr>
        <p:spPr>
          <a:xfrm>
            <a:off x="872763" y="1593439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hu-HU" sz="5400" b="1" i="1">
                <a:latin typeface="Cambria"/>
                <a:ea typeface="Cambria"/>
                <a:cs typeface="Cambria"/>
                <a:sym typeface="Cambria"/>
              </a:rPr>
              <a:t>Köszönjük a figyelmüket!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354</Words>
  <Application>Microsoft Office PowerPoint</Application>
  <PresentationFormat>Szélesvásznú</PresentationFormat>
  <Paragraphs>110</Paragraphs>
  <Slides>14</Slides>
  <Notes>14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14</vt:i4>
      </vt:variant>
    </vt:vector>
  </HeadingPairs>
  <TitlesOfParts>
    <vt:vector size="19" baseType="lpstr">
      <vt:lpstr>Times New Roman</vt:lpstr>
      <vt:lpstr>Play</vt:lpstr>
      <vt:lpstr>Arial</vt:lpstr>
      <vt:lpstr>Cambria</vt:lpstr>
      <vt:lpstr>Office-téma</vt:lpstr>
      <vt:lpstr>EseményTér</vt:lpstr>
      <vt:lpstr>Probléma és Megoldás</vt:lpstr>
      <vt:lpstr>A projekt fő funkciói</vt:lpstr>
      <vt:lpstr>A rendszer felépítése</vt:lpstr>
      <vt:lpstr>Backend architektúra és API</vt:lpstr>
      <vt:lpstr>Jogosultság és biztonság</vt:lpstr>
      <vt:lpstr>Frontend felépítés és navigáció</vt:lpstr>
      <vt:lpstr>Felhasználói élmény és érték</vt:lpstr>
      <vt:lpstr>Adatmodell</vt:lpstr>
      <vt:lpstr>Tesztelés és minőségbiztosítás</vt:lpstr>
      <vt:lpstr>Csapatmunka</vt:lpstr>
      <vt:lpstr>Jövőbeli tervek</vt:lpstr>
      <vt:lpstr>Demó</vt:lpstr>
      <vt:lpstr>Köszönjük a figyelmüket!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O365 felhasználó</dc:creator>
  <cp:lastModifiedBy>O365 felhasználó</cp:lastModifiedBy>
  <cp:revision>4</cp:revision>
  <dcterms:created xsi:type="dcterms:W3CDTF">2026-03-04T16:50:56Z</dcterms:created>
  <dcterms:modified xsi:type="dcterms:W3CDTF">2026-03-07T12:40:15Z</dcterms:modified>
</cp:coreProperties>
</file>