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2" r:id="rId6"/>
    <p:sldId id="260" r:id="rId7"/>
    <p:sldId id="272" r:id="rId8"/>
    <p:sldId id="261" r:id="rId9"/>
    <p:sldId id="264" r:id="rId10"/>
    <p:sldId id="271" r:id="rId11"/>
    <p:sldId id="265" r:id="rId12"/>
    <p:sldId id="266" r:id="rId13"/>
    <p:sldId id="267" r:id="rId14"/>
    <p:sldId id="268" r:id="rId15"/>
    <p:sldId id="270" r:id="rId16"/>
  </p:sldIdLst>
  <p:sldSz cx="12192000" cy="6858000"/>
  <p:notesSz cx="6858000" cy="9144000"/>
  <p:embeddedFontLst>
    <p:embeddedFont>
      <p:font typeface="Cambria" panose="02040503050406030204" pitchFamily="18" charset="0"/>
      <p:regular r:id="rId18"/>
      <p:bold r:id="rId19"/>
      <p:italic r:id="rId20"/>
      <p:boldItalic r:id="rId21"/>
    </p:embeddedFont>
    <p:embeddedFont>
      <p:font typeface="Play" panose="020B0604020202020204" charset="0"/>
      <p:regular r:id="rId22"/>
      <p:bold r:id="rId2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24" roundtripDataSignature="AMtx7mj67VHAuCHlscAUacmt/Mbt/wFFl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A36AE613-179F-4F3B-B0BF-9CF6581B68B4}">
  <a:tblStyle styleId="{A36AE613-179F-4F3B-B0BF-9CF6581B68B4}" styleName="Table_0">
    <a:wholeTbl>
      <a:tcTxStyle b="off" i="off">
        <a:font>
          <a:latin typeface="Aptos"/>
          <a:ea typeface="Aptos"/>
          <a:cs typeface="Aptos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7E9EC"/>
          </a:solidFill>
        </a:fill>
      </a:tcStyle>
    </a:wholeTbl>
    <a:band1H>
      <a:tcTxStyle/>
      <a:tcStyle>
        <a:tcBdr/>
        <a:fill>
          <a:solidFill>
            <a:srgbClr val="CAD1D8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AD1D8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Aptos"/>
          <a:ea typeface="Aptos"/>
          <a:cs typeface="Aptos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Aptos"/>
          <a:ea typeface="Aptos"/>
          <a:cs typeface="Aptos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Aptos"/>
          <a:ea typeface="Aptos"/>
          <a:cs typeface="Aptos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Aptos"/>
          <a:ea typeface="Aptos"/>
          <a:cs typeface="Aptos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6271" autoAdjust="0"/>
  </p:normalViewPr>
  <p:slideViewPr>
    <p:cSldViewPr snapToGrid="0">
      <p:cViewPr varScale="1">
        <p:scale>
          <a:sx n="84" d="100"/>
          <a:sy n="84" d="100"/>
        </p:scale>
        <p:origin x="1596" y="120"/>
      </p:cViewPr>
      <p:guideLst/>
    </p:cSldViewPr>
  </p:slideViewPr>
  <p:notesTextViewPr>
    <p:cViewPr>
      <p:scale>
        <a:sx n="3" d="2"/>
        <a:sy n="3" d="2"/>
      </p:scale>
      <p:origin x="0" y="-6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4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customschemas.google.com/relationships/presentationmetadata" Target="meta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6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5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Samu: Jónapot kívánunk!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Samu: Engem Nagy </a:t>
            </a:r>
            <a:r>
              <a:rPr lang="hu-HU" dirty="0" err="1"/>
              <a:t>Levéd</a:t>
            </a:r>
            <a:r>
              <a:rPr lang="hu-HU" dirty="0"/>
              <a:t> Sámuel-</a:t>
            </a:r>
            <a:r>
              <a:rPr lang="hu-HU" dirty="0" err="1"/>
              <a:t>nek</a:t>
            </a:r>
            <a:r>
              <a:rPr lang="hu-HU" dirty="0"/>
              <a:t> hívnak.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Tomi: Engem Tóth Tamás-</a:t>
            </a:r>
            <a:r>
              <a:rPr lang="hu-HU" dirty="0" err="1"/>
              <a:t>nak</a:t>
            </a:r>
            <a:r>
              <a:rPr lang="hu-HU" dirty="0"/>
              <a:t>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Samu: Ebben az előadásban közösen mutatjuk be a vizsgaremek projektünket.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Tomi: A projektünk címe: </a:t>
            </a:r>
            <a:r>
              <a:rPr lang="hu-HU" dirty="0" err="1"/>
              <a:t>EseményTér</a:t>
            </a:r>
            <a:endParaRPr dirty="0"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Samu: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A projekt témaválasztásának oka egy valós, mindennapi probléma volt az iskolai működésben.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A kommunikáció és az események kezelése több külön felületen történt, ami nehezen átláthatóvá tette a folyamatokat.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Erre ad választ az </a:t>
            </a:r>
            <a:r>
              <a:rPr lang="hu-HU" dirty="0" err="1"/>
              <a:t>EseményTér</a:t>
            </a:r>
            <a:r>
              <a:rPr lang="hu-HU" dirty="0"/>
              <a:t>: egy egységes webes rendszer, ahol központilag kezelhetők az események és a kapcsolódó információk.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Így a kommunikáció gyorsabb, a folyamatok követhetőbbek, és minden szereplő ugyanazon rendszerben dolgozik.</a:t>
            </a:r>
            <a:endParaRPr dirty="0"/>
          </a:p>
        </p:txBody>
      </p:sp>
      <p:sp>
        <p:nvSpPr>
          <p:cNvPr id="93" name="Google Shape;9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Tomi:</a:t>
            </a:r>
            <a:br>
              <a:rPr lang="hu-HU" dirty="0"/>
            </a:br>
            <a:r>
              <a:rPr lang="hu-HU" dirty="0"/>
              <a:t>A rendszer alapját a felhasználói belépési és profilfunkciók adják, vagyis a regisztráció, a bejelentkezés és a jogosultságkezelés.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Erre épülnek rá a mindennapi használathoz szükséges funkciók.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A fő modulok közé tartozik az események böngészése, létrehozása és kezelése, valamint az intézmények és osztályok adminisztrációja.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Emellett a rendszer kezeli a csatlakozási kérelmeket is, így a jogosultságok és tagságok folyamata is egy helyen történik.</a:t>
            </a:r>
            <a:endParaRPr dirty="0"/>
          </a:p>
        </p:txBody>
      </p:sp>
      <p:sp>
        <p:nvSpPr>
          <p:cNvPr id="100" name="Google Shape;100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Samu: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rendszerünk három fő rétegből épül fel: frontendből, backendből és adatbázisból.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frontend egy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Vue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3 alapú kliensalkalmazás, ezen keresztül éri el és használja a felhasználó a funkciókat.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Itt történik a felület megjelenítése, az űrlapkezelés és a felhasználói műveletek indítása.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hu-HU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Tomi: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háttérlogikát egy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Laravel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12 alapú REST API biztosítja, amely kezeli az üzleti folyamatokat és a jogosultságokat.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Az adatok tárolása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MySQL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adatbázisban történik.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frontend és a backend HTTP API-hívásokkal kommunikál, így a két réteg egymástól függetlenül fejleszthető és könnyen bővíthető.</a:t>
            </a:r>
            <a:endParaRPr dirty="0"/>
          </a:p>
        </p:txBody>
      </p:sp>
      <p:sp>
        <p:nvSpPr>
          <p:cNvPr id="111" name="Google Shape;111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Samu: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frontendünk, mint említettem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Vue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3 alapú SPA, ahol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route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alapú navigációval kezeljük az oldalak közötti váltást.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felület komponensalapúan épül fel, funkciók szerint csoportosítva, ezért jól átlátható és bővíthető.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Dashboardok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szerepkör szerint jelenik meg, így a diák, tanár és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admin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eltérő nézetet kap. 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Az állapotkezelés böngésző-tárolóval és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tokenes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hitelesítéssel történik, a felhasználói visszajelzéseket pedig egységes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toast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értesítési rendszer biztosítja.</a:t>
            </a:r>
            <a:endParaRPr dirty="0"/>
          </a:p>
        </p:txBody>
      </p:sp>
      <p:sp>
        <p:nvSpPr>
          <p:cNvPr id="145" name="Google Shape;145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Tomi: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Itt a backendünk réteges felépítése látható.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Az API/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routing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réteg fogadja és irányítja a kéréseket.</a:t>
            </a:r>
            <a:br>
              <a:rPr lang="hu-HU" dirty="0"/>
            </a:br>
            <a:r>
              <a:rPr lang="hu-HU" dirty="0"/>
              <a:t>A </a:t>
            </a:r>
            <a:r>
              <a:rPr lang="hu-HU" b="0" dirty="0"/>
              <a:t>kontrollerek</a:t>
            </a:r>
            <a:r>
              <a:rPr lang="hu-HU" dirty="0"/>
              <a:t> feladata a kérések </a:t>
            </a:r>
            <a:r>
              <a:rPr lang="hu-HU" dirty="0" err="1"/>
              <a:t>validálása</a:t>
            </a:r>
            <a:r>
              <a:rPr lang="hu-HU" dirty="0"/>
              <a:t>, majd az adatok továbbítása a </a:t>
            </a:r>
            <a:r>
              <a:rPr lang="hu-HU" b="0" dirty="0"/>
              <a:t>service rétegnek</a:t>
            </a:r>
            <a:r>
              <a:rPr lang="hu-HU" dirty="0"/>
              <a:t>, ahol az üzleti logika fut.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modellek és az adatkezelés az adatbázis-műveletekért és relációkért felelnek.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Az infrastruktúra réteg pedig a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middleware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-t,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autentikációt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és rendszer szintű működést biztosítja.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Ez a struktúra átlátható, jól bővíthető és stabil működést ad.</a:t>
            </a:r>
            <a:endParaRPr dirty="0"/>
          </a:p>
        </p:txBody>
      </p:sp>
      <p:sp>
        <p:nvSpPr>
          <p:cNvPr id="122" name="Google Shape;122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>
          <a:extLst>
            <a:ext uri="{FF2B5EF4-FFF2-40B4-BE49-F238E27FC236}">
              <a16:creationId xmlns:a16="http://schemas.microsoft.com/office/drawing/2014/main" id="{8C01DFBA-FAA2-DD3F-8AEB-75C6C85693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5:notes">
            <a:extLst>
              <a:ext uri="{FF2B5EF4-FFF2-40B4-BE49-F238E27FC236}">
                <a16:creationId xmlns:a16="http://schemas.microsoft.com/office/drawing/2014/main" id="{C3A81FB4-E590-BCD8-2560-67A910175A7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Tomi: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kontrollerek a backend belépési pontjai.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Itt érkeznek be az API kérések, itt történik az adatok ellenőrzése, majd a kérés továbbadása az üzleti logikának.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kontrollerek feladata az is, hogy egységes, jól kezelhető JSON válaszokat adjanak a frontendnek.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Mivel a rendszer szerepkör-alapú, a kontrollerek figyelembe veszik, hogy diák, tanár vagy adminisztrátor használja a funkciót.</a:t>
            </a:r>
            <a:endParaRPr dirty="0"/>
          </a:p>
        </p:txBody>
      </p:sp>
      <p:sp>
        <p:nvSpPr>
          <p:cNvPr id="122" name="Google Shape;122;p5:notes">
            <a:extLst>
              <a:ext uri="{FF2B5EF4-FFF2-40B4-BE49-F238E27FC236}">
                <a16:creationId xmlns:a16="http://schemas.microsoft.com/office/drawing/2014/main" id="{9EF0938B-0088-7C27-9A33-B5412EA5AE1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9202106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Samu: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rendszer biztonságát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token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alapú hitelesítés adja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Laravel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Sanctummal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.</a:t>
            </a:r>
            <a:b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védett API végpontokat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middleware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ellenőrzi, ezért csak hitelesített felhasználók érhetik el.</a:t>
            </a:r>
            <a:b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Erre épül a szerepkör-alapú hozzáférés diák, tanár és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admin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szintekkel.</a:t>
            </a:r>
            <a:b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kritikus műveletek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admin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jogosultsághoz kötöttek, a regisztrációt pedig email-verifikáció védi.</a:t>
            </a:r>
          </a:p>
        </p:txBody>
      </p:sp>
      <p:sp>
        <p:nvSpPr>
          <p:cNvPr id="136" name="Google Shape;136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Tomi: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Ez a rendszer relációs adatmodellje.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fő adatok külön táblákban vannak, és ezek kapcsolatban állnak egymással idegen kulcsokon keresztül.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Így az adatbázis jól szervezett, bővíthető és megbízható.</a:t>
            </a:r>
            <a:endParaRPr dirty="0"/>
          </a:p>
        </p:txBody>
      </p:sp>
      <p:sp>
        <p:nvSpPr>
          <p:cNvPr id="162" name="Google Shape;162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">
          <a:extLst>
            <a:ext uri="{FF2B5EF4-FFF2-40B4-BE49-F238E27FC236}">
              <a16:creationId xmlns:a16="http://schemas.microsoft.com/office/drawing/2014/main" id="{055D3378-106D-2E2B-631D-F0D2058538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9:notes">
            <a:extLst>
              <a:ext uri="{FF2B5EF4-FFF2-40B4-BE49-F238E27FC236}">
                <a16:creationId xmlns:a16="http://schemas.microsoft.com/office/drawing/2014/main" id="{3B9BC4D0-5513-84DB-846C-7D8B0B648FF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Samu: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Az oldalunk teljes mértékben reszponzív, azaz bármilyen mobileszközön használva is teljes mértékben a maximális élményt nyújtja.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Ezáltal a rendszer használata nem korlátozódik asztali számítógépekre, bármilyen eszközről kényelmesen elérhető.</a:t>
            </a:r>
            <a:endParaRPr dirty="0"/>
          </a:p>
        </p:txBody>
      </p:sp>
      <p:sp>
        <p:nvSpPr>
          <p:cNvPr id="162" name="Google Shape;162;p9:notes">
            <a:extLst>
              <a:ext uri="{FF2B5EF4-FFF2-40B4-BE49-F238E27FC236}">
                <a16:creationId xmlns:a16="http://schemas.microsoft.com/office/drawing/2014/main" id="{753B8D68-A1F8-22AF-5D25-7D41DF8FA62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0050126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Samu: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tesztelést két oldalon végeztük el.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Frontend oldalon automatizált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TypeScript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tesztekkel ellenőriztük a fő funkciókat.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cs typeface="Arial"/>
                <a:sym typeface="Arial"/>
              </a:rPr>
              <a:t>Tomi: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Backend oldalon pedig Postman segítségével vizsgáltuk az API végpontokat.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cs typeface="Arial"/>
                <a:sym typeface="Arial"/>
              </a:rPr>
              <a:t>Samu: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cs typeface="Arial"/>
                <a:sym typeface="Arial"/>
              </a:rPr>
              <a:t>Azt kiemelném, hogy nem csak pozitív, de negatív 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eseteket is teszteltünk, hogy minél stabilabb legyen a rendszer.</a:t>
            </a:r>
            <a:endParaRPr dirty="0"/>
          </a:p>
        </p:txBody>
      </p:sp>
      <p:sp>
        <p:nvSpPr>
          <p:cNvPr id="170" name="Google Shape;170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Tomi: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projekt során a csapatmunkát több eszközzel támogattuk.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Napi kommunikációra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Discordot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használtunk, a fejlesztési feladatokat GitHubon, külön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branchekben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kezeltük.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cs typeface="Arial"/>
                <a:sym typeface="Arial"/>
              </a:rPr>
              <a:t>Samu: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közös megtervezések Google Drive-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on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, a felületterveket pedig </a:t>
            </a:r>
            <a:r>
              <a:rPr lang="hu-HU" sz="1100" b="0" i="0" u="none" strike="noStrike" cap="none" dirty="0" err="1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Figma</a:t>
            </a: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segítségével egyeztettük.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Ennek köszönhetően mindkettőnk pontosan látta a saját feladatait, és a munka jól szervezetten, párhuzamosan tudott haladni.</a:t>
            </a:r>
            <a:endParaRPr dirty="0"/>
          </a:p>
        </p:txBody>
      </p:sp>
      <p:sp>
        <p:nvSpPr>
          <p:cNvPr id="178" name="Google Shape;178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dirty="0"/>
              <a:t>Samu: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projekt következő lépéseit három fő irányban látjuk.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Az első a mobilos alkalmazás, hogy a felhasználók gyorsabban és kényelmesebben, bárhonnan elérjék az eseményeket.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második az értesítőrendszer, amivel automatikusan tudjuk jelezni az új eseményeket, határidőket és fontos változásokat.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cs typeface="Arial"/>
                <a:sym typeface="Arial"/>
              </a:rPr>
              <a:t>Tomi: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 harmadik az online vásárlást, intézményi előfizetésként képzeljük el.</a:t>
            </a:r>
            <a:br>
              <a:rPr lang="hu-HU" dirty="0"/>
            </a:b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Az iskolák éves bérletet vásárolhatnak, ami prémium funkciókat ad.</a:t>
            </a:r>
            <a:endParaRPr dirty="0"/>
          </a:p>
        </p:txBody>
      </p:sp>
      <p:sp>
        <p:nvSpPr>
          <p:cNvPr id="189" name="Google Shape;189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 rtl="0">
              <a:buNone/>
            </a:pPr>
            <a:r>
              <a:rPr lang="hu-HU" dirty="0"/>
              <a:t>Samu:</a:t>
            </a:r>
            <a:br>
              <a:rPr lang="hu-HU" dirty="0"/>
            </a:br>
            <a:r>
              <a:rPr lang="en-US" sz="1100" b="1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This is our home page.</a:t>
            </a:r>
            <a:br>
              <a:rPr lang="en-US" sz="1100" b="1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</a:b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From here, users can navigate to the registration or login pages.</a:t>
            </a:r>
            <a:endParaRPr lang="en-US" b="0" dirty="0">
              <a:effectLst/>
            </a:endParaRPr>
          </a:p>
          <a:p>
            <a:pPr marL="158750" indent="0" rtl="0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To create an account, users are required to enter their name, email address, and password. After confirming their email address, they must log in to proceed to the dashboard.</a:t>
            </a: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 rtl="0">
              <a:buNone/>
            </a:pPr>
            <a:endParaRPr lang="en-US" b="0" dirty="0">
              <a:effectLst/>
            </a:endParaRPr>
          </a:p>
          <a:p>
            <a:pPr marL="158750" indent="0" rtl="0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On the dashboard, users select their role (student, teacher, or administrator), then choose their location and school.</a:t>
            </a:r>
            <a:endParaRPr lang="en-US" b="0" dirty="0">
              <a:effectLst/>
            </a:endParaRPr>
          </a:p>
          <a:p>
            <a:pPr marL="158750" indent="0" rtl="0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Students and teachers can apply to an existing institution, while administrators also have the option to register a new one.</a:t>
            </a:r>
            <a:br>
              <a:rPr lang="en-US" b="0" dirty="0">
                <a:effectLst/>
              </a:rPr>
            </a:br>
            <a:endParaRPr lang="en-US" b="0" dirty="0">
              <a:effectLst/>
            </a:endParaRPr>
          </a:p>
          <a:p>
            <a:pPr marL="158750" indent="0" rtl="0"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F</a:t>
            </a: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or today’s demo, we continue with a pre-created sample administrator account to demonstrate the workflow.</a:t>
            </a:r>
            <a:endParaRPr lang="en-US" b="0" dirty="0">
              <a:effectLst/>
            </a:endParaRPr>
          </a:p>
          <a:p>
            <a:pPr marL="158750" indent="0" rtl="0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After logging in, we can see how the administrator manages incoming requests and assigns users to classes.</a:t>
            </a:r>
            <a:endParaRPr lang="en-US" b="0" dirty="0">
              <a:effectLst/>
            </a:endParaRPr>
          </a:p>
          <a:p>
            <a:pPr marL="158750" indent="0" rtl="0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Once the requests are approved, the platform’s main features become accessible.</a:t>
            </a: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ea typeface="Arial"/>
              <a:cs typeface="Arial"/>
              <a:sym typeface="Arial"/>
            </a:endParaRPr>
          </a:p>
          <a:p>
            <a:pPr marL="158750" indent="0" rtl="0">
              <a:buNone/>
            </a:pP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cs typeface="Arial"/>
              <a:sym typeface="Arial"/>
            </a:endParaRPr>
          </a:p>
          <a:p>
            <a:pPr marL="158750" indent="0" rtl="0">
              <a:buNone/>
            </a:pPr>
            <a:endParaRPr lang="hu-HU" sz="1100" b="0" i="0" u="none" strike="noStrike" cap="none" dirty="0">
              <a:solidFill>
                <a:srgbClr val="000000"/>
              </a:solidFill>
              <a:effectLst/>
              <a:latin typeface="Arial"/>
              <a:cs typeface="Arial"/>
              <a:sym typeface="Arial"/>
            </a:endParaRPr>
          </a:p>
          <a:p>
            <a:pPr marL="158750" indent="0" rtl="0">
              <a:buNone/>
            </a:pPr>
            <a:r>
              <a:rPr lang="hu-HU" sz="1100" b="0" i="0" u="none" strike="noStrike" cap="none" dirty="0">
                <a:solidFill>
                  <a:srgbClr val="000000"/>
                </a:solidFill>
                <a:effectLst/>
                <a:latin typeface="Arial"/>
                <a:cs typeface="Arial"/>
                <a:sym typeface="Arial"/>
              </a:rPr>
              <a:t>Tomi:</a:t>
            </a:r>
          </a:p>
          <a:p>
            <a:pPr marL="158750" indent="0" rtl="0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In the </a:t>
            </a:r>
            <a:r>
              <a:rPr lang="en-US" sz="1100" b="1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Events</a:t>
            </a: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section, users can filter events by type and status or switch to a calendar view.</a:t>
            </a:r>
            <a:endParaRPr lang="en-US" b="0" dirty="0">
              <a:effectLst/>
            </a:endParaRPr>
          </a:p>
          <a:p>
            <a:pPr marL="158750" indent="0" rtl="0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When opening an event, users can decide whether to participate, leave comments, mark events as favorites, and take part in interactive polls.</a:t>
            </a:r>
            <a:endParaRPr lang="en-US" b="0" dirty="0">
              <a:effectLst/>
            </a:endParaRPr>
          </a:p>
          <a:p>
            <a:pPr marL="158750" indent="0" rtl="0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Event creators can also launch polls directly from here, including options such as scheduled closing times or hidden partial results.</a:t>
            </a:r>
            <a:br>
              <a:rPr lang="en-US" b="0" dirty="0">
                <a:effectLst/>
              </a:rPr>
            </a:br>
            <a:endParaRPr lang="en-US" b="0" dirty="0">
              <a:effectLst/>
            </a:endParaRPr>
          </a:p>
          <a:p>
            <a:pPr marL="158750" indent="0" rtl="0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When creating an event, the target group can be defined precisely (a specific class, grade level, or the entire school).</a:t>
            </a:r>
            <a:endParaRPr lang="en-US" b="0" dirty="0">
              <a:effectLst/>
            </a:endParaRPr>
          </a:p>
          <a:p>
            <a:pPr marL="158750" indent="0" rtl="0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The platform also supports weekly recurring events, where all instances are automatically generated by the system.</a:t>
            </a:r>
            <a:br>
              <a:rPr lang="en-US" b="0" dirty="0">
                <a:effectLst/>
              </a:rPr>
            </a:br>
            <a:endParaRPr lang="en-US" b="0" dirty="0">
              <a:effectLst/>
            </a:endParaRPr>
          </a:p>
          <a:p>
            <a:pPr marL="158750" indent="0" rtl="0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Finally, on the </a:t>
            </a:r>
            <a:r>
              <a:rPr lang="en-US" sz="1100" b="1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Profile</a:t>
            </a: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 page, users can view and update their personal information, including their displayed name, which can be changed once every 15 days.</a:t>
            </a:r>
            <a:endParaRPr lang="en-US" b="0" dirty="0">
              <a:effectLst/>
            </a:endParaRPr>
          </a:p>
          <a:p>
            <a:pPr marL="158750" indent="0" rtl="0">
              <a:buNone/>
            </a:pPr>
            <a:r>
              <a:rPr lang="en-US" sz="1100" b="0" i="0" u="none" strike="noStrike" cap="none" dirty="0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This page also includes the institution switcher, allowing administrators to quickly switch between the schools they </a:t>
            </a:r>
            <a:r>
              <a:rPr lang="en-US" sz="1100" b="0" i="0" u="none" strike="noStrike" cap="none">
                <a:solidFill>
                  <a:srgbClr val="000000"/>
                </a:solidFill>
                <a:effectLst/>
                <a:latin typeface="Arial"/>
                <a:ea typeface="Arial"/>
                <a:cs typeface="Arial"/>
                <a:sym typeface="Arial"/>
              </a:rPr>
              <a:t>manage.</a:t>
            </a:r>
            <a:br>
              <a:rPr lang="en-US" dirty="0"/>
            </a:br>
            <a:br>
              <a:rPr lang="en-US" dirty="0"/>
            </a:br>
            <a:endParaRPr lang="hu-HU" dirty="0"/>
          </a:p>
        </p:txBody>
      </p:sp>
      <p:sp>
        <p:nvSpPr>
          <p:cNvPr id="194" name="Google Shape;194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5" name="Google Shape;205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ímdia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7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17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4" name="Google Shape;14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ím és tartalom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1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" name="Google Shape;20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zakaszfejléc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19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19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2400">
                <a:solidFill>
                  <a:srgbClr val="757575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000"/>
              <a:buNone/>
              <a:defRPr sz="2000">
                <a:solidFill>
                  <a:srgbClr val="757575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800"/>
              <a:buNone/>
              <a:defRPr sz="1800">
                <a:solidFill>
                  <a:srgbClr val="757575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 tartalomrész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2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20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" name="Google Shape;32;p20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" name="Google Shape;33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Összehasonlítás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21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21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9" name="Google Shape;39;p21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21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21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sak cím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2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Üres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rtalomrész képaláírással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4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24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24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8" name="Google Shape;58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Kép képaláírással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5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25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5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5" name="Google Shape;65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ím és függőleges szöveg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6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2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2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2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üggőleges cím és szöveg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7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7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2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2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2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  <a:defRPr sz="4400" b="0" i="0" u="none" strike="noStrike" cap="non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9" name="Google Shape;9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0" name="Google Shape;10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1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 txBox="1">
            <a:spLocks noGrp="1"/>
          </p:cNvSpPr>
          <p:nvPr>
            <p:ph type="ctrTitle"/>
          </p:nvPr>
        </p:nvSpPr>
        <p:spPr>
          <a:xfrm>
            <a:off x="3901123" y="2515898"/>
            <a:ext cx="4389748" cy="1341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mbria"/>
              <a:buNone/>
            </a:pPr>
            <a:r>
              <a:rPr lang="hu-HU">
                <a:latin typeface="Cambria"/>
                <a:ea typeface="Cambria"/>
                <a:cs typeface="Cambria"/>
                <a:sym typeface="Cambria"/>
              </a:rPr>
              <a:t>EseményTér</a:t>
            </a: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85" name="Google Shape;85;p1"/>
          <p:cNvSpPr txBox="1">
            <a:spLocks noGrp="1"/>
          </p:cNvSpPr>
          <p:nvPr>
            <p:ph type="subTitle" idx="1"/>
          </p:nvPr>
        </p:nvSpPr>
        <p:spPr>
          <a:xfrm>
            <a:off x="3684309" y="4816138"/>
            <a:ext cx="4823381" cy="984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hu-HU">
                <a:latin typeface="Cambria"/>
                <a:ea typeface="Cambria"/>
                <a:cs typeface="Cambria"/>
                <a:sym typeface="Cambria"/>
              </a:rPr>
              <a:t>Készítették:</a:t>
            </a:r>
            <a:endParaRPr/>
          </a:p>
          <a:p>
            <a:pPr marL="0" lvl="0" indent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hu-HU">
                <a:latin typeface="Cambria"/>
                <a:ea typeface="Cambria"/>
                <a:cs typeface="Cambria"/>
                <a:sym typeface="Cambria"/>
              </a:rPr>
              <a:t>Nagy Levéd Sámuel, Tóth Tamás</a:t>
            </a:r>
            <a:endParaRPr/>
          </a:p>
        </p:txBody>
      </p:sp>
      <p:pic>
        <p:nvPicPr>
          <p:cNvPr id="89" name="Google Shape;89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15595" y="1883685"/>
            <a:ext cx="2347181" cy="347681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90" name="Google Shape;90;p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946035" y="1883685"/>
            <a:ext cx="2347181" cy="347681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5328DACF-C190-D603-12FE-F12ED351F0C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55" b="55"/>
          <a:stretch/>
        </p:blipFill>
        <p:spPr>
          <a:xfrm>
            <a:off x="4669781" y="-105728"/>
            <a:ext cx="2852432" cy="262162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25;p5">
            <a:extLst>
              <a:ext uri="{FF2B5EF4-FFF2-40B4-BE49-F238E27FC236}">
                <a16:creationId xmlns:a16="http://schemas.microsoft.com/office/drawing/2014/main" id="{6F45A2C4-DC8B-0FF2-B751-05BC7B478441}"/>
              </a:ext>
            </a:extLst>
          </p:cNvPr>
          <p:cNvSpPr/>
          <p:nvPr/>
        </p:nvSpPr>
        <p:spPr>
          <a:xfrm>
            <a:off x="7667808" y="3632669"/>
            <a:ext cx="3651427" cy="2488998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125;p5">
            <a:extLst>
              <a:ext uri="{FF2B5EF4-FFF2-40B4-BE49-F238E27FC236}">
                <a16:creationId xmlns:a16="http://schemas.microsoft.com/office/drawing/2014/main" id="{728FC3E7-18EE-112C-88DD-42D924B448DE}"/>
              </a:ext>
            </a:extLst>
          </p:cNvPr>
          <p:cNvSpPr/>
          <p:nvPr/>
        </p:nvSpPr>
        <p:spPr>
          <a:xfrm>
            <a:off x="708817" y="3632669"/>
            <a:ext cx="3651427" cy="2488998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138;p6">
            <a:extLst>
              <a:ext uri="{FF2B5EF4-FFF2-40B4-BE49-F238E27FC236}">
                <a16:creationId xmlns:a16="http://schemas.microsoft.com/office/drawing/2014/main" id="{C4526191-E079-ECAD-7FB7-CB581B5F7FFD}"/>
              </a:ext>
            </a:extLst>
          </p:cNvPr>
          <p:cNvSpPr/>
          <p:nvPr/>
        </p:nvSpPr>
        <p:spPr>
          <a:xfrm>
            <a:off x="1626101" y="1576108"/>
            <a:ext cx="8939798" cy="1723077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2"/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 dirty="0">
                <a:latin typeface="Cambria"/>
                <a:ea typeface="Cambria"/>
                <a:cs typeface="Cambria"/>
                <a:sym typeface="Cambria"/>
              </a:rPr>
              <a:t>Probléma és Megoldás</a:t>
            </a:r>
            <a:endParaRPr dirty="0"/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B9244666-2797-0A92-D938-9CAC12D9EB31}"/>
              </a:ext>
            </a:extLst>
          </p:cNvPr>
          <p:cNvSpPr txBox="1"/>
          <p:nvPr/>
        </p:nvSpPr>
        <p:spPr>
          <a:xfrm>
            <a:off x="867791" y="3695963"/>
            <a:ext cx="333347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lnSpc>
                <a:spcPct val="200000"/>
              </a:lnSpc>
            </a:pPr>
            <a:r>
              <a:rPr lang="hu-HU" sz="2000" b="1" dirty="0">
                <a:latin typeface="Times New Roman"/>
                <a:ea typeface="Times New Roman"/>
                <a:cs typeface="Times New Roman"/>
                <a:sym typeface="Times New Roman"/>
              </a:rPr>
              <a:t>Probléma</a:t>
            </a:r>
            <a:endParaRPr lang="hu-HU" sz="2000" dirty="0"/>
          </a:p>
          <a:p>
            <a:pPr lvl="0" algn="ctr">
              <a:buClr>
                <a:schemeClr val="dk1"/>
              </a:buClr>
              <a:buSzPts val="1800"/>
            </a:pPr>
            <a:r>
              <a:rPr lang="hu-HU" sz="2000" dirty="0">
                <a:latin typeface="Times New Roman"/>
                <a:ea typeface="Times New Roman"/>
                <a:cs typeface="Times New Roman"/>
                <a:sym typeface="Times New Roman"/>
              </a:rPr>
              <a:t>széttagolt kommunikáció</a:t>
            </a:r>
            <a:endParaRPr lang="hu-HU" sz="2000" dirty="0"/>
          </a:p>
          <a:p>
            <a:pPr lvl="0" algn="ctr">
              <a:buClr>
                <a:schemeClr val="dk1"/>
              </a:buClr>
              <a:buSzPts val="1800"/>
            </a:pPr>
            <a:r>
              <a:rPr lang="hu-HU" sz="2000" dirty="0">
                <a:latin typeface="Times New Roman"/>
                <a:ea typeface="Times New Roman"/>
                <a:cs typeface="Times New Roman"/>
                <a:sym typeface="Times New Roman"/>
              </a:rPr>
              <a:t>több külön platform</a:t>
            </a:r>
            <a:endParaRPr lang="hu-HU" sz="2000" dirty="0"/>
          </a:p>
          <a:p>
            <a:pPr lvl="0" algn="ctr">
              <a:buClr>
                <a:schemeClr val="dk1"/>
              </a:buClr>
              <a:buSzPts val="1800"/>
            </a:pPr>
            <a:r>
              <a:rPr lang="hu-HU" sz="2000" dirty="0">
                <a:latin typeface="Times New Roman"/>
                <a:ea typeface="Times New Roman"/>
                <a:cs typeface="Times New Roman"/>
                <a:sym typeface="Times New Roman"/>
              </a:rPr>
              <a:t>nehézkes eseménykezelés</a:t>
            </a:r>
            <a:endParaRPr lang="hu-HU" sz="2000" dirty="0"/>
          </a:p>
          <a:p>
            <a:pPr lvl="0" algn="ctr">
              <a:buClr>
                <a:schemeClr val="dk1"/>
              </a:buClr>
              <a:buSzPts val="1800"/>
            </a:pPr>
            <a:r>
              <a:rPr lang="hu-HU" sz="2000" dirty="0">
                <a:latin typeface="Times New Roman"/>
                <a:ea typeface="Times New Roman"/>
                <a:cs typeface="Times New Roman"/>
                <a:sym typeface="Times New Roman"/>
              </a:rPr>
              <a:t>információk nehéz követése</a:t>
            </a:r>
            <a:endParaRPr lang="hu-HU" sz="2000" dirty="0"/>
          </a:p>
        </p:txBody>
      </p:sp>
      <p:sp>
        <p:nvSpPr>
          <p:cNvPr id="3" name="Szövegdoboz 2">
            <a:extLst>
              <a:ext uri="{FF2B5EF4-FFF2-40B4-BE49-F238E27FC236}">
                <a16:creationId xmlns:a16="http://schemas.microsoft.com/office/drawing/2014/main" id="{478AAD97-7AA0-25DC-DE15-591AEFA381D6}"/>
              </a:ext>
            </a:extLst>
          </p:cNvPr>
          <p:cNvSpPr txBox="1"/>
          <p:nvPr/>
        </p:nvSpPr>
        <p:spPr>
          <a:xfrm>
            <a:off x="7385588" y="3758079"/>
            <a:ext cx="4215865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lnSpc>
                <a:spcPct val="200000"/>
              </a:lnSpc>
            </a:pPr>
            <a:r>
              <a:rPr lang="hu-HU" sz="2000" b="1" dirty="0">
                <a:latin typeface="Times New Roman"/>
                <a:ea typeface="Times New Roman"/>
                <a:cs typeface="Times New Roman"/>
                <a:sym typeface="Times New Roman"/>
              </a:rPr>
              <a:t>Megoldás</a:t>
            </a:r>
            <a:endParaRPr lang="hu-HU" sz="2000" dirty="0"/>
          </a:p>
          <a:p>
            <a:pPr lvl="0" algn="ctr"/>
            <a:r>
              <a:rPr lang="hu-HU" sz="2000" dirty="0">
                <a:latin typeface="Times New Roman"/>
                <a:ea typeface="Times New Roman"/>
                <a:cs typeface="Times New Roman"/>
                <a:sym typeface="Times New Roman"/>
              </a:rPr>
              <a:t>egységes webes rendszer</a:t>
            </a:r>
            <a:endParaRPr lang="hu-HU" sz="2000" dirty="0"/>
          </a:p>
          <a:p>
            <a:pPr lvl="0" algn="ctr"/>
            <a:r>
              <a:rPr lang="hu-HU" sz="2000" dirty="0">
                <a:latin typeface="Times New Roman"/>
                <a:ea typeface="Times New Roman"/>
                <a:cs typeface="Times New Roman"/>
                <a:sym typeface="Times New Roman"/>
              </a:rPr>
              <a:t>központi eseménykezelés</a:t>
            </a:r>
            <a:endParaRPr lang="hu-HU" sz="2000" dirty="0"/>
          </a:p>
          <a:p>
            <a:pPr lvl="0" algn="ctr"/>
            <a:r>
              <a:rPr lang="hu-HU" sz="2000" dirty="0">
                <a:latin typeface="Times New Roman"/>
                <a:ea typeface="Times New Roman"/>
                <a:cs typeface="Times New Roman"/>
                <a:sym typeface="Times New Roman"/>
              </a:rPr>
              <a:t>egyszerűbb kommunikáció</a:t>
            </a:r>
            <a:endParaRPr lang="hu-HU" sz="2000" dirty="0"/>
          </a:p>
          <a:p>
            <a:pPr lvl="0" algn="ctr"/>
            <a:r>
              <a:rPr lang="hu-HU" sz="2000" dirty="0">
                <a:latin typeface="Times New Roman"/>
                <a:ea typeface="Times New Roman"/>
                <a:cs typeface="Times New Roman"/>
                <a:sym typeface="Times New Roman"/>
              </a:rPr>
              <a:t>átlátható információk</a:t>
            </a:r>
            <a:endParaRPr lang="hu-HU" sz="2000" dirty="0"/>
          </a:p>
          <a:p>
            <a:endParaRPr lang="hu-HU" sz="2000" dirty="0"/>
          </a:p>
        </p:txBody>
      </p:sp>
      <p:sp>
        <p:nvSpPr>
          <p:cNvPr id="4" name="Szövegdoboz 3">
            <a:extLst>
              <a:ext uri="{FF2B5EF4-FFF2-40B4-BE49-F238E27FC236}">
                <a16:creationId xmlns:a16="http://schemas.microsoft.com/office/drawing/2014/main" id="{E2F355FB-4B84-7D47-6AF2-8FD42995F575}"/>
              </a:ext>
            </a:extLst>
          </p:cNvPr>
          <p:cNvSpPr txBox="1"/>
          <p:nvPr/>
        </p:nvSpPr>
        <p:spPr>
          <a:xfrm>
            <a:off x="1963825" y="2035002"/>
            <a:ext cx="900897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000" b="1" dirty="0">
                <a:latin typeface="Cambria" panose="02040503050406030204" pitchFamily="18" charset="0"/>
                <a:ea typeface="Cambria" panose="02040503050406030204" pitchFamily="18" charset="0"/>
                <a:cs typeface="Times New Roman"/>
                <a:sym typeface="Times New Roman"/>
              </a:rPr>
              <a:t>Cél:</a:t>
            </a:r>
            <a:r>
              <a:rPr lang="hu-HU" sz="2000" dirty="0">
                <a:latin typeface="Cambria" panose="02040503050406030204" pitchFamily="18" charset="0"/>
                <a:ea typeface="Cambria" panose="02040503050406030204" pitchFamily="18" charset="0"/>
                <a:cs typeface="Times New Roman"/>
                <a:sym typeface="Times New Roman"/>
              </a:rPr>
              <a:t> </a:t>
            </a:r>
            <a:r>
              <a:rPr lang="hu-HU" sz="2000" dirty="0">
                <a:latin typeface="Cambria" panose="02040503050406030204" pitchFamily="18" charset="0"/>
                <a:ea typeface="Cambria" panose="02040503050406030204" pitchFamily="18" charset="0"/>
                <a:cs typeface="Cambria"/>
                <a:sym typeface="Cambria"/>
              </a:rPr>
              <a:t>A tanárok és diákok közötti kommunikáció egyszerűsítése, valamint az iskolai események központi és átlátható kezelése egy rendszerben.</a:t>
            </a:r>
            <a:endParaRPr lang="hu-HU" sz="20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endParaRPr lang="hu-HU" dirty="0"/>
          </a:p>
        </p:txBody>
      </p:sp>
      <p:pic>
        <p:nvPicPr>
          <p:cNvPr id="8" name="Kép 7">
            <a:extLst>
              <a:ext uri="{FF2B5EF4-FFF2-40B4-BE49-F238E27FC236}">
                <a16:creationId xmlns:a16="http://schemas.microsoft.com/office/drawing/2014/main" id="{B0E1AE6A-30E4-25BA-E263-09D543E67A5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5" b="55"/>
          <a:stretch/>
        </p:blipFill>
        <p:spPr>
          <a:xfrm>
            <a:off x="-317902" y="-137425"/>
            <a:ext cx="2852432" cy="262162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167;p9">
            <a:extLst>
              <a:ext uri="{FF2B5EF4-FFF2-40B4-BE49-F238E27FC236}">
                <a16:creationId xmlns:a16="http://schemas.microsoft.com/office/drawing/2014/main" id="{57801444-2324-3ADF-5DCA-2533CC8DF37E}"/>
              </a:ext>
            </a:extLst>
          </p:cNvPr>
          <p:cNvSpPr/>
          <p:nvPr/>
        </p:nvSpPr>
        <p:spPr>
          <a:xfrm>
            <a:off x="9993075" y="-339150"/>
            <a:ext cx="3492600" cy="75363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167;p9">
            <a:extLst>
              <a:ext uri="{FF2B5EF4-FFF2-40B4-BE49-F238E27FC236}">
                <a16:creationId xmlns:a16="http://schemas.microsoft.com/office/drawing/2014/main" id="{163E3D33-F746-2664-41C5-8B2E84F2837E}"/>
              </a:ext>
            </a:extLst>
          </p:cNvPr>
          <p:cNvSpPr/>
          <p:nvPr/>
        </p:nvSpPr>
        <p:spPr>
          <a:xfrm>
            <a:off x="-1113506" y="-339150"/>
            <a:ext cx="3492600" cy="75363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3"/>
          <p:cNvSpPr/>
          <p:nvPr/>
        </p:nvSpPr>
        <p:spPr>
          <a:xfrm>
            <a:off x="7582328" y="2434975"/>
            <a:ext cx="4099389" cy="1777429"/>
          </a:xfrm>
          <a:prstGeom prst="rect">
            <a:avLst/>
          </a:prstGeom>
          <a:solidFill>
            <a:srgbClr val="D8D8D8"/>
          </a:solidFill>
          <a:ln w="19050" cap="flat" cmpd="sng">
            <a:solidFill>
              <a:srgbClr val="08283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" name="Google Shape;103;p3"/>
          <p:cNvSpPr/>
          <p:nvPr/>
        </p:nvSpPr>
        <p:spPr>
          <a:xfrm>
            <a:off x="715720" y="2536617"/>
            <a:ext cx="3059615" cy="1623317"/>
          </a:xfrm>
          <a:prstGeom prst="rect">
            <a:avLst/>
          </a:prstGeom>
          <a:solidFill>
            <a:srgbClr val="D8D8D8"/>
          </a:solidFill>
          <a:ln w="19050" cap="flat" cmpd="sng">
            <a:solidFill>
              <a:srgbClr val="08283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Google Shape;104;p3"/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 dirty="0">
                <a:latin typeface="Cambria"/>
                <a:ea typeface="Cambria"/>
                <a:cs typeface="Cambria"/>
                <a:sym typeface="Cambria"/>
              </a:rPr>
              <a:t>A projekt fő funkciói</a:t>
            </a:r>
            <a:endParaRPr dirty="0"/>
          </a:p>
        </p:txBody>
      </p:sp>
      <p:sp>
        <p:nvSpPr>
          <p:cNvPr id="106" name="Google Shape;106;p3"/>
          <p:cNvSpPr txBox="1"/>
          <p:nvPr/>
        </p:nvSpPr>
        <p:spPr>
          <a:xfrm>
            <a:off x="1354138" y="2862044"/>
            <a:ext cx="2049911" cy="9232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hu-HU" sz="18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Regisztráció</a:t>
            </a:r>
            <a:endParaRPr dirty="0"/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hu-HU" sz="18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Bejelentkezés</a:t>
            </a:r>
            <a:endParaRPr dirty="0"/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hu-HU" sz="18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Profilkezelés</a:t>
            </a:r>
            <a:endParaRPr dirty="0"/>
          </a:p>
        </p:txBody>
      </p:sp>
      <p:sp>
        <p:nvSpPr>
          <p:cNvPr id="107" name="Google Shape;107;p3"/>
          <p:cNvSpPr txBox="1"/>
          <p:nvPr/>
        </p:nvSpPr>
        <p:spPr>
          <a:xfrm>
            <a:off x="7799310" y="2723545"/>
            <a:ext cx="3882407" cy="1200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hu-HU" sz="18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Események böngészése</a:t>
            </a:r>
            <a:endParaRPr dirty="0"/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hu-HU" sz="18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Események létrehozása és kezelése</a:t>
            </a:r>
            <a:endParaRPr dirty="0"/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hu-HU" sz="18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Intézmények és osztályok kezelése</a:t>
            </a:r>
            <a:endParaRPr dirty="0"/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hu-HU" sz="18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Jelentkezési kérelmek kezelése</a:t>
            </a:r>
            <a:endParaRPr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" name="Kép 1">
            <a:extLst>
              <a:ext uri="{FF2B5EF4-FFF2-40B4-BE49-F238E27FC236}">
                <a16:creationId xmlns:a16="http://schemas.microsoft.com/office/drawing/2014/main" id="{F81E4B4F-78E5-5BEA-E4F3-BDFB2C78B23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5" b="55"/>
          <a:stretch/>
        </p:blipFill>
        <p:spPr>
          <a:xfrm>
            <a:off x="-317902" y="-137425"/>
            <a:ext cx="2852432" cy="262162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4"/>
          <p:cNvSpPr/>
          <p:nvPr/>
        </p:nvSpPr>
        <p:spPr>
          <a:xfrm rot="5400000">
            <a:off x="4237613" y="-6392525"/>
            <a:ext cx="3492600" cy="141567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4"/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>
                <a:latin typeface="Cambria"/>
                <a:ea typeface="Cambria"/>
                <a:cs typeface="Cambria"/>
                <a:sym typeface="Cambria"/>
              </a:rPr>
              <a:t>A rendszer felépítése</a:t>
            </a:r>
            <a:endParaRPr/>
          </a:p>
        </p:txBody>
      </p:sp>
      <p:sp>
        <p:nvSpPr>
          <p:cNvPr id="116" name="Google Shape;116;p4"/>
          <p:cNvSpPr txBox="1"/>
          <p:nvPr/>
        </p:nvSpPr>
        <p:spPr>
          <a:xfrm>
            <a:off x="1291472" y="2432115"/>
            <a:ext cx="4804500" cy="175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b="1" dirty="0">
                <a:solidFill>
                  <a:schemeClr val="dk1"/>
                </a:solidFill>
              </a:rPr>
              <a:t>Frontend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 </a:t>
            </a:r>
            <a:r>
              <a:rPr lang="hu-HU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Vue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3 alapú kliensalkalmazás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b="1" dirty="0">
                <a:solidFill>
                  <a:schemeClr val="dk1"/>
                </a:solidFill>
              </a:rPr>
              <a:t>Backend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 </a:t>
            </a:r>
            <a:r>
              <a:rPr lang="hu-HU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Laravel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12 REST API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b="1" dirty="0">
                <a:solidFill>
                  <a:schemeClr val="dk1"/>
                </a:solidFill>
              </a:rPr>
              <a:t>Adatbázis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 </a:t>
            </a:r>
            <a:r>
              <a:rPr lang="hu-HU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MySQL</a:t>
            </a:r>
            <a:endParaRPr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b="1" dirty="0">
                <a:solidFill>
                  <a:schemeClr val="dk1"/>
                </a:solidFill>
              </a:rPr>
              <a:t>Kommunikáció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 HTTP API hívások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b="1" dirty="0">
                <a:solidFill>
                  <a:schemeClr val="dk1"/>
                </a:solidFill>
              </a:rPr>
              <a:t>Előny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 a frontend és backend külön fejleszthető, bővíthető</a:t>
            </a:r>
            <a:endParaRPr dirty="0"/>
          </a:p>
        </p:txBody>
      </p:sp>
      <p:pic>
        <p:nvPicPr>
          <p:cNvPr id="117" name="Google Shape;117;p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138882" y="2551650"/>
            <a:ext cx="4180341" cy="1754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-1916881">
            <a:off x="5967247" y="3409924"/>
            <a:ext cx="1970576" cy="205062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9" name="Google Shape;119;p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826075" y="3624840"/>
            <a:ext cx="3550444" cy="2366384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Kép 1">
            <a:extLst>
              <a:ext uri="{FF2B5EF4-FFF2-40B4-BE49-F238E27FC236}">
                <a16:creationId xmlns:a16="http://schemas.microsoft.com/office/drawing/2014/main" id="{CE37B5BB-7703-FB12-0FE0-1F492C959226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55" b="55"/>
          <a:stretch/>
        </p:blipFill>
        <p:spPr>
          <a:xfrm>
            <a:off x="-317902" y="-137425"/>
            <a:ext cx="2852432" cy="262162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7"/>
          <p:cNvSpPr/>
          <p:nvPr/>
        </p:nvSpPr>
        <p:spPr>
          <a:xfrm rot="5400000">
            <a:off x="-1978955" y="1097934"/>
            <a:ext cx="3492600" cy="52929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7" name="Google Shape;147;p7"/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 dirty="0">
                <a:latin typeface="Cambria"/>
                <a:ea typeface="Cambria"/>
                <a:cs typeface="Cambria"/>
                <a:sym typeface="Cambria"/>
              </a:rPr>
              <a:t>Frontend felépítése</a:t>
            </a:r>
            <a:endParaRPr dirty="0"/>
          </a:p>
        </p:txBody>
      </p:sp>
      <p:sp>
        <p:nvSpPr>
          <p:cNvPr id="149" name="Google Shape;149;p7"/>
          <p:cNvSpPr txBox="1"/>
          <p:nvPr/>
        </p:nvSpPr>
        <p:spPr>
          <a:xfrm>
            <a:off x="2413795" y="2660051"/>
            <a:ext cx="6509700" cy="2585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Vue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3 SPA, </a:t>
            </a:r>
            <a:r>
              <a:rPr lang="hu-HU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route</a:t>
            </a:r>
            <a:r>
              <a:rPr lang="hu-HU" sz="1800" dirty="0">
                <a:solidFill>
                  <a:schemeClr val="dk1"/>
                </a:solidFill>
              </a:rPr>
              <a:t>-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alapú navigáció</a:t>
            </a:r>
            <a:endParaRPr lang="hu-HU" sz="1800" dirty="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endParaRPr lang="hu-HU" sz="1800" dirty="0">
              <a:solidFill>
                <a:schemeClr val="dk1"/>
              </a:solidFill>
            </a:endParaRPr>
          </a:p>
          <a:p>
            <a:pPr marL="285750" indent="-285750"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 dirty="0"/>
              <a:t>Komponensalapú felépítés, funkciók szerint csoportosítva</a:t>
            </a: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endParaRPr lang="hu-HU" sz="1800" dirty="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 dirty="0">
                <a:solidFill>
                  <a:schemeClr val="dk1"/>
                </a:solidFill>
              </a:rPr>
              <a:t>Szerepkör alapú irányítópultok</a:t>
            </a: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endParaRPr lang="hu-HU" sz="1800" dirty="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 dirty="0">
                <a:solidFill>
                  <a:schemeClr val="dk1"/>
                </a:solidFill>
              </a:rPr>
              <a:t>Állapotkezelés böngésző tárolóval és </a:t>
            </a:r>
            <a:r>
              <a:rPr lang="hu-HU" sz="1800" dirty="0" err="1">
                <a:solidFill>
                  <a:schemeClr val="dk1"/>
                </a:solidFill>
              </a:rPr>
              <a:t>tokenes</a:t>
            </a:r>
            <a:r>
              <a:rPr lang="hu-HU" sz="1800" dirty="0">
                <a:solidFill>
                  <a:schemeClr val="dk1"/>
                </a:solidFill>
              </a:rPr>
              <a:t> hitelesítéssel</a:t>
            </a: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endParaRPr lang="hu-HU" sz="1800" dirty="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 dirty="0"/>
              <a:t>Egységes értesítési rendszer (</a:t>
            </a:r>
            <a:r>
              <a:rPr lang="hu-HU" sz="1800" dirty="0" err="1"/>
              <a:t>toastok</a:t>
            </a:r>
            <a:r>
              <a:rPr lang="hu-HU" sz="1800" dirty="0"/>
              <a:t>)</a:t>
            </a:r>
          </a:p>
        </p:txBody>
      </p:sp>
      <p:pic>
        <p:nvPicPr>
          <p:cNvPr id="2" name="Kép 1">
            <a:extLst>
              <a:ext uri="{FF2B5EF4-FFF2-40B4-BE49-F238E27FC236}">
                <a16:creationId xmlns:a16="http://schemas.microsoft.com/office/drawing/2014/main" id="{7F97EB40-BCA8-156B-ADB7-A400002E539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5" b="55"/>
          <a:stretch/>
        </p:blipFill>
        <p:spPr>
          <a:xfrm>
            <a:off x="-317902" y="-137425"/>
            <a:ext cx="2852432" cy="2621626"/>
          </a:xfrm>
          <a:prstGeom prst="rect">
            <a:avLst/>
          </a:prstGeom>
        </p:spPr>
      </p:pic>
      <p:pic>
        <p:nvPicPr>
          <p:cNvPr id="4" name="Kép 3">
            <a:extLst>
              <a:ext uri="{FF2B5EF4-FFF2-40B4-BE49-F238E27FC236}">
                <a16:creationId xmlns:a16="http://schemas.microsoft.com/office/drawing/2014/main" id="{369E2F3D-E7E9-5259-2122-96AE26EF1D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82058" y="169611"/>
            <a:ext cx="2852432" cy="651877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5"/>
          <p:cNvSpPr/>
          <p:nvPr/>
        </p:nvSpPr>
        <p:spPr>
          <a:xfrm>
            <a:off x="421030" y="1871108"/>
            <a:ext cx="6190671" cy="4194968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26" name="Google Shape;126;p5"/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 dirty="0">
                <a:latin typeface="Cambria"/>
                <a:ea typeface="Cambria"/>
                <a:cs typeface="Cambria"/>
                <a:sym typeface="Cambria"/>
              </a:rPr>
              <a:t>Backend architektúra</a:t>
            </a:r>
            <a:endParaRPr dirty="0"/>
          </a:p>
        </p:txBody>
      </p:sp>
      <p:pic>
        <p:nvPicPr>
          <p:cNvPr id="2" name="Kép 1">
            <a:extLst>
              <a:ext uri="{FF2B5EF4-FFF2-40B4-BE49-F238E27FC236}">
                <a16:creationId xmlns:a16="http://schemas.microsoft.com/office/drawing/2014/main" id="{3615821A-0B5A-AFA2-70D0-BB28F94FB7F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5" b="55"/>
          <a:stretch/>
        </p:blipFill>
        <p:spPr>
          <a:xfrm>
            <a:off x="-317902" y="-137425"/>
            <a:ext cx="2852432" cy="2621626"/>
          </a:xfrm>
          <a:prstGeom prst="rect">
            <a:avLst/>
          </a:prstGeom>
        </p:spPr>
      </p:pic>
      <p:sp>
        <p:nvSpPr>
          <p:cNvPr id="3" name="Szövegdoboz 2">
            <a:extLst>
              <a:ext uri="{FF2B5EF4-FFF2-40B4-BE49-F238E27FC236}">
                <a16:creationId xmlns:a16="http://schemas.microsoft.com/office/drawing/2014/main" id="{1A182C00-DF9A-595F-45C3-1B92870DB267}"/>
              </a:ext>
            </a:extLst>
          </p:cNvPr>
          <p:cNvSpPr txBox="1"/>
          <p:nvPr/>
        </p:nvSpPr>
        <p:spPr>
          <a:xfrm>
            <a:off x="1292528" y="2531736"/>
            <a:ext cx="5634354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1800" dirty="0"/>
              <a:t>API / </a:t>
            </a:r>
            <a:r>
              <a:rPr lang="hu-HU" sz="1800" dirty="0" err="1"/>
              <a:t>Routing</a:t>
            </a:r>
            <a:r>
              <a:rPr lang="hu-HU" sz="1800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1800" dirty="0" err="1"/>
              <a:t>Controller</a:t>
            </a:r>
            <a:endParaRPr lang="hu-HU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1800" dirty="0"/>
              <a:t>Service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1800" dirty="0" err="1"/>
              <a:t>Model</a:t>
            </a:r>
            <a:r>
              <a:rPr lang="hu-HU" sz="1800" dirty="0"/>
              <a:t> + adatkezelés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1800" dirty="0"/>
              <a:t>Infrastruktúra (</a:t>
            </a:r>
            <a:r>
              <a:rPr lang="hu-HU" sz="1800" dirty="0" err="1"/>
              <a:t>middleware</a:t>
            </a:r>
            <a:r>
              <a:rPr lang="hu-HU" sz="1800" dirty="0"/>
              <a:t>, </a:t>
            </a:r>
            <a:r>
              <a:rPr lang="hu-HU" sz="1800" dirty="0" err="1"/>
              <a:t>auth</a:t>
            </a:r>
            <a:r>
              <a:rPr lang="hu-HU" sz="1800" dirty="0"/>
              <a:t>, stb.)</a:t>
            </a:r>
          </a:p>
        </p:txBody>
      </p:sp>
      <p:pic>
        <p:nvPicPr>
          <p:cNvPr id="7" name="Kép 6">
            <a:extLst>
              <a:ext uri="{FF2B5EF4-FFF2-40B4-BE49-F238E27FC236}">
                <a16:creationId xmlns:a16="http://schemas.microsoft.com/office/drawing/2014/main" id="{82ECEB9B-A547-C71D-4219-18C3117363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37050" y="824003"/>
            <a:ext cx="2669037" cy="577744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23">
          <a:extLst>
            <a:ext uri="{FF2B5EF4-FFF2-40B4-BE49-F238E27FC236}">
              <a16:creationId xmlns:a16="http://schemas.microsoft.com/office/drawing/2014/main" id="{89CDD949-1624-D715-4274-70BF1D69E7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5">
            <a:extLst>
              <a:ext uri="{FF2B5EF4-FFF2-40B4-BE49-F238E27FC236}">
                <a16:creationId xmlns:a16="http://schemas.microsoft.com/office/drawing/2014/main" id="{8C811668-B0F4-F47B-B18A-FBEF94CE94E7}"/>
              </a:ext>
            </a:extLst>
          </p:cNvPr>
          <p:cNvSpPr/>
          <p:nvPr/>
        </p:nvSpPr>
        <p:spPr>
          <a:xfrm>
            <a:off x="5401340" y="1695157"/>
            <a:ext cx="6579804" cy="4486486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26" name="Google Shape;126;p5">
            <a:extLst>
              <a:ext uri="{FF2B5EF4-FFF2-40B4-BE49-F238E27FC236}">
                <a16:creationId xmlns:a16="http://schemas.microsoft.com/office/drawing/2014/main" id="{0FD3525F-9239-F39B-02A8-B12202CFE554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dirty="0">
                <a:latin typeface="Cambria" panose="02040503050406030204" pitchFamily="18" charset="0"/>
                <a:ea typeface="Cambria" panose="02040503050406030204" pitchFamily="18" charset="0"/>
              </a:rPr>
              <a:t>Kontrollerek</a:t>
            </a: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pic>
        <p:nvPicPr>
          <p:cNvPr id="2" name="Kép 1">
            <a:extLst>
              <a:ext uri="{FF2B5EF4-FFF2-40B4-BE49-F238E27FC236}">
                <a16:creationId xmlns:a16="http://schemas.microsoft.com/office/drawing/2014/main" id="{F66B6417-0E38-F43A-3A77-709C67B4E2B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5" b="55"/>
          <a:stretch/>
        </p:blipFill>
        <p:spPr>
          <a:xfrm>
            <a:off x="-317902" y="-137425"/>
            <a:ext cx="2852432" cy="2621626"/>
          </a:xfrm>
          <a:prstGeom prst="rect">
            <a:avLst/>
          </a:prstGeom>
        </p:spPr>
      </p:pic>
      <p:sp>
        <p:nvSpPr>
          <p:cNvPr id="3" name="Szövegdoboz 2">
            <a:extLst>
              <a:ext uri="{FF2B5EF4-FFF2-40B4-BE49-F238E27FC236}">
                <a16:creationId xmlns:a16="http://schemas.microsoft.com/office/drawing/2014/main" id="{D9B7A07A-2D6A-1984-F4A7-476723F6C2A3}"/>
              </a:ext>
            </a:extLst>
          </p:cNvPr>
          <p:cNvSpPr txBox="1"/>
          <p:nvPr/>
        </p:nvSpPr>
        <p:spPr>
          <a:xfrm>
            <a:off x="6095998" y="2472572"/>
            <a:ext cx="5634354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1800" dirty="0"/>
              <a:t>A kontrollerek fogadják az API kéréseket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1800" dirty="0" err="1"/>
              <a:t>Validálják</a:t>
            </a:r>
            <a:r>
              <a:rPr lang="hu-HU" sz="1800" dirty="0"/>
              <a:t> a bejövő adatokat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1800" dirty="0"/>
              <a:t>Meghívják a megfelelő service / </a:t>
            </a:r>
            <a:r>
              <a:rPr lang="hu-HU" sz="1800" dirty="0" err="1"/>
              <a:t>model</a:t>
            </a:r>
            <a:r>
              <a:rPr lang="hu-HU" sz="1800" dirty="0"/>
              <a:t> logikát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1800" dirty="0"/>
              <a:t>Egységes JSON választ adnak vissza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hu-HU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hu-HU" sz="1800" dirty="0"/>
              <a:t>Szerepkör és jogosultság alapján eltérő működést kezelnek</a:t>
            </a:r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4BED8106-2703-BE1C-9D9F-D960A92443D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266" y="2247477"/>
            <a:ext cx="3915321" cy="3381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63026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6"/>
          <p:cNvSpPr/>
          <p:nvPr/>
        </p:nvSpPr>
        <p:spPr>
          <a:xfrm>
            <a:off x="2729700" y="111225"/>
            <a:ext cx="6732600" cy="16383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9" name="Google Shape;139;p6"/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600" cy="81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 dirty="0">
                <a:latin typeface="Cambria"/>
                <a:ea typeface="Cambria"/>
                <a:cs typeface="Cambria"/>
                <a:sym typeface="Cambria"/>
              </a:rPr>
              <a:t>Jogosultság és biztonság</a:t>
            </a:r>
            <a:endParaRPr dirty="0"/>
          </a:p>
        </p:txBody>
      </p:sp>
      <p:sp>
        <p:nvSpPr>
          <p:cNvPr id="141" name="Google Shape;141;p6"/>
          <p:cNvSpPr txBox="1"/>
          <p:nvPr/>
        </p:nvSpPr>
        <p:spPr>
          <a:xfrm>
            <a:off x="1291479" y="2404683"/>
            <a:ext cx="4524000" cy="2585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Token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alapú hitelesítés (</a:t>
            </a:r>
            <a:r>
              <a:rPr lang="hu-HU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Sanctum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)</a:t>
            </a:r>
            <a:endParaRPr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Védett API végpontok</a:t>
            </a:r>
            <a:endParaRPr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Szerepkör-alapú hozzáférés</a:t>
            </a:r>
            <a:endParaRPr dirty="0"/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Admin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jogosultsághoz kötött műveletek</a:t>
            </a:r>
            <a:endParaRPr dirty="0"/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Email-verifikáció</a:t>
            </a:r>
            <a:endParaRPr sz="1800" dirty="0">
              <a:solidFill>
                <a:schemeClr val="dk1"/>
              </a:solidFill>
            </a:endParaRPr>
          </a:p>
        </p:txBody>
      </p:sp>
      <p:sp>
        <p:nvSpPr>
          <p:cNvPr id="142" name="Google Shape;142;p6"/>
          <p:cNvSpPr txBox="1"/>
          <p:nvPr/>
        </p:nvSpPr>
        <p:spPr>
          <a:xfrm>
            <a:off x="7890362" y="2163226"/>
            <a:ext cx="3429000" cy="203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Szerepkörök:</a:t>
            </a:r>
            <a:endParaRPr sz="1800" b="1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b="1" dirty="0">
              <a:solidFill>
                <a:schemeClr val="dk1"/>
              </a:solidFill>
            </a:endParaRP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hu-HU" sz="1800" dirty="0">
                <a:solidFill>
                  <a:schemeClr val="dk1"/>
                </a:solidFill>
              </a:rPr>
              <a:t>Diák</a:t>
            </a:r>
            <a:endParaRPr sz="1800" dirty="0"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hu-HU" sz="1800" dirty="0">
                <a:solidFill>
                  <a:schemeClr val="dk1"/>
                </a:solidFill>
              </a:rPr>
              <a:t>Tanár</a:t>
            </a:r>
            <a:endParaRPr sz="1800" dirty="0"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hu-HU" sz="1800" dirty="0" err="1">
                <a:solidFill>
                  <a:schemeClr val="dk1"/>
                </a:solidFill>
              </a:rPr>
              <a:t>Admin</a:t>
            </a:r>
            <a:endParaRPr sz="1800" b="1" dirty="0">
              <a:solidFill>
                <a:schemeClr val="dk1"/>
              </a:solidFill>
            </a:endParaRPr>
          </a:p>
        </p:txBody>
      </p:sp>
      <p:pic>
        <p:nvPicPr>
          <p:cNvPr id="2" name="Kép 1">
            <a:extLst>
              <a:ext uri="{FF2B5EF4-FFF2-40B4-BE49-F238E27FC236}">
                <a16:creationId xmlns:a16="http://schemas.microsoft.com/office/drawing/2014/main" id="{C16AE64D-33DD-F020-DFA3-E586274913E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5" b="55"/>
          <a:stretch/>
        </p:blipFill>
        <p:spPr>
          <a:xfrm>
            <a:off x="-317902" y="-137425"/>
            <a:ext cx="2852432" cy="2621626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4D0611A6-D8E8-24E8-923A-EAFFF7F095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73110" y="4694774"/>
            <a:ext cx="6079512" cy="16383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9"/>
          <p:cNvSpPr/>
          <p:nvPr/>
        </p:nvSpPr>
        <p:spPr>
          <a:xfrm>
            <a:off x="10763599" y="-339150"/>
            <a:ext cx="3492600" cy="75363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" name="Google Shape;164;p9"/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>
                <a:latin typeface="Cambria"/>
                <a:ea typeface="Cambria"/>
                <a:cs typeface="Cambria"/>
                <a:sym typeface="Cambria"/>
              </a:rPr>
              <a:t>Adatmodell</a:t>
            </a:r>
            <a:endParaRPr/>
          </a:p>
        </p:txBody>
      </p:sp>
      <p:pic>
        <p:nvPicPr>
          <p:cNvPr id="2" name="Kép 1">
            <a:extLst>
              <a:ext uri="{FF2B5EF4-FFF2-40B4-BE49-F238E27FC236}">
                <a16:creationId xmlns:a16="http://schemas.microsoft.com/office/drawing/2014/main" id="{26ABEE9A-C9D5-0750-497F-3E38C12853E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5" b="55"/>
          <a:stretch/>
        </p:blipFill>
        <p:spPr>
          <a:xfrm>
            <a:off x="-317902" y="-137425"/>
            <a:ext cx="2852432" cy="2621626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B61B75C4-CCCA-3A10-7130-5CB867CFDF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01105" y="1610802"/>
            <a:ext cx="7610183" cy="491378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63">
          <a:extLst>
            <a:ext uri="{FF2B5EF4-FFF2-40B4-BE49-F238E27FC236}">
              <a16:creationId xmlns:a16="http://schemas.microsoft.com/office/drawing/2014/main" id="{9FD071AA-436D-971A-A541-D08A464CAF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9">
            <a:extLst>
              <a:ext uri="{FF2B5EF4-FFF2-40B4-BE49-F238E27FC236}">
                <a16:creationId xmlns:a16="http://schemas.microsoft.com/office/drawing/2014/main" id="{570EDD70-0BDF-CEC5-2C59-32C50CD8E3BB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 fontScale="90000"/>
          </a:bodyPr>
          <a:lstStyle/>
          <a:p>
            <a:pPr marL="0" lvl="0" indent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dirty="0" err="1">
                <a:latin typeface="Cambria" panose="02040503050406030204" pitchFamily="18" charset="0"/>
                <a:ea typeface="Cambria" panose="02040503050406030204" pitchFamily="18" charset="0"/>
              </a:rPr>
              <a:t>Reszponzívitás</a:t>
            </a:r>
            <a:endParaRPr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66" name="Google Shape;166;p9">
            <a:extLst>
              <a:ext uri="{FF2B5EF4-FFF2-40B4-BE49-F238E27FC236}">
                <a16:creationId xmlns:a16="http://schemas.microsoft.com/office/drawing/2014/main" id="{9474E5A6-E23B-DABB-5990-92CEA2EE42DD}"/>
              </a:ext>
            </a:extLst>
          </p:cNvPr>
          <p:cNvSpPr txBox="1"/>
          <p:nvPr/>
        </p:nvSpPr>
        <p:spPr>
          <a:xfrm>
            <a:off x="389240" y="2268714"/>
            <a:ext cx="7767600" cy="2585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r>
              <a:rPr lang="hu-HU" sz="1800" dirty="0"/>
              <a:t>Reszponzív felület asztali, tablet és mobil nézetre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r>
              <a:rPr lang="hu-HU" sz="1800" dirty="0"/>
              <a:t>Rugalmas elrendezés (kártyák, listák, menük igazodnak a kijelzőhöz)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r>
              <a:rPr lang="hu-HU" sz="1800" dirty="0"/>
              <a:t>Olvasható betűméret és jól kezelhető gombok kisebb kijelzőn is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r>
              <a:rPr lang="hu-HU" sz="1800" dirty="0"/>
              <a:t>Fő funkciók minden nézetben elérhetők</a:t>
            </a:r>
            <a:endParaRPr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endParaRPr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" name="Kép 1">
            <a:extLst>
              <a:ext uri="{FF2B5EF4-FFF2-40B4-BE49-F238E27FC236}">
                <a16:creationId xmlns:a16="http://schemas.microsoft.com/office/drawing/2014/main" id="{7ADDCDEC-1DC4-5524-2DCA-9EB04EF6082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5" b="55"/>
          <a:stretch/>
        </p:blipFill>
        <p:spPr>
          <a:xfrm>
            <a:off x="-317902" y="-137425"/>
            <a:ext cx="2852432" cy="2621626"/>
          </a:xfrm>
          <a:prstGeom prst="rect">
            <a:avLst/>
          </a:prstGeom>
        </p:spPr>
      </p:pic>
      <p:pic>
        <p:nvPicPr>
          <p:cNvPr id="4" name="Kép 3">
            <a:extLst>
              <a:ext uri="{FF2B5EF4-FFF2-40B4-BE49-F238E27FC236}">
                <a16:creationId xmlns:a16="http://schemas.microsoft.com/office/drawing/2014/main" id="{27C76B75-C4A7-F786-8BD9-C2B96D12BA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39421" y="1335733"/>
            <a:ext cx="2581639" cy="4588810"/>
          </a:xfrm>
          <a:prstGeom prst="rect">
            <a:avLst/>
          </a:prstGeom>
        </p:spPr>
      </p:pic>
      <p:pic>
        <p:nvPicPr>
          <p:cNvPr id="8" name="Kép 7">
            <a:extLst>
              <a:ext uri="{FF2B5EF4-FFF2-40B4-BE49-F238E27FC236}">
                <a16:creationId xmlns:a16="http://schemas.microsoft.com/office/drawing/2014/main" id="{27568F30-6AA1-5E0A-7D41-3F9E2278A3D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65409" y="3429000"/>
            <a:ext cx="2275771" cy="33495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458562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10"/>
          <p:cNvSpPr/>
          <p:nvPr/>
        </p:nvSpPr>
        <p:spPr>
          <a:xfrm>
            <a:off x="-2850775" y="5134425"/>
            <a:ext cx="13068000" cy="34605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3" name="Google Shape;173;p10"/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 dirty="0">
                <a:latin typeface="Cambria"/>
                <a:ea typeface="Cambria"/>
                <a:cs typeface="Cambria"/>
                <a:sym typeface="Cambria"/>
              </a:rPr>
              <a:t>Tesztelés</a:t>
            </a:r>
            <a:endParaRPr dirty="0"/>
          </a:p>
        </p:txBody>
      </p:sp>
      <p:sp>
        <p:nvSpPr>
          <p:cNvPr id="175" name="Google Shape;175;p10"/>
          <p:cNvSpPr txBox="1"/>
          <p:nvPr/>
        </p:nvSpPr>
        <p:spPr>
          <a:xfrm>
            <a:off x="1520079" y="2274600"/>
            <a:ext cx="6777900" cy="230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Frontend: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hu-HU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TypeScript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tesztek pozitív és negatív tesztek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pPr lvl="0"/>
            <a:r>
              <a:rPr lang="hu-HU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Backend: 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API tesztelés </a:t>
            </a:r>
            <a:r>
              <a:rPr lang="hu-HU" sz="1800" dirty="0"/>
              <a:t>Postmannal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Pozitív és negatív esetek ellenőrzése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Cél: stabil működés és hibák korai kiszűrése</a:t>
            </a:r>
            <a:endParaRPr dirty="0"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" name="Kép 1">
            <a:extLst>
              <a:ext uri="{FF2B5EF4-FFF2-40B4-BE49-F238E27FC236}">
                <a16:creationId xmlns:a16="http://schemas.microsoft.com/office/drawing/2014/main" id="{02D68B3B-2132-2F6A-4985-5A1B54A7F98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5" b="55"/>
          <a:stretch/>
        </p:blipFill>
        <p:spPr>
          <a:xfrm>
            <a:off x="-317902" y="-137425"/>
            <a:ext cx="2852432" cy="2621626"/>
          </a:xfrm>
          <a:prstGeom prst="rect">
            <a:avLst/>
          </a:prstGeom>
        </p:spPr>
      </p:pic>
      <p:pic>
        <p:nvPicPr>
          <p:cNvPr id="4" name="Kép 3">
            <a:extLst>
              <a:ext uri="{FF2B5EF4-FFF2-40B4-BE49-F238E27FC236}">
                <a16:creationId xmlns:a16="http://schemas.microsoft.com/office/drawing/2014/main" id="{4BE8C11D-ABCB-AD67-494E-6C26538EC1E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9489371" y="3857626"/>
            <a:ext cx="1829864" cy="1829864"/>
          </a:xfrm>
          <a:prstGeom prst="rect">
            <a:avLst/>
          </a:prstGeom>
        </p:spPr>
      </p:pic>
      <p:pic>
        <p:nvPicPr>
          <p:cNvPr id="6" name="Kép 5">
            <a:extLst>
              <a:ext uri="{FF2B5EF4-FFF2-40B4-BE49-F238E27FC236}">
                <a16:creationId xmlns:a16="http://schemas.microsoft.com/office/drawing/2014/main" id="{1986AE4E-E05B-3DF2-C1AB-9899B9A8274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9489371" y="1538070"/>
            <a:ext cx="1670573" cy="189226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11"/>
          <p:cNvSpPr txBox="1">
            <a:spLocks noGrp="1"/>
          </p:cNvSpPr>
          <p:nvPr>
            <p:ph type="ctrTitle"/>
          </p:nvPr>
        </p:nvSpPr>
        <p:spPr>
          <a:xfrm>
            <a:off x="430974" y="504378"/>
            <a:ext cx="4336235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 dirty="0">
                <a:latin typeface="Cambria"/>
                <a:ea typeface="Cambria"/>
                <a:cs typeface="Cambria"/>
                <a:sym typeface="Cambria"/>
              </a:rPr>
              <a:t>Csapatmunka</a:t>
            </a:r>
            <a:endParaRPr dirty="0"/>
          </a:p>
        </p:txBody>
      </p:sp>
      <p:sp>
        <p:nvSpPr>
          <p:cNvPr id="181" name="Google Shape;181;p11"/>
          <p:cNvSpPr txBox="1"/>
          <p:nvPr/>
        </p:nvSpPr>
        <p:spPr>
          <a:xfrm>
            <a:off x="1235026" y="2149950"/>
            <a:ext cx="5394374" cy="19697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Kommunikáció: </a:t>
            </a:r>
            <a:r>
              <a:rPr lang="hu-HU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Discord</a:t>
            </a:r>
            <a:endParaRPr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Megosztott munka: GitHub, Google</a:t>
            </a:r>
            <a:r>
              <a:rPr lang="hu-HU" sz="1800" dirty="0">
                <a:solidFill>
                  <a:schemeClr val="dk1"/>
                </a:solidFill>
              </a:rPr>
              <a:t> </a:t>
            </a:r>
            <a:r>
              <a:rPr lang="hu-HU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Drive, </a:t>
            </a:r>
            <a:r>
              <a:rPr lang="hu-HU" sz="1800" dirty="0" err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Figma</a:t>
            </a:r>
            <a:endParaRPr lang="hu-HU"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hu-HU" sz="1800" dirty="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dirty="0">
                <a:solidFill>
                  <a:schemeClr val="dk1"/>
                </a:solidFill>
              </a:rPr>
              <a:t>Feladatmegosztás: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hu-HU" sz="1800" dirty="0">
                <a:solidFill>
                  <a:schemeClr val="dk1"/>
                </a:solidFill>
              </a:rPr>
              <a:t>Nagy </a:t>
            </a:r>
            <a:r>
              <a:rPr lang="hu-HU" sz="1800" dirty="0" err="1">
                <a:solidFill>
                  <a:schemeClr val="dk1"/>
                </a:solidFill>
              </a:rPr>
              <a:t>Levéd</a:t>
            </a:r>
            <a:r>
              <a:rPr lang="hu-HU" sz="1800" dirty="0">
                <a:solidFill>
                  <a:schemeClr val="dk1"/>
                </a:solidFill>
              </a:rPr>
              <a:t> Sámuel – Frontend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hu-HU" sz="1800" dirty="0">
                <a:solidFill>
                  <a:schemeClr val="dk1"/>
                </a:solidFill>
              </a:rPr>
              <a:t>Tóth Tamás - Backend</a:t>
            </a: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dirty="0"/>
          </a:p>
        </p:txBody>
      </p:sp>
      <p:sp>
        <p:nvSpPr>
          <p:cNvPr id="185" name="Google Shape;185;p11"/>
          <p:cNvSpPr/>
          <p:nvPr/>
        </p:nvSpPr>
        <p:spPr>
          <a:xfrm>
            <a:off x="-1795175" y="4234325"/>
            <a:ext cx="3492600" cy="48231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6" name="Google Shape;186;p11"/>
          <p:cNvSpPr/>
          <p:nvPr/>
        </p:nvSpPr>
        <p:spPr>
          <a:xfrm rot="-5400000">
            <a:off x="10310175" y="-2299450"/>
            <a:ext cx="3492600" cy="48231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3" name="Kép 2">
            <a:extLst>
              <a:ext uri="{FF2B5EF4-FFF2-40B4-BE49-F238E27FC236}">
                <a16:creationId xmlns:a16="http://schemas.microsoft.com/office/drawing/2014/main" id="{32FD08B5-7A42-9156-76EE-A85EACDFFE7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45" b="345"/>
          <a:stretch/>
        </p:blipFill>
        <p:spPr>
          <a:xfrm>
            <a:off x="8565083" y="1556073"/>
            <a:ext cx="2696838" cy="2678252"/>
          </a:xfrm>
          <a:prstGeom prst="rect">
            <a:avLst/>
          </a:prstGeom>
        </p:spPr>
      </p:pic>
      <p:pic>
        <p:nvPicPr>
          <p:cNvPr id="5" name="Kép 4">
            <a:extLst>
              <a:ext uri="{FF2B5EF4-FFF2-40B4-BE49-F238E27FC236}">
                <a16:creationId xmlns:a16="http://schemas.microsoft.com/office/drawing/2014/main" id="{23ACE7F7-D201-D52C-68D5-69DA9EE2533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3270896" y="4174295"/>
            <a:ext cx="1998785" cy="1998785"/>
          </a:xfrm>
          <a:prstGeom prst="rect">
            <a:avLst/>
          </a:prstGeom>
        </p:spPr>
      </p:pic>
      <p:pic>
        <p:nvPicPr>
          <p:cNvPr id="7" name="Kép 6">
            <a:extLst>
              <a:ext uri="{FF2B5EF4-FFF2-40B4-BE49-F238E27FC236}">
                <a16:creationId xmlns:a16="http://schemas.microsoft.com/office/drawing/2014/main" id="{D77C569F-51E7-248F-140C-C2C7D950D85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6438052" y="3467013"/>
            <a:ext cx="1534624" cy="1534624"/>
          </a:xfrm>
          <a:prstGeom prst="rect">
            <a:avLst/>
          </a:prstGeom>
        </p:spPr>
      </p:pic>
      <p:pic>
        <p:nvPicPr>
          <p:cNvPr id="9" name="Kép 8">
            <a:extLst>
              <a:ext uri="{FF2B5EF4-FFF2-40B4-BE49-F238E27FC236}">
                <a16:creationId xmlns:a16="http://schemas.microsoft.com/office/drawing/2014/main" id="{93D3B566-02E0-8135-75EC-6F16C95533DB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8438343" y="4502750"/>
            <a:ext cx="2143125" cy="214312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Kép 6">
            <a:extLst>
              <a:ext uri="{FF2B5EF4-FFF2-40B4-BE49-F238E27FC236}">
                <a16:creationId xmlns:a16="http://schemas.microsoft.com/office/drawing/2014/main" id="{D5D502B9-1114-96F0-137A-8AF8CA8069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85451" y="363285"/>
            <a:ext cx="2113472" cy="4167199"/>
          </a:xfrm>
          <a:prstGeom prst="rect">
            <a:avLst/>
          </a:prstGeom>
        </p:spPr>
      </p:pic>
      <p:sp>
        <p:nvSpPr>
          <p:cNvPr id="2" name="Google Shape;185;p11">
            <a:extLst>
              <a:ext uri="{FF2B5EF4-FFF2-40B4-BE49-F238E27FC236}">
                <a16:creationId xmlns:a16="http://schemas.microsoft.com/office/drawing/2014/main" id="{59FB9058-B16B-62FF-42D3-15B1E3A50903}"/>
              </a:ext>
            </a:extLst>
          </p:cNvPr>
          <p:cNvSpPr/>
          <p:nvPr/>
        </p:nvSpPr>
        <p:spPr>
          <a:xfrm>
            <a:off x="10445700" y="4265855"/>
            <a:ext cx="3492600" cy="48231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Google Shape;186;p11">
            <a:extLst>
              <a:ext uri="{FF2B5EF4-FFF2-40B4-BE49-F238E27FC236}">
                <a16:creationId xmlns:a16="http://schemas.microsoft.com/office/drawing/2014/main" id="{7A225262-4330-5433-DFC6-8966CB87C205}"/>
              </a:ext>
            </a:extLst>
          </p:cNvPr>
          <p:cNvSpPr/>
          <p:nvPr/>
        </p:nvSpPr>
        <p:spPr>
          <a:xfrm rot="-5400000">
            <a:off x="-1598046" y="-2278429"/>
            <a:ext cx="3492600" cy="48231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1" name="Google Shape;191;p12"/>
          <p:cNvSpPr txBox="1">
            <a:spLocks noGrp="1"/>
          </p:cNvSpPr>
          <p:nvPr>
            <p:ph type="ctrTitle"/>
          </p:nvPr>
        </p:nvSpPr>
        <p:spPr>
          <a:xfrm>
            <a:off x="430975" y="504378"/>
            <a:ext cx="7864614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 dirty="0">
                <a:latin typeface="Cambria" panose="02040503050406030204" pitchFamily="18" charset="0"/>
                <a:ea typeface="Cambria" panose="02040503050406030204" pitchFamily="18" charset="0"/>
              </a:rPr>
              <a:t>Továbbfejlesztési lehetőségek</a:t>
            </a:r>
            <a:endParaRPr sz="4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Téglalap 3">
            <a:extLst>
              <a:ext uri="{FF2B5EF4-FFF2-40B4-BE49-F238E27FC236}">
                <a16:creationId xmlns:a16="http://schemas.microsoft.com/office/drawing/2014/main" id="{E884CCC8-F38A-918E-2031-3A469699B264}"/>
              </a:ext>
            </a:extLst>
          </p:cNvPr>
          <p:cNvSpPr/>
          <p:nvPr/>
        </p:nvSpPr>
        <p:spPr>
          <a:xfrm>
            <a:off x="621323" y="2446885"/>
            <a:ext cx="5154930" cy="2686050"/>
          </a:xfrm>
          <a:prstGeom prst="rect">
            <a:avLst/>
          </a:prstGeom>
          <a:ln>
            <a:solidFill>
              <a:schemeClr val="accent1">
                <a:shade val="15000"/>
              </a:schemeClr>
            </a:solidFill>
          </a:ln>
          <a:effectLst>
            <a:outerShdw blurRad="139700" dist="50800" dir="5400000" algn="ctr" rotWithShape="0">
              <a:srgbClr val="000000"/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/>
          </a:p>
        </p:txBody>
      </p:sp>
      <p:sp>
        <p:nvSpPr>
          <p:cNvPr id="5" name="Szövegdoboz 4">
            <a:extLst>
              <a:ext uri="{FF2B5EF4-FFF2-40B4-BE49-F238E27FC236}">
                <a16:creationId xmlns:a16="http://schemas.microsoft.com/office/drawing/2014/main" id="{5070E45E-AE58-19F9-F366-069C291D09D9}"/>
              </a:ext>
            </a:extLst>
          </p:cNvPr>
          <p:cNvSpPr txBox="1"/>
          <p:nvPr/>
        </p:nvSpPr>
        <p:spPr>
          <a:xfrm>
            <a:off x="727852" y="2810263"/>
            <a:ext cx="5036393" cy="21544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Courier New" panose="02070309020205020404" pitchFamily="49" charset="0"/>
              <a:buChar char="o"/>
            </a:pPr>
            <a:r>
              <a:rPr lang="hu-HU" sz="24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Mobilos alkalmazás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endParaRPr lang="hu-HU" sz="240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hu-HU" sz="24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Értesítő rendszer</a:t>
            </a:r>
          </a:p>
          <a:p>
            <a:pPr marL="285750" indent="-285750">
              <a:buFont typeface="Courier New" panose="02070309020205020404" pitchFamily="49" charset="0"/>
              <a:buChar char="o"/>
            </a:pPr>
            <a:endParaRPr lang="hu-HU" sz="2400" dirty="0">
              <a:solidFill>
                <a:schemeClr val="bg1"/>
              </a:solidFill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285750" indent="-285750">
              <a:buFont typeface="Courier New" panose="02070309020205020404" pitchFamily="49" charset="0"/>
              <a:buChar char="o"/>
            </a:pPr>
            <a:r>
              <a:rPr lang="hu-HU" sz="2400" dirty="0">
                <a:solidFill>
                  <a:schemeClr val="bg1"/>
                </a:solidFill>
                <a:latin typeface="Cambria" panose="02040503050406030204" pitchFamily="18" charset="0"/>
                <a:ea typeface="Cambria" panose="02040503050406030204" pitchFamily="18" charset="0"/>
              </a:rPr>
              <a:t>Online vásárlás</a:t>
            </a:r>
          </a:p>
          <a:p>
            <a:endParaRPr lang="hu-HU" dirty="0"/>
          </a:p>
        </p:txBody>
      </p:sp>
      <p:pic>
        <p:nvPicPr>
          <p:cNvPr id="9" name="Kép 8">
            <a:extLst>
              <a:ext uri="{FF2B5EF4-FFF2-40B4-BE49-F238E27FC236}">
                <a16:creationId xmlns:a16="http://schemas.microsoft.com/office/drawing/2014/main" id="{9B18EEF8-EFE1-B675-104E-DC6B6D2D45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24730" y="4717636"/>
            <a:ext cx="3603423" cy="1000238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églalap 1">
            <a:extLst>
              <a:ext uri="{FF2B5EF4-FFF2-40B4-BE49-F238E27FC236}">
                <a16:creationId xmlns:a16="http://schemas.microsoft.com/office/drawing/2014/main" id="{0090FA25-CD5A-C010-3B50-EEB51A3D6401}"/>
              </a:ext>
            </a:extLst>
          </p:cNvPr>
          <p:cNvSpPr/>
          <p:nvPr/>
        </p:nvSpPr>
        <p:spPr>
          <a:xfrm>
            <a:off x="1" y="2012654"/>
            <a:ext cx="12191999" cy="2832691"/>
          </a:xfrm>
          <a:prstGeom prst="rect">
            <a:avLst/>
          </a:prstGeom>
          <a:effectLst>
            <a:outerShdw blurRad="139700" dist="50800" dir="5400000" algn="ctr" rotWithShape="0">
              <a:srgbClr val="000000">
                <a:alpha val="43137"/>
              </a:srgb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hu-HU" dirty="0"/>
          </a:p>
        </p:txBody>
      </p:sp>
      <p:sp>
        <p:nvSpPr>
          <p:cNvPr id="196" name="Google Shape;196;p13"/>
          <p:cNvSpPr txBox="1">
            <a:spLocks noGrp="1"/>
          </p:cNvSpPr>
          <p:nvPr>
            <p:ph type="ctrTitle"/>
          </p:nvPr>
        </p:nvSpPr>
        <p:spPr>
          <a:xfrm>
            <a:off x="3927882" y="3023595"/>
            <a:ext cx="4336235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 dirty="0" err="1">
                <a:solidFill>
                  <a:schemeClr val="bg1"/>
                </a:solidFill>
                <a:latin typeface="Cambria"/>
                <a:ea typeface="Cambria"/>
                <a:cs typeface="Cambria"/>
                <a:sym typeface="Cambria"/>
              </a:rPr>
              <a:t>EseményTér</a:t>
            </a:r>
            <a:r>
              <a:rPr lang="hu-HU" sz="4400" dirty="0">
                <a:solidFill>
                  <a:schemeClr val="bg1"/>
                </a:solidFill>
                <a:latin typeface="Cambria"/>
                <a:ea typeface="Cambria"/>
                <a:cs typeface="Cambria"/>
                <a:sym typeface="Cambria"/>
              </a:rPr>
              <a:t> demó</a:t>
            </a:r>
            <a:endParaRPr dirty="0"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15"/>
          <p:cNvSpPr txBox="1">
            <a:spLocks noGrp="1"/>
          </p:cNvSpPr>
          <p:nvPr>
            <p:ph type="ctrTitle"/>
          </p:nvPr>
        </p:nvSpPr>
        <p:spPr>
          <a:xfrm>
            <a:off x="872763" y="1593439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mbria"/>
              <a:buNone/>
            </a:pPr>
            <a:r>
              <a:rPr lang="hu-HU" sz="5400" b="1" i="1">
                <a:latin typeface="Cambria"/>
                <a:ea typeface="Cambria"/>
                <a:cs typeface="Cambria"/>
                <a:sym typeface="Cambria"/>
              </a:rPr>
              <a:t>Köszönjük a figyelmüket!</a:t>
            </a:r>
            <a:endParaRPr/>
          </a:p>
        </p:txBody>
      </p:sp>
      <p:sp>
        <p:nvSpPr>
          <p:cNvPr id="2" name="Szövegdoboz 1">
            <a:extLst>
              <a:ext uri="{FF2B5EF4-FFF2-40B4-BE49-F238E27FC236}">
                <a16:creationId xmlns:a16="http://schemas.microsoft.com/office/drawing/2014/main" id="{DADB9E7F-9F4E-0597-96C3-8F07F13D9B34}"/>
              </a:ext>
            </a:extLst>
          </p:cNvPr>
          <p:cNvSpPr txBox="1"/>
          <p:nvPr/>
        </p:nvSpPr>
        <p:spPr>
          <a:xfrm>
            <a:off x="0" y="5380672"/>
            <a:ext cx="304344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50000"/>
              </a:lnSpc>
            </a:pPr>
            <a:r>
              <a:rPr lang="hu-HU" sz="1200" dirty="0">
                <a:latin typeface="Cambria" panose="02040503050406030204" pitchFamily="18" charset="0"/>
                <a:ea typeface="Cambria" panose="02040503050406030204" pitchFamily="18" charset="0"/>
              </a:rPr>
              <a:t>Források:</a:t>
            </a:r>
          </a:p>
          <a:p>
            <a:r>
              <a:rPr lang="hu-HU" sz="1200" dirty="0">
                <a:latin typeface="Cambria" panose="02040503050406030204" pitchFamily="18" charset="0"/>
                <a:ea typeface="Cambria" panose="02040503050406030204" pitchFamily="18" charset="0"/>
              </a:rPr>
              <a:t>http://www.chatgpt.com/</a:t>
            </a:r>
            <a:br>
              <a:rPr lang="hu-HU" sz="1200" dirty="0">
                <a:latin typeface="Cambria" panose="02040503050406030204" pitchFamily="18" charset="0"/>
                <a:ea typeface="Cambria" panose="02040503050406030204" pitchFamily="18" charset="0"/>
              </a:rPr>
            </a:br>
            <a:r>
              <a:rPr lang="hu-HU" sz="1200" dirty="0">
                <a:latin typeface="Cambria" panose="02040503050406030204" pitchFamily="18" charset="0"/>
                <a:ea typeface="Cambria" panose="02040503050406030204" pitchFamily="18" charset="0"/>
              </a:rPr>
              <a:t>http://www.github.com/</a:t>
            </a:r>
          </a:p>
          <a:p>
            <a:r>
              <a:rPr lang="hu-HU" sz="1200" dirty="0">
                <a:latin typeface="Cambria" panose="02040503050406030204" pitchFamily="18" charset="0"/>
                <a:ea typeface="Cambria" panose="02040503050406030204" pitchFamily="18" charset="0"/>
              </a:rPr>
              <a:t>http://www.figma.com/</a:t>
            </a:r>
            <a:br>
              <a:rPr lang="hu-HU" sz="1200" dirty="0">
                <a:latin typeface="Cambria" panose="02040503050406030204" pitchFamily="18" charset="0"/>
                <a:ea typeface="Cambria" panose="02040503050406030204" pitchFamily="18" charset="0"/>
              </a:rPr>
            </a:br>
            <a:r>
              <a:rPr lang="hu-HU" sz="1200" dirty="0">
                <a:latin typeface="Cambria" panose="02040503050406030204" pitchFamily="18" charset="0"/>
                <a:ea typeface="Cambria" panose="02040503050406030204" pitchFamily="18" charset="0"/>
              </a:rPr>
              <a:t>http://www.drive.google.com/</a:t>
            </a:r>
            <a:br>
              <a:rPr lang="hu-HU" sz="1200" dirty="0">
                <a:latin typeface="Cambria" panose="02040503050406030204" pitchFamily="18" charset="0"/>
                <a:ea typeface="Cambria" panose="02040503050406030204" pitchFamily="18" charset="0"/>
              </a:rPr>
            </a:br>
            <a:r>
              <a:rPr lang="hu-HU" sz="1200" dirty="0">
                <a:latin typeface="Cambria" panose="02040503050406030204" pitchFamily="18" charset="0"/>
                <a:ea typeface="Cambria" panose="02040503050406030204" pitchFamily="18" charset="0"/>
              </a:rPr>
              <a:t>https://discord.com/</a:t>
            </a:r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-téma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880</TotalTime>
  <Words>1497</Words>
  <Application>Microsoft Office PowerPoint</Application>
  <PresentationFormat>Szélesvásznú</PresentationFormat>
  <Paragraphs>185</Paragraphs>
  <Slides>15</Slides>
  <Notes>15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5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15</vt:i4>
      </vt:variant>
    </vt:vector>
  </HeadingPairs>
  <TitlesOfParts>
    <vt:vector size="21" baseType="lpstr">
      <vt:lpstr>Courier New</vt:lpstr>
      <vt:lpstr>Times New Roman</vt:lpstr>
      <vt:lpstr>Play</vt:lpstr>
      <vt:lpstr>Cambria</vt:lpstr>
      <vt:lpstr>Arial</vt:lpstr>
      <vt:lpstr>Office-téma</vt:lpstr>
      <vt:lpstr>EseményTér</vt:lpstr>
      <vt:lpstr>Probléma és Megoldás</vt:lpstr>
      <vt:lpstr>A projekt fő funkciói</vt:lpstr>
      <vt:lpstr>A rendszer felépítése</vt:lpstr>
      <vt:lpstr>Frontend felépítése</vt:lpstr>
      <vt:lpstr>Backend architektúra</vt:lpstr>
      <vt:lpstr>Kontrollerek</vt:lpstr>
      <vt:lpstr>Jogosultság és biztonság</vt:lpstr>
      <vt:lpstr>Adatmodell</vt:lpstr>
      <vt:lpstr>Reszponzívitás</vt:lpstr>
      <vt:lpstr>Tesztelés</vt:lpstr>
      <vt:lpstr>Csapatmunka</vt:lpstr>
      <vt:lpstr>Továbbfejlesztési lehetőségek</vt:lpstr>
      <vt:lpstr>EseményTér demó</vt:lpstr>
      <vt:lpstr>Köszönjük a figyelmüket!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O365 felhasználó</dc:creator>
  <cp:lastModifiedBy>O365 felhasználó</cp:lastModifiedBy>
  <cp:revision>27</cp:revision>
  <dcterms:created xsi:type="dcterms:W3CDTF">2026-03-04T16:50:56Z</dcterms:created>
  <dcterms:modified xsi:type="dcterms:W3CDTF">2026-04-16T13:44:37Z</dcterms:modified>
</cp:coreProperties>
</file>